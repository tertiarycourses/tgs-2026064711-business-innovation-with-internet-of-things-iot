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ertiary-infotech-logo.png"/>
          <p:cNvPicPr>
            <a:picLocks noChangeAspect="1"/>
          </p:cNvPicPr>
          <p:nvPr/>
        </p:nvPicPr>
        <p:blipFill>
          <a:blip r:embed="rId2"/>
          <a:stretch>
            <a:fillRect/>
          </a:stretch>
        </p:blipFill>
        <p:spPr>
          <a:xfrm>
            <a:off x="777240" y="640080"/>
            <a:ext cx="960120" cy="960120"/>
          </a:xfrm>
          <a:prstGeom prst="rect">
            <a:avLst/>
          </a:prstGeom>
        </p:spPr>
      </p:pic>
      <p:sp>
        <p:nvSpPr>
          <p:cNvPr id="6" name="Rectangle 5"/>
          <p:cNvSpPr/>
          <p:nvPr/>
        </p:nvSpPr>
        <p:spPr>
          <a:xfrm>
            <a:off x="9829800" y="566928"/>
            <a:ext cx="1691640" cy="10972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424160" y="848563"/>
            <a:ext cx="457200" cy="27432"/>
          </a:xfrm>
          <a:prstGeom prst="rect">
            <a:avLst/>
          </a:prstGeom>
          <a:solidFill>
            <a:srgbClr val="8FC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126980" y="658368"/>
            <a:ext cx="182880" cy="182880"/>
          </a:xfrm>
          <a:prstGeom prst="ellipse">
            <a:avLst/>
          </a:prstGeom>
          <a:solidFill>
            <a:srgbClr val="8FC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0927080" y="848563"/>
            <a:ext cx="457200" cy="27432"/>
          </a:xfrm>
          <a:prstGeom prst="rect">
            <a:avLst/>
          </a:prstGeom>
          <a:solidFill>
            <a:srgbClr val="8FC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1041380" y="658368"/>
            <a:ext cx="182880" cy="182880"/>
          </a:xfrm>
          <a:prstGeom prst="ellipse">
            <a:avLst/>
          </a:prstGeom>
          <a:solidFill>
            <a:srgbClr val="8FC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0424160" y="1089964"/>
            <a:ext cx="457200" cy="27432"/>
          </a:xfrm>
          <a:prstGeom prst="rect">
            <a:avLst/>
          </a:prstGeom>
          <a:solidFill>
            <a:srgbClr val="8FC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126980" y="1097280"/>
            <a:ext cx="182880" cy="182880"/>
          </a:xfrm>
          <a:prstGeom prst="ellipse">
            <a:avLst/>
          </a:prstGeom>
          <a:solidFill>
            <a:srgbClr val="8FC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10927080" y="1089964"/>
            <a:ext cx="457200" cy="27432"/>
          </a:xfrm>
          <a:prstGeom prst="rect">
            <a:avLst/>
          </a:prstGeom>
          <a:solidFill>
            <a:srgbClr val="8FC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41380" y="1097280"/>
            <a:ext cx="182880" cy="182880"/>
          </a:xfrm>
          <a:prstGeom prst="ellipse">
            <a:avLst/>
          </a:prstGeom>
          <a:solidFill>
            <a:srgbClr val="8FC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529316" y="822960"/>
            <a:ext cx="292608" cy="29260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829800" y="1280160"/>
            <a:ext cx="1691640" cy="365760"/>
          </a:xfrm>
          <a:prstGeom prst="rect">
            <a:avLst/>
          </a:prstGeom>
          <a:noFill/>
        </p:spPr>
        <p:txBody>
          <a:bodyPr wrap="square" anchor="t">
            <a:spAutoFit/>
          </a:bodyPr>
          <a:lstStyle/>
          <a:p>
            <a:pPr algn="ctr">
              <a:spcAft>
                <a:spcPts val="400"/>
              </a:spcAft>
            </a:pPr>
            <a:r>
              <a:rPr sz="1000" b="1">
                <a:solidFill>
                  <a:srgbClr val="FFFFFF"/>
                </a:solidFill>
                <a:latin typeface="Arial"/>
              </a:rPr>
              <a:t>IoT · IoTFlow</a:t>
            </a:r>
          </a:p>
        </p:txBody>
      </p:sp>
      <p:sp>
        <p:nvSpPr>
          <p:cNvPr id="17" name="TextBox 16"/>
          <p:cNvSpPr txBox="1"/>
          <p:nvPr/>
        </p:nvSpPr>
        <p:spPr>
          <a:xfrm>
            <a:off x="822960" y="2103120"/>
            <a:ext cx="10972800" cy="548640"/>
          </a:xfrm>
          <a:prstGeom prst="rect">
            <a:avLst/>
          </a:prstGeom>
          <a:noFill/>
        </p:spPr>
        <p:txBody>
          <a:bodyPr wrap="square" anchor="t">
            <a:spAutoFit/>
          </a:bodyPr>
          <a:lstStyle/>
          <a:p>
            <a:pPr algn="l">
              <a:spcAft>
                <a:spcPts val="400"/>
              </a:spcAft>
            </a:pPr>
            <a:r>
              <a:rPr sz="1600" b="1">
                <a:solidFill>
                  <a:srgbClr val="1F6FEB"/>
                </a:solidFill>
                <a:latin typeface="Arial"/>
              </a:rPr>
              <a:t>COURSE SLIDES  ·  WSQ</a:t>
            </a:r>
          </a:p>
        </p:txBody>
      </p:sp>
      <p:sp>
        <p:nvSpPr>
          <p:cNvPr id="18" name="TextBox 17"/>
          <p:cNvSpPr txBox="1"/>
          <p:nvPr/>
        </p:nvSpPr>
        <p:spPr>
          <a:xfrm>
            <a:off x="822960" y="2606040"/>
            <a:ext cx="10972800" cy="1737360"/>
          </a:xfrm>
          <a:prstGeom prst="rect">
            <a:avLst/>
          </a:prstGeom>
          <a:noFill/>
        </p:spPr>
        <p:txBody>
          <a:bodyPr wrap="square" anchor="t">
            <a:spAutoFit/>
          </a:bodyPr>
          <a:lstStyle/>
          <a:p>
            <a:pPr algn="l">
              <a:spcAft>
                <a:spcPts val="400"/>
              </a:spcAft>
            </a:pPr>
            <a:r>
              <a:rPr sz="4000" b="1">
                <a:solidFill>
                  <a:srgbClr val="161B26"/>
                </a:solidFill>
                <a:latin typeface="Arial"/>
              </a:rPr>
              <a:t>Business Innovation with Internet-of-Things (IoT)</a:t>
            </a:r>
          </a:p>
        </p:txBody>
      </p:sp>
      <p:sp>
        <p:nvSpPr>
          <p:cNvPr id="19" name="Rectangle 18"/>
          <p:cNvSpPr/>
          <p:nvPr/>
        </p:nvSpPr>
        <p:spPr>
          <a:xfrm>
            <a:off x="841248" y="4343400"/>
            <a:ext cx="2194560" cy="548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60" y="4617720"/>
            <a:ext cx="10972800" cy="1280160"/>
          </a:xfrm>
          <a:prstGeom prst="rect">
            <a:avLst/>
          </a:prstGeom>
          <a:noFill/>
        </p:spPr>
        <p:txBody>
          <a:bodyPr wrap="square" anchor="t">
            <a:spAutoFit/>
          </a:bodyPr>
          <a:lstStyle/>
          <a:p>
            <a:pPr algn="l">
              <a:spcAft>
                <a:spcPts val="600"/>
              </a:spcAft>
            </a:pPr>
            <a:r>
              <a:rPr sz="1600" b="0">
                <a:solidFill>
                  <a:srgbClr val="5B6372"/>
                </a:solidFill>
                <a:latin typeface="Arial"/>
              </a:rPr>
              <a:t>WSQ Course Code: TGS-2026064711</a:t>
            </a:r>
          </a:p>
          <a:p>
            <a:pPr algn="l">
              <a:spcAft>
                <a:spcPts val="600"/>
              </a:spcAft>
            </a:pPr>
            <a:r>
              <a:rPr sz="1400" b="0">
                <a:solidFill>
                  <a:srgbClr val="5B6372"/>
                </a:solidFill>
                <a:latin typeface="Arial"/>
              </a:rPr>
              <a:t>Conducted by Tertiary Infotech Academy Pte Ltd  ·  UEN 201200696W</a:t>
            </a:r>
          </a:p>
        </p:txBody>
      </p:sp>
      <p:sp>
        <p:nvSpPr>
          <p:cNvPr id="21" name="TextBox 20"/>
          <p:cNvSpPr txBox="1"/>
          <p:nvPr/>
        </p:nvSpPr>
        <p:spPr>
          <a:xfrm>
            <a:off x="822960" y="5943600"/>
            <a:ext cx="10972800" cy="365760"/>
          </a:xfrm>
          <a:prstGeom prst="rect">
            <a:avLst/>
          </a:prstGeom>
          <a:noFill/>
        </p:spPr>
        <p:txBody>
          <a:bodyPr wrap="square" anchor="t">
            <a:spAutoFit/>
          </a:bodyPr>
          <a:lstStyle/>
          <a:p>
            <a:pPr algn="l">
              <a:spcAft>
                <a:spcPts val="400"/>
              </a:spcAft>
            </a:pPr>
            <a:r>
              <a:rPr sz="1200" b="0">
                <a:solidFill>
                  <a:srgbClr val="5B6372"/>
                </a:solidFill>
                <a:latin typeface="Arial"/>
              </a:rPr>
              <a:t>Version v10.1  ·  11 August 2026</a:t>
            </a:r>
          </a:p>
        </p:txBody>
      </p:sp>
      <p:sp>
        <p:nvSpPr>
          <p:cNvPr id="22" name="TextBox 21"/>
          <p:cNvSpPr txBox="1"/>
          <p:nvPr/>
        </p:nvSpPr>
        <p:spPr>
          <a:xfrm>
            <a:off x="822960" y="6263640"/>
            <a:ext cx="10972800" cy="310896"/>
          </a:xfrm>
          <a:prstGeom prst="rect">
            <a:avLst/>
          </a:prstGeom>
          <a:noFill/>
        </p:spPr>
        <p:txBody>
          <a:bodyPr wrap="square" anchor="t">
            <a:spAutoFit/>
          </a:bodyPr>
          <a:lstStyle/>
          <a:p>
            <a:pPr algn="l">
              <a:spcAft>
                <a:spcPts val="400"/>
              </a:spcAft>
            </a:pPr>
            <a:r>
              <a:rPr sz="1000" b="0">
                <a:solidFill>
                  <a:srgbClr val="5B6372"/>
                </a:solidFill>
                <a:latin typeface="Arial"/>
              </a:rPr>
              <a:t>© 2026 Tertiary Infotech Academy Pte Ltd. All rights reserved.  ·  www.tertiarycourses.com.sg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COURSE ADMINISTRATION</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Welcome &amp; Housekeeping</a:t>
            </a:r>
          </a:p>
        </p:txBody>
      </p:sp>
      <p:sp>
        <p:nvSpPr>
          <p:cNvPr id="7" name="TextBox 6"/>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TRAQOM · SSG DIGITAL ATTENDANCE</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Digital Attendance (Mandatory)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3337560"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3337560"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2071116" y="2715768"/>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7111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3044952" cy="1325880"/>
          </a:xfrm>
          <a:prstGeom prst="rect">
            <a:avLst/>
          </a:prstGeom>
          <a:noFill/>
        </p:spPr>
        <p:txBody>
          <a:bodyPr wrap="square" anchor="t">
            <a:spAutoFit/>
          </a:bodyPr>
          <a:lstStyle/>
          <a:p>
            <a:pPr algn="ctr">
              <a:spcAft>
                <a:spcPts val="400"/>
              </a:spcAft>
            </a:pPr>
            <a:r>
              <a:rPr sz="1400" b="0">
                <a:solidFill>
                  <a:srgbClr val="161B26"/>
                </a:solidFill>
                <a:latin typeface="Arial"/>
              </a:rPr>
              <a:t>MORNING (AM)
Scan on arrival</a:t>
            </a:r>
          </a:p>
        </p:txBody>
      </p:sp>
      <p:sp>
        <p:nvSpPr>
          <p:cNvPr id="12" name="TextBox 11"/>
          <p:cNvSpPr txBox="1"/>
          <p:nvPr/>
        </p:nvSpPr>
        <p:spPr>
          <a:xfrm>
            <a:off x="4078224"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13" name="Rectangle 12"/>
          <p:cNvSpPr/>
          <p:nvPr/>
        </p:nvSpPr>
        <p:spPr>
          <a:xfrm>
            <a:off x="4425696" y="2331720"/>
            <a:ext cx="3337560"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25696" y="2331720"/>
            <a:ext cx="3337560"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5719572" y="2715768"/>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719572"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4572000" y="3749040"/>
            <a:ext cx="3044952" cy="1325880"/>
          </a:xfrm>
          <a:prstGeom prst="rect">
            <a:avLst/>
          </a:prstGeom>
          <a:noFill/>
        </p:spPr>
        <p:txBody>
          <a:bodyPr wrap="square" anchor="t">
            <a:spAutoFit/>
          </a:bodyPr>
          <a:lstStyle/>
          <a:p>
            <a:pPr algn="ctr">
              <a:spcAft>
                <a:spcPts val="400"/>
              </a:spcAft>
            </a:pPr>
            <a:r>
              <a:rPr sz="1400" b="0">
                <a:solidFill>
                  <a:srgbClr val="161B26"/>
                </a:solidFill>
                <a:latin typeface="Arial"/>
              </a:rPr>
              <a:t>AFTERNOON (PM)
Scan after lunch</a:t>
            </a:r>
          </a:p>
        </p:txBody>
      </p:sp>
      <p:sp>
        <p:nvSpPr>
          <p:cNvPr id="18" name="TextBox 17"/>
          <p:cNvSpPr txBox="1"/>
          <p:nvPr/>
        </p:nvSpPr>
        <p:spPr>
          <a:xfrm>
            <a:off x="7726680"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19" name="Rectangle 18"/>
          <p:cNvSpPr/>
          <p:nvPr/>
        </p:nvSpPr>
        <p:spPr>
          <a:xfrm>
            <a:off x="8074152" y="2331720"/>
            <a:ext cx="3337560"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74152" y="2331720"/>
            <a:ext cx="3337560"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9368028" y="2715768"/>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368028"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8220456" y="3749040"/>
            <a:ext cx="3044952" cy="1325880"/>
          </a:xfrm>
          <a:prstGeom prst="rect">
            <a:avLst/>
          </a:prstGeom>
          <a:noFill/>
        </p:spPr>
        <p:txBody>
          <a:bodyPr wrap="square" anchor="t">
            <a:spAutoFit/>
          </a:bodyPr>
          <a:lstStyle/>
          <a:p>
            <a:pPr algn="ctr">
              <a:spcAft>
                <a:spcPts val="400"/>
              </a:spcAft>
            </a:pPr>
            <a:r>
              <a:rPr sz="1400" b="0">
                <a:solidFill>
                  <a:srgbClr val="161B26"/>
                </a:solidFill>
                <a:latin typeface="Arial"/>
              </a:rPr>
              <a:t>ASSESSMENT
Scan before you begin</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TRAQOM · SSG DIGITAL ATTENDANCE</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How Digital Attendance Works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Mandatory for WSQ funding</a:t>
            </a:r>
          </a:p>
          <a:p>
            <a:pPr algn="l">
              <a:spcAft>
                <a:spcPts val="300"/>
              </a:spcAft>
            </a:pPr>
            <a:r>
              <a:rPr sz="1200" b="0">
                <a:solidFill>
                  <a:srgbClr val="5B6372"/>
                </a:solidFill>
                <a:latin typeface="Arial"/>
              </a:rPr>
              <a:t>AM, PM and Assessment attendance must all be taken for WSQ-funded courses.</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The QR code</a:t>
            </a:r>
          </a:p>
          <a:p>
            <a:pPr algn="l">
              <a:spcAft>
                <a:spcPts val="300"/>
              </a:spcAft>
            </a:pPr>
            <a:r>
              <a:rPr sz="1200" b="0">
                <a:solidFill>
                  <a:srgbClr val="5B6372"/>
                </a:solidFill>
                <a:latin typeface="Arial"/>
              </a:rPr>
              <a:t>The trainer or administrator displays the QR code generated from the SSG portal.</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How to submit</a:t>
            </a:r>
          </a:p>
          <a:p>
            <a:pPr algn="l">
              <a:spcAft>
                <a:spcPts val="300"/>
              </a:spcAft>
            </a:pPr>
            <a:r>
              <a:rPr sz="1200" b="0">
                <a:solidFill>
                  <a:srgbClr val="5B6372"/>
                </a:solidFill>
                <a:latin typeface="Arial"/>
              </a:rPr>
              <a:t>Scan the QR code with your mobile phone camera and submit your attendance.</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75% minimum</a:t>
            </a:r>
          </a:p>
          <a:p>
            <a:pPr algn="l">
              <a:spcAft>
                <a:spcPts val="300"/>
              </a:spcAft>
            </a:pPr>
            <a:r>
              <a:rPr sz="1200" b="0">
                <a:solidFill>
                  <a:srgbClr val="5B6372"/>
                </a:solidFill>
                <a:latin typeface="Arial"/>
              </a:rPr>
              <a:t>At least 75% attendance is required to be eligible for assessment and funding.</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5B6372"/>
                </a:solidFill>
                <a:latin typeface="Arial"/>
              </a:rPr>
              <a:t>YOUR TRAINER · GENERAL</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About the Trainer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68780" y="2286000"/>
            <a:ext cx="1554480" cy="1554480"/>
          </a:xfrm>
          <a:prstGeom prst="ellipse">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68780" y="2286000"/>
            <a:ext cx="1554480" cy="1554480"/>
          </a:xfrm>
          <a:prstGeom prst="rect">
            <a:avLst/>
          </a:prstGeom>
          <a:noFill/>
        </p:spPr>
        <p:txBody>
          <a:bodyPr wrap="square" anchor="ctr">
            <a:spAutoFit/>
          </a:bodyPr>
          <a:lstStyle/>
          <a:p>
            <a:pPr algn="ctr">
              <a:spcAft>
                <a:spcPts val="400"/>
              </a:spcAft>
            </a:pPr>
            <a:r>
              <a:rPr sz="4400" b="1">
                <a:solidFill>
                  <a:srgbClr val="FFFFFF"/>
                </a:solidFill>
                <a:latin typeface="Arial"/>
              </a:rPr>
              <a:t>?</a:t>
            </a:r>
          </a:p>
        </p:txBody>
      </p:sp>
      <p:sp>
        <p:nvSpPr>
          <p:cNvPr id="11" name="TextBox 10"/>
          <p:cNvSpPr txBox="1"/>
          <p:nvPr/>
        </p:nvSpPr>
        <p:spPr>
          <a:xfrm>
            <a:off x="914400" y="4160520"/>
            <a:ext cx="3063240" cy="548640"/>
          </a:xfrm>
          <a:prstGeom prst="rect">
            <a:avLst/>
          </a:prstGeom>
          <a:noFill/>
        </p:spPr>
        <p:txBody>
          <a:bodyPr wrap="square" anchor="t">
            <a:spAutoFit/>
          </a:bodyPr>
          <a:lstStyle/>
          <a:p>
            <a:pPr algn="ctr">
              <a:spcAft>
                <a:spcPts val="400"/>
              </a:spcAft>
            </a:pPr>
            <a:r>
              <a:rPr sz="2100" b="1">
                <a:solidFill>
                  <a:srgbClr val="161B26"/>
                </a:solidFill>
                <a:latin typeface="Arial"/>
              </a:rPr>
              <a:t>Your Trainer</a:t>
            </a:r>
          </a:p>
        </p:txBody>
      </p:sp>
      <p:sp>
        <p:nvSpPr>
          <p:cNvPr id="12" name="TextBox 11"/>
          <p:cNvSpPr txBox="1"/>
          <p:nvPr/>
        </p:nvSpPr>
        <p:spPr>
          <a:xfrm>
            <a:off x="914400" y="4754880"/>
            <a:ext cx="3063240" cy="1097280"/>
          </a:xfrm>
          <a:prstGeom prst="rect">
            <a:avLst/>
          </a:prstGeom>
          <a:noFill/>
        </p:spPr>
        <p:txBody>
          <a:bodyPr wrap="square" anchor="t">
            <a:spAutoFit/>
          </a:bodyPr>
          <a:lstStyle/>
          <a:p>
            <a:pPr algn="ctr">
              <a:spcAft>
                <a:spcPts val="400"/>
              </a:spcAft>
            </a:pPr>
            <a:r>
              <a:rPr sz="1300" b="0">
                <a:solidFill>
                  <a:srgbClr val="5B6372"/>
                </a:solidFill>
                <a:latin typeface="Arial"/>
              </a:rPr>
              <a:t>General Trainer template —
to be completed by the trainer</a:t>
            </a:r>
          </a:p>
        </p:txBody>
      </p:sp>
      <p:sp>
        <p:nvSpPr>
          <p:cNvPr id="13" name="Rectangle 12"/>
          <p:cNvSpPr/>
          <p:nvPr/>
        </p:nvSpPr>
        <p:spPr>
          <a:xfrm>
            <a:off x="4480560" y="178308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80560" y="1783080"/>
            <a:ext cx="91440" cy="563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73168" y="1783080"/>
            <a:ext cx="6400800" cy="563880"/>
          </a:xfrm>
          <a:prstGeom prst="rect">
            <a:avLst/>
          </a:prstGeom>
          <a:noFill/>
        </p:spPr>
        <p:txBody>
          <a:bodyPr wrap="square" anchor="ctr">
            <a:spAutoFit/>
          </a:bodyPr>
          <a:lstStyle/>
          <a:p>
            <a:pPr algn="l">
              <a:spcAft>
                <a:spcPts val="300"/>
              </a:spcAft>
            </a:pPr>
            <a:r>
              <a:rPr sz="1100" b="1">
                <a:solidFill>
                  <a:srgbClr val="1F6FEB"/>
                </a:solidFill>
                <a:latin typeface="Arial"/>
              </a:rPr>
              <a:t>NAME</a:t>
            </a:r>
          </a:p>
          <a:p>
            <a:pPr algn="l">
              <a:spcAft>
                <a:spcPts val="300"/>
              </a:spcAft>
            </a:pPr>
            <a:r>
              <a:rPr sz="1300" b="0">
                <a:solidFill>
                  <a:srgbClr val="E2E8F0"/>
                </a:solidFill>
                <a:latin typeface="Arial"/>
              </a:rPr>
              <a:t>____________________________________________</a:t>
            </a:r>
          </a:p>
        </p:txBody>
      </p:sp>
      <p:sp>
        <p:nvSpPr>
          <p:cNvPr id="16" name="Rectangle 15"/>
          <p:cNvSpPr/>
          <p:nvPr/>
        </p:nvSpPr>
        <p:spPr>
          <a:xfrm>
            <a:off x="4480560" y="252984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0560" y="2529840"/>
            <a:ext cx="91440" cy="563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73168" y="2529840"/>
            <a:ext cx="6400800" cy="563880"/>
          </a:xfrm>
          <a:prstGeom prst="rect">
            <a:avLst/>
          </a:prstGeom>
          <a:noFill/>
        </p:spPr>
        <p:txBody>
          <a:bodyPr wrap="square" anchor="ctr">
            <a:spAutoFit/>
          </a:bodyPr>
          <a:lstStyle/>
          <a:p>
            <a:pPr algn="l">
              <a:spcAft>
                <a:spcPts val="300"/>
              </a:spcAft>
            </a:pPr>
            <a:r>
              <a:rPr sz="1100" b="1">
                <a:solidFill>
                  <a:srgbClr val="10B981"/>
                </a:solidFill>
                <a:latin typeface="Arial"/>
              </a:rPr>
              <a:t>TITLE / DESIGNATION</a:t>
            </a:r>
          </a:p>
          <a:p>
            <a:pPr algn="l">
              <a:spcAft>
                <a:spcPts val="300"/>
              </a:spcAft>
            </a:pPr>
            <a:r>
              <a:rPr sz="1300" b="0">
                <a:solidFill>
                  <a:srgbClr val="E2E8F0"/>
                </a:solidFill>
                <a:latin typeface="Arial"/>
              </a:rPr>
              <a:t>____________________________________________</a:t>
            </a:r>
          </a:p>
        </p:txBody>
      </p:sp>
      <p:sp>
        <p:nvSpPr>
          <p:cNvPr id="19" name="Rectangle 18"/>
          <p:cNvSpPr/>
          <p:nvPr/>
        </p:nvSpPr>
        <p:spPr>
          <a:xfrm>
            <a:off x="4480560" y="327660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80560" y="3276600"/>
            <a:ext cx="91440" cy="563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3168" y="3276600"/>
            <a:ext cx="6400800" cy="563880"/>
          </a:xfrm>
          <a:prstGeom prst="rect">
            <a:avLst/>
          </a:prstGeom>
          <a:noFill/>
        </p:spPr>
        <p:txBody>
          <a:bodyPr wrap="square" anchor="ctr">
            <a:spAutoFit/>
          </a:bodyPr>
          <a:lstStyle/>
          <a:p>
            <a:pPr algn="l">
              <a:spcAft>
                <a:spcPts val="300"/>
              </a:spcAft>
            </a:pPr>
            <a:r>
              <a:rPr sz="1100" b="1">
                <a:solidFill>
                  <a:srgbClr val="7C3AED"/>
                </a:solidFill>
                <a:latin typeface="Arial"/>
              </a:rPr>
              <a:t>QUALIFICATIONS</a:t>
            </a:r>
          </a:p>
          <a:p>
            <a:pPr algn="l">
              <a:spcAft>
                <a:spcPts val="300"/>
              </a:spcAft>
            </a:pPr>
            <a:r>
              <a:rPr sz="1300" b="0">
                <a:solidFill>
                  <a:srgbClr val="E2E8F0"/>
                </a:solidFill>
                <a:latin typeface="Arial"/>
              </a:rPr>
              <a:t>____________________________________________</a:t>
            </a:r>
          </a:p>
        </p:txBody>
      </p:sp>
      <p:sp>
        <p:nvSpPr>
          <p:cNvPr id="22" name="Rectangle 21"/>
          <p:cNvSpPr/>
          <p:nvPr/>
        </p:nvSpPr>
        <p:spPr>
          <a:xfrm>
            <a:off x="4480560" y="402336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80560" y="4023360"/>
            <a:ext cx="91440" cy="563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73168" y="4023360"/>
            <a:ext cx="6400800" cy="563880"/>
          </a:xfrm>
          <a:prstGeom prst="rect">
            <a:avLst/>
          </a:prstGeom>
          <a:noFill/>
        </p:spPr>
        <p:txBody>
          <a:bodyPr wrap="square" anchor="ctr">
            <a:spAutoFit/>
          </a:bodyPr>
          <a:lstStyle/>
          <a:p>
            <a:pPr algn="l">
              <a:spcAft>
                <a:spcPts val="300"/>
              </a:spcAft>
            </a:pPr>
            <a:r>
              <a:rPr sz="1100" b="1">
                <a:solidFill>
                  <a:srgbClr val="F59E0B"/>
                </a:solidFill>
                <a:latin typeface="Arial"/>
              </a:rPr>
              <a:t>AREAS OF EXPERTISE</a:t>
            </a:r>
          </a:p>
          <a:p>
            <a:pPr algn="l">
              <a:spcAft>
                <a:spcPts val="300"/>
              </a:spcAft>
            </a:pPr>
            <a:r>
              <a:rPr sz="1300" b="0">
                <a:solidFill>
                  <a:srgbClr val="E2E8F0"/>
                </a:solidFill>
                <a:latin typeface="Arial"/>
              </a:rPr>
              <a:t>____________________________________________</a:t>
            </a:r>
          </a:p>
        </p:txBody>
      </p:sp>
      <p:sp>
        <p:nvSpPr>
          <p:cNvPr id="25" name="Rectangle 24"/>
          <p:cNvSpPr/>
          <p:nvPr/>
        </p:nvSpPr>
        <p:spPr>
          <a:xfrm>
            <a:off x="4480560" y="477012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0560" y="4770120"/>
            <a:ext cx="91440" cy="563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773168" y="4770120"/>
            <a:ext cx="6400800" cy="563880"/>
          </a:xfrm>
          <a:prstGeom prst="rect">
            <a:avLst/>
          </a:prstGeom>
          <a:noFill/>
        </p:spPr>
        <p:txBody>
          <a:bodyPr wrap="square" anchor="ctr">
            <a:spAutoFit/>
          </a:bodyPr>
          <a:lstStyle/>
          <a:p>
            <a:pPr algn="l">
              <a:spcAft>
                <a:spcPts val="300"/>
              </a:spcAft>
            </a:pPr>
            <a:r>
              <a:rPr sz="1100" b="1">
                <a:solidFill>
                  <a:srgbClr val="1F6FEB"/>
                </a:solidFill>
                <a:latin typeface="Arial"/>
              </a:rPr>
              <a:t>TRAINING &amp; INDUSTRY EXPERIENCE</a:t>
            </a:r>
          </a:p>
          <a:p>
            <a:pPr algn="l">
              <a:spcAft>
                <a:spcPts val="300"/>
              </a:spcAft>
            </a:pPr>
            <a:r>
              <a:rPr sz="1300" b="0">
                <a:solidFill>
                  <a:srgbClr val="E2E8F0"/>
                </a:solidFill>
                <a:latin typeface="Arial"/>
              </a:rPr>
              <a:t>____________________________________________</a:t>
            </a:r>
          </a:p>
        </p:txBody>
      </p:sp>
      <p:sp>
        <p:nvSpPr>
          <p:cNvPr id="28" name="Rectangle 27"/>
          <p:cNvSpPr/>
          <p:nvPr/>
        </p:nvSpPr>
        <p:spPr>
          <a:xfrm>
            <a:off x="4480560" y="551688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480560" y="5516880"/>
            <a:ext cx="91440" cy="563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773168" y="5516880"/>
            <a:ext cx="6400800" cy="563880"/>
          </a:xfrm>
          <a:prstGeom prst="rect">
            <a:avLst/>
          </a:prstGeom>
          <a:noFill/>
        </p:spPr>
        <p:txBody>
          <a:bodyPr wrap="square" anchor="ctr">
            <a:spAutoFit/>
          </a:bodyPr>
          <a:lstStyle/>
          <a:p>
            <a:pPr algn="l">
              <a:spcAft>
                <a:spcPts val="300"/>
              </a:spcAft>
            </a:pPr>
            <a:r>
              <a:rPr sz="1100" b="1">
                <a:solidFill>
                  <a:srgbClr val="10B981"/>
                </a:solidFill>
                <a:latin typeface="Arial"/>
              </a:rPr>
              <a:t>CONTACT</a:t>
            </a:r>
          </a:p>
          <a:p>
            <a:pPr algn="l">
              <a:spcAft>
                <a:spcPts val="300"/>
              </a:spcAft>
            </a:pPr>
            <a:r>
              <a:rPr sz="1300" b="0">
                <a:solidFill>
                  <a:srgbClr val="E2E8F0"/>
                </a:solidFill>
                <a:latin typeface="Arial"/>
              </a:rPr>
              <a:t>____________________________________________</a:t>
            </a:r>
          </a:p>
        </p:txBody>
      </p:sp>
      <p:sp>
        <p:nvSpPr>
          <p:cNvPr id="31" name="TextBox 3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32" name="TextBox 3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3" name="TextBox 3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YOUR TRAINER</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About the Trainer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68780" y="2286000"/>
            <a:ext cx="1554480" cy="155448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68780" y="2286000"/>
            <a:ext cx="1554480" cy="1554480"/>
          </a:xfrm>
          <a:prstGeom prst="rect">
            <a:avLst/>
          </a:prstGeom>
          <a:noFill/>
        </p:spPr>
        <p:txBody>
          <a:bodyPr wrap="square" anchor="ctr">
            <a:spAutoFit/>
          </a:bodyPr>
          <a:lstStyle/>
          <a:p>
            <a:pPr algn="ctr">
              <a:spcAft>
                <a:spcPts val="400"/>
              </a:spcAft>
            </a:pPr>
            <a:r>
              <a:rPr sz="4400" b="1">
                <a:solidFill>
                  <a:srgbClr val="FFFFFF"/>
                </a:solidFill>
                <a:latin typeface="Arial"/>
              </a:rPr>
              <a:t>AA</a:t>
            </a:r>
          </a:p>
        </p:txBody>
      </p:sp>
      <p:sp>
        <p:nvSpPr>
          <p:cNvPr id="11" name="TextBox 10"/>
          <p:cNvSpPr txBox="1"/>
          <p:nvPr/>
        </p:nvSpPr>
        <p:spPr>
          <a:xfrm>
            <a:off x="914400" y="4160520"/>
            <a:ext cx="3063240" cy="548640"/>
          </a:xfrm>
          <a:prstGeom prst="rect">
            <a:avLst/>
          </a:prstGeom>
          <a:noFill/>
        </p:spPr>
        <p:txBody>
          <a:bodyPr wrap="square" anchor="t">
            <a:spAutoFit/>
          </a:bodyPr>
          <a:lstStyle/>
          <a:p>
            <a:pPr algn="ctr">
              <a:spcAft>
                <a:spcPts val="400"/>
              </a:spcAft>
            </a:pPr>
            <a:r>
              <a:rPr sz="2100" b="1">
                <a:solidFill>
                  <a:srgbClr val="161B26"/>
                </a:solidFill>
                <a:latin typeface="Arial"/>
              </a:rPr>
              <a:t>Dr. Alfred Ang</a:t>
            </a:r>
          </a:p>
        </p:txBody>
      </p:sp>
      <p:sp>
        <p:nvSpPr>
          <p:cNvPr id="12" name="TextBox 11"/>
          <p:cNvSpPr txBox="1"/>
          <p:nvPr/>
        </p:nvSpPr>
        <p:spPr>
          <a:xfrm>
            <a:off x="914400" y="4754880"/>
            <a:ext cx="3063240" cy="1097280"/>
          </a:xfrm>
          <a:prstGeom prst="rect">
            <a:avLst/>
          </a:prstGeom>
          <a:noFill/>
        </p:spPr>
        <p:txBody>
          <a:bodyPr wrap="square" anchor="t">
            <a:spAutoFit/>
          </a:bodyPr>
          <a:lstStyle/>
          <a:p>
            <a:pPr algn="ctr">
              <a:spcAft>
                <a:spcPts val="400"/>
              </a:spcAft>
            </a:pPr>
            <a:r>
              <a:rPr sz="1300" b="0">
                <a:solidFill>
                  <a:srgbClr val="5B6372"/>
                </a:solidFill>
                <a:latin typeface="Arial"/>
              </a:rPr>
              <a:t>Principal Trainer
Tertiary Infotech Academy Pte Ltd</a:t>
            </a:r>
          </a:p>
        </p:txBody>
      </p:sp>
      <p:sp>
        <p:nvSpPr>
          <p:cNvPr id="13" name="Rectangle 12"/>
          <p:cNvSpPr/>
          <p:nvPr/>
        </p:nvSpPr>
        <p:spPr>
          <a:xfrm>
            <a:off x="4480560" y="178308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80560" y="1783080"/>
            <a:ext cx="91440" cy="9372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73168" y="1783080"/>
            <a:ext cx="6400800" cy="937260"/>
          </a:xfrm>
          <a:prstGeom prst="rect">
            <a:avLst/>
          </a:prstGeom>
          <a:noFill/>
        </p:spPr>
        <p:txBody>
          <a:bodyPr wrap="square" anchor="ctr">
            <a:spAutoFit/>
          </a:bodyPr>
          <a:lstStyle/>
          <a:p>
            <a:pPr algn="l">
              <a:spcAft>
                <a:spcPts val="300"/>
              </a:spcAft>
            </a:pPr>
            <a:r>
              <a:rPr sz="1100" b="1">
                <a:solidFill>
                  <a:srgbClr val="1F6FEB"/>
                </a:solidFill>
                <a:latin typeface="Arial"/>
              </a:rPr>
              <a:t>ROLE</a:t>
            </a:r>
          </a:p>
          <a:p>
            <a:pPr algn="l">
              <a:spcAft>
                <a:spcPts val="300"/>
              </a:spcAft>
            </a:pPr>
            <a:r>
              <a:rPr sz="1400" b="0">
                <a:solidFill>
                  <a:srgbClr val="161B26"/>
                </a:solidFill>
                <a:latin typeface="Arial"/>
              </a:rPr>
              <a:t>Principal Trainer, Tertiary Infotech Academy Pte Ltd</a:t>
            </a:r>
          </a:p>
        </p:txBody>
      </p:sp>
      <p:sp>
        <p:nvSpPr>
          <p:cNvPr id="16" name="Rectangle 15"/>
          <p:cNvSpPr/>
          <p:nvPr/>
        </p:nvSpPr>
        <p:spPr>
          <a:xfrm>
            <a:off x="4480560" y="290322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0560" y="2903220"/>
            <a:ext cx="91440" cy="9372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73168" y="2903220"/>
            <a:ext cx="6400800" cy="937260"/>
          </a:xfrm>
          <a:prstGeom prst="rect">
            <a:avLst/>
          </a:prstGeom>
          <a:noFill/>
        </p:spPr>
        <p:txBody>
          <a:bodyPr wrap="square" anchor="ctr">
            <a:spAutoFit/>
          </a:bodyPr>
          <a:lstStyle/>
          <a:p>
            <a:pPr algn="l">
              <a:spcAft>
                <a:spcPts val="300"/>
              </a:spcAft>
            </a:pPr>
            <a:r>
              <a:rPr sz="1100" b="1">
                <a:solidFill>
                  <a:srgbClr val="10B981"/>
                </a:solidFill>
                <a:latin typeface="Arial"/>
              </a:rPr>
              <a:t>EXPERTISE</a:t>
            </a:r>
          </a:p>
          <a:p>
            <a:pPr algn="l">
              <a:spcAft>
                <a:spcPts val="300"/>
              </a:spcAft>
            </a:pPr>
            <a:r>
              <a:rPr sz="1400" b="0">
                <a:solidFill>
                  <a:srgbClr val="161B26"/>
                </a:solidFill>
                <a:latin typeface="Arial"/>
              </a:rPr>
              <a:t>Internet of Things, digital transformation and business innovation.</a:t>
            </a:r>
          </a:p>
        </p:txBody>
      </p:sp>
      <p:sp>
        <p:nvSpPr>
          <p:cNvPr id="19" name="Rectangle 18"/>
          <p:cNvSpPr/>
          <p:nvPr/>
        </p:nvSpPr>
        <p:spPr>
          <a:xfrm>
            <a:off x="4480560" y="402336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80560" y="4023360"/>
            <a:ext cx="91440" cy="9372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3168" y="4023360"/>
            <a:ext cx="6400800" cy="937260"/>
          </a:xfrm>
          <a:prstGeom prst="rect">
            <a:avLst/>
          </a:prstGeom>
          <a:noFill/>
        </p:spPr>
        <p:txBody>
          <a:bodyPr wrap="square" anchor="ctr">
            <a:spAutoFit/>
          </a:bodyPr>
          <a:lstStyle/>
          <a:p>
            <a:pPr algn="l">
              <a:spcAft>
                <a:spcPts val="300"/>
              </a:spcAft>
            </a:pPr>
            <a:r>
              <a:rPr sz="1100" b="1">
                <a:solidFill>
                  <a:srgbClr val="7C3AED"/>
                </a:solidFill>
                <a:latin typeface="Arial"/>
              </a:rPr>
              <a:t>DELIVERS</a:t>
            </a:r>
          </a:p>
          <a:p>
            <a:pPr algn="l">
              <a:spcAft>
                <a:spcPts val="300"/>
              </a:spcAft>
            </a:pPr>
            <a:r>
              <a:rPr sz="1400" b="0">
                <a:solidFill>
                  <a:srgbClr val="161B26"/>
                </a:solidFill>
                <a:latin typeface="Arial"/>
              </a:rPr>
              <a:t>WSQ courses on IoT, AI, data analytics and emerging digital technology.</a:t>
            </a:r>
          </a:p>
        </p:txBody>
      </p:sp>
      <p:sp>
        <p:nvSpPr>
          <p:cNvPr id="22" name="Rectangle 21"/>
          <p:cNvSpPr/>
          <p:nvPr/>
        </p:nvSpPr>
        <p:spPr>
          <a:xfrm>
            <a:off x="4480560" y="514350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80560" y="5143500"/>
            <a:ext cx="91440" cy="9372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73168" y="5143500"/>
            <a:ext cx="6400800" cy="937260"/>
          </a:xfrm>
          <a:prstGeom prst="rect">
            <a:avLst/>
          </a:prstGeom>
          <a:noFill/>
        </p:spPr>
        <p:txBody>
          <a:bodyPr wrap="square" anchor="ctr">
            <a:spAutoFit/>
          </a:bodyPr>
          <a:lstStyle/>
          <a:p>
            <a:pPr algn="l">
              <a:spcAft>
                <a:spcPts val="300"/>
              </a:spcAft>
            </a:pPr>
            <a:r>
              <a:rPr sz="1100" b="1">
                <a:solidFill>
                  <a:srgbClr val="F59E0B"/>
                </a:solidFill>
                <a:latin typeface="Arial"/>
              </a:rPr>
              <a:t>FOUNDER</a:t>
            </a:r>
          </a:p>
          <a:p>
            <a:pPr algn="l">
              <a:spcAft>
                <a:spcPts val="300"/>
              </a:spcAft>
            </a:pPr>
            <a:r>
              <a:rPr sz="1400" b="0">
                <a:solidFill>
                  <a:srgbClr val="161B26"/>
                </a:solidFill>
                <a:latin typeface="Arial"/>
              </a:rPr>
              <a:t>Founder and lead instructor at Tertiary Infotech / Tertiary Courses.</a:t>
            </a: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ICE-BREAKER</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Let's Know Each Other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Your name, organisation and role.</a:t>
            </a:r>
          </a:p>
          <a:p>
            <a:pPr>
              <a:spcAft>
                <a:spcPts val="1000"/>
              </a:spcAft>
            </a:pPr>
            <a:r>
              <a:rPr sz="2000" b="0">
                <a:solidFill>
                  <a:srgbClr val="161B26"/>
                </a:solidFill>
                <a:latin typeface="Arial"/>
              </a:rPr>
              <a:t>•  How your organisation uses (or could use) connected devices and sensor data today.</a:t>
            </a:r>
          </a:p>
          <a:p>
            <a:pPr>
              <a:spcAft>
                <a:spcPts val="1000"/>
              </a:spcAft>
            </a:pPr>
            <a:r>
              <a:rPr sz="2000" b="0">
                <a:solidFill>
                  <a:srgbClr val="161B26"/>
                </a:solidFill>
                <a:latin typeface="Arial"/>
              </a:rPr>
              <a:t>•  One business problem you would like IoT to solve by the end of today.</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HOUSEKEEPING</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Ground Rules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Set your mobile phone to silent mode.</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Participate actively — no question is too small.</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10712"/>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Mutual respect: agree to disagree.</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10712"/>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One conversation at a time.</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46904"/>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Be punctual; return from breaks on time.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46904"/>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75% attendance is required.</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COURSE PORTAL</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Download Your Course Material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943600" cy="41605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5943600" cy="475488"/>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1938528"/>
            <a:ext cx="155448" cy="155448"/>
          </a:xfrm>
          <a:prstGeom prst="ellipse">
            <a:avLst/>
          </a:prstGeom>
          <a:solidFill>
            <a:srgbClr val="FF5F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216152" y="1938528"/>
            <a:ext cx="155448" cy="155448"/>
          </a:xfrm>
          <a:prstGeom prst="ellipse">
            <a:avLst/>
          </a:prstGeom>
          <a:solidFill>
            <a:srgbClr val="FEBC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472184" y="1938528"/>
            <a:ext cx="155448" cy="155448"/>
          </a:xfrm>
          <a:prstGeom prst="ellipse">
            <a:avLst/>
          </a:prstGeom>
          <a:solidFill>
            <a:srgbClr val="28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828800" y="1892808"/>
            <a:ext cx="4617720" cy="265176"/>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947672" y="1892808"/>
            <a:ext cx="4480560" cy="265176"/>
          </a:xfrm>
          <a:prstGeom prst="rect">
            <a:avLst/>
          </a:prstGeom>
          <a:noFill/>
        </p:spPr>
        <p:txBody>
          <a:bodyPr wrap="square" anchor="ctr">
            <a:spAutoFit/>
          </a:bodyPr>
          <a:lstStyle/>
          <a:p>
            <a:pPr algn="l">
              <a:spcAft>
                <a:spcPts val="400"/>
              </a:spcAft>
            </a:pPr>
            <a:r>
              <a:rPr sz="1000" b="0">
                <a:solidFill>
                  <a:srgbClr val="5B6372"/>
                </a:solidFill>
                <a:latin typeface="Arial"/>
              </a:rPr>
              <a:t>🔒  lms-tms.tertiaryinfotech.com</a:t>
            </a:r>
          </a:p>
        </p:txBody>
      </p:sp>
      <p:sp>
        <p:nvSpPr>
          <p:cNvPr id="14" name="Rectangle 13"/>
          <p:cNvSpPr/>
          <p:nvPr/>
        </p:nvSpPr>
        <p:spPr>
          <a:xfrm>
            <a:off x="777240" y="2258568"/>
            <a:ext cx="5943600" cy="6583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2258568"/>
            <a:ext cx="5486400" cy="658368"/>
          </a:xfrm>
          <a:prstGeom prst="rect">
            <a:avLst/>
          </a:prstGeom>
          <a:noFill/>
        </p:spPr>
        <p:txBody>
          <a:bodyPr wrap="square" anchor="ctr">
            <a:spAutoFit/>
          </a:bodyPr>
          <a:lstStyle/>
          <a:p>
            <a:pPr algn="l">
              <a:spcAft>
                <a:spcPts val="400"/>
              </a:spcAft>
            </a:pPr>
            <a:r>
              <a:rPr sz="1400" b="1">
                <a:solidFill>
                  <a:srgbClr val="FFFFFF"/>
                </a:solidFill>
                <a:latin typeface="Arial"/>
              </a:rPr>
              <a:t>Tertiary Infotech  ·  LMS / TMS</a:t>
            </a:r>
          </a:p>
        </p:txBody>
      </p:sp>
      <p:sp>
        <p:nvSpPr>
          <p:cNvPr id="16" name="TextBox 15"/>
          <p:cNvSpPr txBox="1"/>
          <p:nvPr/>
        </p:nvSpPr>
        <p:spPr>
          <a:xfrm>
            <a:off x="1033272" y="3081528"/>
            <a:ext cx="5431536" cy="320040"/>
          </a:xfrm>
          <a:prstGeom prst="rect">
            <a:avLst/>
          </a:prstGeom>
          <a:noFill/>
        </p:spPr>
        <p:txBody>
          <a:bodyPr wrap="square" anchor="t">
            <a:spAutoFit/>
          </a:bodyPr>
          <a:lstStyle/>
          <a:p>
            <a:pPr algn="l">
              <a:spcAft>
                <a:spcPts val="400"/>
              </a:spcAft>
            </a:pPr>
            <a:r>
              <a:rPr sz="1000" b="1">
                <a:solidFill>
                  <a:srgbClr val="5B6372"/>
                </a:solidFill>
                <a:latin typeface="Arial"/>
              </a:rPr>
              <a:t>MY COURSES</a:t>
            </a:r>
          </a:p>
        </p:txBody>
      </p:sp>
      <p:sp>
        <p:nvSpPr>
          <p:cNvPr id="17" name="Rectangle 16"/>
          <p:cNvSpPr/>
          <p:nvPr/>
        </p:nvSpPr>
        <p:spPr>
          <a:xfrm>
            <a:off x="1033272" y="3410712"/>
            <a:ext cx="5431536" cy="7132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033272" y="3410712"/>
            <a:ext cx="73152" cy="7132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252728" y="3410712"/>
            <a:ext cx="4937760" cy="713232"/>
          </a:xfrm>
          <a:prstGeom prst="rect">
            <a:avLst/>
          </a:prstGeom>
          <a:noFill/>
        </p:spPr>
        <p:txBody>
          <a:bodyPr wrap="square" anchor="ctr">
            <a:spAutoFit/>
          </a:bodyPr>
          <a:lstStyle/>
          <a:p>
            <a:pPr algn="l">
              <a:spcAft>
                <a:spcPts val="200"/>
              </a:spcAft>
            </a:pPr>
            <a:r>
              <a:rPr sz="1100" b="1">
                <a:solidFill>
                  <a:srgbClr val="161B26"/>
                </a:solidFill>
                <a:latin typeface="Arial"/>
              </a:rPr>
              <a:t>Business Innovation with Internet-of-Things (IoT)</a:t>
            </a:r>
          </a:p>
          <a:p>
            <a:pPr algn="l">
              <a:spcAft>
                <a:spcPts val="200"/>
              </a:spcAft>
            </a:pPr>
            <a:r>
              <a:rPr sz="900" b="0">
                <a:solidFill>
                  <a:srgbClr val="5B6372"/>
                </a:solidFill>
                <a:latin typeface="Arial"/>
              </a:rPr>
              <a:t>TGS-2026064711</a:t>
            </a:r>
          </a:p>
        </p:txBody>
      </p:sp>
      <p:sp>
        <p:nvSpPr>
          <p:cNvPr id="20" name="Rectangle 19"/>
          <p:cNvSpPr/>
          <p:nvPr/>
        </p:nvSpPr>
        <p:spPr>
          <a:xfrm>
            <a:off x="1033272" y="4297680"/>
            <a:ext cx="5431536" cy="42062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106424" y="4361688"/>
            <a:ext cx="384048" cy="29260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106424" y="4361688"/>
            <a:ext cx="384048" cy="292608"/>
          </a:xfrm>
          <a:prstGeom prst="rect">
            <a:avLst/>
          </a:prstGeom>
          <a:noFill/>
        </p:spPr>
        <p:txBody>
          <a:bodyPr wrap="square" anchor="ctr">
            <a:spAutoFit/>
          </a:bodyPr>
          <a:lstStyle/>
          <a:p>
            <a:pPr algn="ctr">
              <a:spcAft>
                <a:spcPts val="400"/>
              </a:spcAft>
            </a:pPr>
            <a:r>
              <a:rPr sz="800" b="1">
                <a:solidFill>
                  <a:srgbClr val="FFFFFF"/>
                </a:solidFill>
                <a:latin typeface="Arial"/>
              </a:rPr>
              <a:t>PDF</a:t>
            </a:r>
          </a:p>
        </p:txBody>
      </p:sp>
      <p:sp>
        <p:nvSpPr>
          <p:cNvPr id="23" name="TextBox 22"/>
          <p:cNvSpPr txBox="1"/>
          <p:nvPr/>
        </p:nvSpPr>
        <p:spPr>
          <a:xfrm>
            <a:off x="1600200" y="4297680"/>
            <a:ext cx="2926080" cy="420624"/>
          </a:xfrm>
          <a:prstGeom prst="rect">
            <a:avLst/>
          </a:prstGeom>
          <a:noFill/>
        </p:spPr>
        <p:txBody>
          <a:bodyPr wrap="square" anchor="ctr">
            <a:spAutoFit/>
          </a:bodyPr>
          <a:lstStyle/>
          <a:p>
            <a:pPr algn="l">
              <a:spcAft>
                <a:spcPts val="400"/>
              </a:spcAft>
            </a:pPr>
            <a:r>
              <a:rPr sz="1100" b="0">
                <a:solidFill>
                  <a:srgbClr val="161B26"/>
                </a:solidFill>
                <a:latin typeface="Arial"/>
              </a:rPr>
              <a:t>Learner Slides</a:t>
            </a:r>
          </a:p>
        </p:txBody>
      </p:sp>
      <p:sp>
        <p:nvSpPr>
          <p:cNvPr id="24" name="Rectangle 23"/>
          <p:cNvSpPr/>
          <p:nvPr/>
        </p:nvSpPr>
        <p:spPr>
          <a:xfrm>
            <a:off x="5486400" y="4370832"/>
            <a:ext cx="868680" cy="274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0" y="4370832"/>
            <a:ext cx="868680" cy="274320"/>
          </a:xfrm>
          <a:prstGeom prst="rect">
            <a:avLst/>
          </a:prstGeom>
          <a:noFill/>
        </p:spPr>
        <p:txBody>
          <a:bodyPr wrap="square" anchor="ctr">
            <a:spAutoFit/>
          </a:bodyPr>
          <a:lstStyle/>
          <a:p>
            <a:pPr algn="ctr">
              <a:spcAft>
                <a:spcPts val="400"/>
              </a:spcAft>
            </a:pPr>
            <a:r>
              <a:rPr sz="800" b="1">
                <a:solidFill>
                  <a:srgbClr val="FFFFFF"/>
                </a:solidFill>
                <a:latin typeface="Arial"/>
              </a:rPr>
              <a:t>⤓ Download</a:t>
            </a:r>
          </a:p>
        </p:txBody>
      </p:sp>
      <p:sp>
        <p:nvSpPr>
          <p:cNvPr id="26" name="Rectangle 25"/>
          <p:cNvSpPr/>
          <p:nvPr/>
        </p:nvSpPr>
        <p:spPr>
          <a:xfrm>
            <a:off x="1033272" y="4809744"/>
            <a:ext cx="5431536" cy="42062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106424" y="4873752"/>
            <a:ext cx="384048" cy="29260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106424" y="4873752"/>
            <a:ext cx="384048" cy="292608"/>
          </a:xfrm>
          <a:prstGeom prst="rect">
            <a:avLst/>
          </a:prstGeom>
          <a:noFill/>
        </p:spPr>
        <p:txBody>
          <a:bodyPr wrap="square" anchor="ctr">
            <a:spAutoFit/>
          </a:bodyPr>
          <a:lstStyle/>
          <a:p>
            <a:pPr algn="ctr">
              <a:spcAft>
                <a:spcPts val="400"/>
              </a:spcAft>
            </a:pPr>
            <a:r>
              <a:rPr sz="800" b="1">
                <a:solidFill>
                  <a:srgbClr val="FFFFFF"/>
                </a:solidFill>
                <a:latin typeface="Arial"/>
              </a:rPr>
              <a:t>PDF</a:t>
            </a:r>
          </a:p>
        </p:txBody>
      </p:sp>
      <p:sp>
        <p:nvSpPr>
          <p:cNvPr id="29" name="TextBox 28"/>
          <p:cNvSpPr txBox="1"/>
          <p:nvPr/>
        </p:nvSpPr>
        <p:spPr>
          <a:xfrm>
            <a:off x="1600200" y="4809744"/>
            <a:ext cx="2926080" cy="420624"/>
          </a:xfrm>
          <a:prstGeom prst="rect">
            <a:avLst/>
          </a:prstGeom>
          <a:noFill/>
        </p:spPr>
        <p:txBody>
          <a:bodyPr wrap="square" anchor="ctr">
            <a:spAutoFit/>
          </a:bodyPr>
          <a:lstStyle/>
          <a:p>
            <a:pPr algn="l">
              <a:spcAft>
                <a:spcPts val="400"/>
              </a:spcAft>
            </a:pPr>
            <a:r>
              <a:rPr sz="1100" b="0">
                <a:solidFill>
                  <a:srgbClr val="161B26"/>
                </a:solidFill>
                <a:latin typeface="Arial"/>
              </a:rPr>
              <a:t>Learner Guide</a:t>
            </a:r>
          </a:p>
        </p:txBody>
      </p:sp>
      <p:sp>
        <p:nvSpPr>
          <p:cNvPr id="30" name="Rectangle 29"/>
          <p:cNvSpPr/>
          <p:nvPr/>
        </p:nvSpPr>
        <p:spPr>
          <a:xfrm>
            <a:off x="5486400" y="4882896"/>
            <a:ext cx="868680" cy="274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486400" y="4882896"/>
            <a:ext cx="868680" cy="274320"/>
          </a:xfrm>
          <a:prstGeom prst="rect">
            <a:avLst/>
          </a:prstGeom>
          <a:noFill/>
        </p:spPr>
        <p:txBody>
          <a:bodyPr wrap="square" anchor="ctr">
            <a:spAutoFit/>
          </a:bodyPr>
          <a:lstStyle/>
          <a:p>
            <a:pPr algn="ctr">
              <a:spcAft>
                <a:spcPts val="400"/>
              </a:spcAft>
            </a:pPr>
            <a:r>
              <a:rPr sz="800" b="1">
                <a:solidFill>
                  <a:srgbClr val="FFFFFF"/>
                </a:solidFill>
                <a:latin typeface="Arial"/>
              </a:rPr>
              <a:t>⤓ Download</a:t>
            </a:r>
          </a:p>
        </p:txBody>
      </p:sp>
      <p:sp>
        <p:nvSpPr>
          <p:cNvPr id="32" name="Rectangle 31"/>
          <p:cNvSpPr/>
          <p:nvPr/>
        </p:nvSpPr>
        <p:spPr>
          <a:xfrm>
            <a:off x="1033272" y="5321808"/>
            <a:ext cx="5431536" cy="42062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1106424" y="5385816"/>
            <a:ext cx="384048" cy="29260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106424" y="5385816"/>
            <a:ext cx="384048" cy="292608"/>
          </a:xfrm>
          <a:prstGeom prst="rect">
            <a:avLst/>
          </a:prstGeom>
          <a:noFill/>
        </p:spPr>
        <p:txBody>
          <a:bodyPr wrap="square" anchor="ctr">
            <a:spAutoFit/>
          </a:bodyPr>
          <a:lstStyle/>
          <a:p>
            <a:pPr algn="ctr">
              <a:spcAft>
                <a:spcPts val="400"/>
              </a:spcAft>
            </a:pPr>
            <a:r>
              <a:rPr sz="800" b="1">
                <a:solidFill>
                  <a:srgbClr val="FFFFFF"/>
                </a:solidFill>
                <a:latin typeface="Arial"/>
              </a:rPr>
              <a:t>PDF</a:t>
            </a:r>
          </a:p>
        </p:txBody>
      </p:sp>
      <p:sp>
        <p:nvSpPr>
          <p:cNvPr id="35" name="TextBox 34"/>
          <p:cNvSpPr txBox="1"/>
          <p:nvPr/>
        </p:nvSpPr>
        <p:spPr>
          <a:xfrm>
            <a:off x="1600200" y="5321808"/>
            <a:ext cx="2926080" cy="420624"/>
          </a:xfrm>
          <a:prstGeom prst="rect">
            <a:avLst/>
          </a:prstGeom>
          <a:noFill/>
        </p:spPr>
        <p:txBody>
          <a:bodyPr wrap="square" anchor="ctr">
            <a:spAutoFit/>
          </a:bodyPr>
          <a:lstStyle/>
          <a:p>
            <a:pPr algn="l">
              <a:spcAft>
                <a:spcPts val="400"/>
              </a:spcAft>
            </a:pPr>
            <a:r>
              <a:rPr sz="1100" b="0">
                <a:solidFill>
                  <a:srgbClr val="161B26"/>
                </a:solidFill>
                <a:latin typeface="Arial"/>
              </a:rPr>
              <a:t>Lesson Plan</a:t>
            </a:r>
          </a:p>
        </p:txBody>
      </p:sp>
      <p:sp>
        <p:nvSpPr>
          <p:cNvPr id="36" name="Rectangle 35"/>
          <p:cNvSpPr/>
          <p:nvPr/>
        </p:nvSpPr>
        <p:spPr>
          <a:xfrm>
            <a:off x="5486400" y="5394960"/>
            <a:ext cx="868680" cy="274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486400" y="5394960"/>
            <a:ext cx="868680" cy="274320"/>
          </a:xfrm>
          <a:prstGeom prst="rect">
            <a:avLst/>
          </a:prstGeom>
          <a:noFill/>
        </p:spPr>
        <p:txBody>
          <a:bodyPr wrap="square" anchor="ctr">
            <a:spAutoFit/>
          </a:bodyPr>
          <a:lstStyle/>
          <a:p>
            <a:pPr algn="ctr">
              <a:spcAft>
                <a:spcPts val="400"/>
              </a:spcAft>
            </a:pPr>
            <a:r>
              <a:rPr sz="800" b="1">
                <a:solidFill>
                  <a:srgbClr val="FFFFFF"/>
                </a:solidFill>
                <a:latin typeface="Arial"/>
              </a:rPr>
              <a:t>⤓ Download</a:t>
            </a:r>
          </a:p>
        </p:txBody>
      </p:sp>
      <p:sp>
        <p:nvSpPr>
          <p:cNvPr id="38" name="Rectangle 37"/>
          <p:cNvSpPr/>
          <p:nvPr/>
        </p:nvSpPr>
        <p:spPr>
          <a:xfrm>
            <a:off x="7059168" y="1783080"/>
            <a:ext cx="4389120" cy="7150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7059168" y="1783080"/>
            <a:ext cx="82296" cy="7150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7278624" y="1930298"/>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278624" y="1930298"/>
            <a:ext cx="420624" cy="420624"/>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42" name="TextBox 41"/>
          <p:cNvSpPr txBox="1"/>
          <p:nvPr/>
        </p:nvSpPr>
        <p:spPr>
          <a:xfrm>
            <a:off x="7845552" y="1783080"/>
            <a:ext cx="3383280" cy="715060"/>
          </a:xfrm>
          <a:prstGeom prst="rect">
            <a:avLst/>
          </a:prstGeom>
          <a:noFill/>
        </p:spPr>
        <p:txBody>
          <a:bodyPr wrap="square" anchor="ctr">
            <a:spAutoFit/>
          </a:bodyPr>
          <a:lstStyle/>
          <a:p>
            <a:pPr algn="l">
              <a:spcAft>
                <a:spcPts val="200"/>
              </a:spcAft>
            </a:pPr>
            <a:r>
              <a:rPr sz="1200" b="1">
                <a:solidFill>
                  <a:srgbClr val="161B26"/>
                </a:solidFill>
                <a:latin typeface="Arial"/>
              </a:rPr>
              <a:t>Go to lms-tms.tertiaryinfotech.com</a:t>
            </a:r>
          </a:p>
          <a:p>
            <a:pPr algn="l">
              <a:spcAft>
                <a:spcPts val="200"/>
              </a:spcAft>
            </a:pPr>
            <a:r>
              <a:rPr sz="1000" b="0">
                <a:solidFill>
                  <a:srgbClr val="5B6372"/>
                </a:solidFill>
                <a:latin typeface="Arial"/>
              </a:rPr>
              <a:t>Open the portal in any browser.</a:t>
            </a:r>
          </a:p>
        </p:txBody>
      </p:sp>
      <p:sp>
        <p:nvSpPr>
          <p:cNvPr id="43" name="Rectangle 42"/>
          <p:cNvSpPr/>
          <p:nvPr/>
        </p:nvSpPr>
        <p:spPr>
          <a:xfrm>
            <a:off x="7059168" y="2644444"/>
            <a:ext cx="4389120" cy="7150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059168" y="2644444"/>
            <a:ext cx="82296" cy="7150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7278624" y="2791662"/>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278624" y="2791662"/>
            <a:ext cx="420624" cy="420624"/>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47" name="TextBox 46"/>
          <p:cNvSpPr txBox="1"/>
          <p:nvPr/>
        </p:nvSpPr>
        <p:spPr>
          <a:xfrm>
            <a:off x="7845552" y="2644444"/>
            <a:ext cx="3383280" cy="715060"/>
          </a:xfrm>
          <a:prstGeom prst="rect">
            <a:avLst/>
          </a:prstGeom>
          <a:noFill/>
        </p:spPr>
        <p:txBody>
          <a:bodyPr wrap="square" anchor="ctr">
            <a:spAutoFit/>
          </a:bodyPr>
          <a:lstStyle/>
          <a:p>
            <a:pPr algn="l">
              <a:spcAft>
                <a:spcPts val="200"/>
              </a:spcAft>
            </a:pPr>
            <a:r>
              <a:rPr sz="1200" b="1">
                <a:solidFill>
                  <a:srgbClr val="161B26"/>
                </a:solidFill>
                <a:latin typeface="Arial"/>
              </a:rPr>
              <a:t>Log in with your registered email</a:t>
            </a:r>
          </a:p>
          <a:p>
            <a:pPr algn="l">
              <a:spcAft>
                <a:spcPts val="200"/>
              </a:spcAft>
            </a:pPr>
            <a:r>
              <a:rPr sz="1000" b="0">
                <a:solidFill>
                  <a:srgbClr val="5B6372"/>
                </a:solidFill>
                <a:latin typeface="Arial"/>
              </a:rPr>
              <a:t>The same address used to enrol.</a:t>
            </a:r>
          </a:p>
        </p:txBody>
      </p:sp>
      <p:sp>
        <p:nvSpPr>
          <p:cNvPr id="48" name="Rectangle 47"/>
          <p:cNvSpPr/>
          <p:nvPr/>
        </p:nvSpPr>
        <p:spPr>
          <a:xfrm>
            <a:off x="7059168" y="3505808"/>
            <a:ext cx="4389120" cy="7150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059168" y="3505808"/>
            <a:ext cx="82296" cy="7150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7278624" y="3653026"/>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278624" y="3653026"/>
            <a:ext cx="420624" cy="420624"/>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52" name="TextBox 51"/>
          <p:cNvSpPr txBox="1"/>
          <p:nvPr/>
        </p:nvSpPr>
        <p:spPr>
          <a:xfrm>
            <a:off x="7845552" y="3505808"/>
            <a:ext cx="3383280" cy="715060"/>
          </a:xfrm>
          <a:prstGeom prst="rect">
            <a:avLst/>
          </a:prstGeom>
          <a:noFill/>
        </p:spPr>
        <p:txBody>
          <a:bodyPr wrap="square" anchor="ctr">
            <a:spAutoFit/>
          </a:bodyPr>
          <a:lstStyle/>
          <a:p>
            <a:pPr algn="l">
              <a:spcAft>
                <a:spcPts val="200"/>
              </a:spcAft>
            </a:pPr>
            <a:r>
              <a:rPr sz="1200" b="1">
                <a:solidFill>
                  <a:srgbClr val="161B26"/>
                </a:solidFill>
                <a:latin typeface="Arial"/>
              </a:rPr>
              <a:t>Open this course</a:t>
            </a:r>
          </a:p>
          <a:p>
            <a:pPr algn="l">
              <a:spcAft>
                <a:spcPts val="200"/>
              </a:spcAft>
            </a:pPr>
            <a:r>
              <a:rPr sz="1000" b="0">
                <a:solidFill>
                  <a:srgbClr val="5B6372"/>
                </a:solidFill>
                <a:latin typeface="Arial"/>
              </a:rPr>
              <a:t>Business Innovation with IoT.</a:t>
            </a:r>
          </a:p>
        </p:txBody>
      </p:sp>
      <p:sp>
        <p:nvSpPr>
          <p:cNvPr id="53" name="Rectangle 52"/>
          <p:cNvSpPr/>
          <p:nvPr/>
        </p:nvSpPr>
        <p:spPr>
          <a:xfrm>
            <a:off x="7059168" y="4367172"/>
            <a:ext cx="4389120" cy="7150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7059168" y="4367172"/>
            <a:ext cx="82296" cy="7150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7278624" y="4514390"/>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7278624" y="4514390"/>
            <a:ext cx="420624" cy="420624"/>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57" name="TextBox 56"/>
          <p:cNvSpPr txBox="1"/>
          <p:nvPr/>
        </p:nvSpPr>
        <p:spPr>
          <a:xfrm>
            <a:off x="7845552" y="4367172"/>
            <a:ext cx="3383280" cy="715060"/>
          </a:xfrm>
          <a:prstGeom prst="rect">
            <a:avLst/>
          </a:prstGeom>
          <a:noFill/>
        </p:spPr>
        <p:txBody>
          <a:bodyPr wrap="square" anchor="ctr">
            <a:spAutoFit/>
          </a:bodyPr>
          <a:lstStyle/>
          <a:p>
            <a:pPr algn="l">
              <a:spcAft>
                <a:spcPts val="200"/>
              </a:spcAft>
            </a:pPr>
            <a:r>
              <a:rPr sz="1200" b="1">
                <a:solidFill>
                  <a:srgbClr val="161B26"/>
                </a:solidFill>
                <a:latin typeface="Arial"/>
              </a:rPr>
              <a:t>Download the material</a:t>
            </a:r>
          </a:p>
          <a:p>
            <a:pPr algn="l">
              <a:spcAft>
                <a:spcPts val="200"/>
              </a:spcAft>
            </a:pPr>
            <a:r>
              <a:rPr sz="1000" b="0">
                <a:solidFill>
                  <a:srgbClr val="5B6372"/>
                </a:solidFill>
                <a:latin typeface="Arial"/>
              </a:rPr>
              <a:t>Slides, Learner Guide and Lesson Plan.</a:t>
            </a:r>
          </a:p>
        </p:txBody>
      </p:sp>
      <p:sp>
        <p:nvSpPr>
          <p:cNvPr id="58" name="Rectangle 57"/>
          <p:cNvSpPr/>
          <p:nvPr/>
        </p:nvSpPr>
        <p:spPr>
          <a:xfrm>
            <a:off x="7059168" y="5228536"/>
            <a:ext cx="4389120" cy="7150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7059168" y="5228536"/>
            <a:ext cx="82296" cy="7150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7278624" y="537575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7278624" y="5375754"/>
            <a:ext cx="420624" cy="420624"/>
          </a:xfrm>
          <a:prstGeom prst="rect">
            <a:avLst/>
          </a:prstGeom>
          <a:noFill/>
        </p:spPr>
        <p:txBody>
          <a:bodyPr wrap="square" anchor="ctr">
            <a:spAutoFit/>
          </a:bodyPr>
          <a:lstStyle/>
          <a:p>
            <a:pPr algn="ctr">
              <a:spcAft>
                <a:spcPts val="400"/>
              </a:spcAft>
            </a:pPr>
            <a:r>
              <a:rPr sz="1500" b="1">
                <a:solidFill>
                  <a:srgbClr val="FFFFFF"/>
                </a:solidFill>
                <a:latin typeface="Arial"/>
              </a:rPr>
              <a:t>5</a:t>
            </a:r>
          </a:p>
        </p:txBody>
      </p:sp>
      <p:sp>
        <p:nvSpPr>
          <p:cNvPr id="62" name="TextBox 61"/>
          <p:cNvSpPr txBox="1"/>
          <p:nvPr/>
        </p:nvSpPr>
        <p:spPr>
          <a:xfrm>
            <a:off x="7845552" y="5228536"/>
            <a:ext cx="3383280" cy="715060"/>
          </a:xfrm>
          <a:prstGeom prst="rect">
            <a:avLst/>
          </a:prstGeom>
          <a:noFill/>
        </p:spPr>
        <p:txBody>
          <a:bodyPr wrap="square" anchor="ctr">
            <a:spAutoFit/>
          </a:bodyPr>
          <a:lstStyle/>
          <a:p>
            <a:pPr algn="l">
              <a:spcAft>
                <a:spcPts val="200"/>
              </a:spcAft>
            </a:pPr>
            <a:r>
              <a:rPr sz="1200" b="1">
                <a:solidFill>
                  <a:srgbClr val="161B26"/>
                </a:solidFill>
                <a:latin typeface="Arial"/>
              </a:rPr>
              <a:t>Keep them open in class</a:t>
            </a:r>
          </a:p>
          <a:p>
            <a:pPr algn="l">
              <a:spcAft>
                <a:spcPts val="200"/>
              </a:spcAft>
            </a:pPr>
            <a:r>
              <a:rPr sz="1000" b="0">
                <a:solidFill>
                  <a:srgbClr val="5B6372"/>
                </a:solidFill>
                <a:latin typeface="Arial"/>
              </a:rPr>
              <a:t>The assessment is open book.</a:t>
            </a:r>
          </a:p>
        </p:txBody>
      </p:sp>
      <p:sp>
        <p:nvSpPr>
          <p:cNvPr id="63" name="TextBox 6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64" name="TextBox 6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65" name="TextBox 6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SKILLS FRAMEWORK FOR INFOCOMM TECHNOLOGY</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Skills Framework — TSC</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TSC Title</a:t>
            </a:r>
          </a:p>
          <a:p>
            <a:pPr algn="l">
              <a:spcAft>
                <a:spcPts val="300"/>
              </a:spcAft>
            </a:pPr>
            <a:r>
              <a:rPr sz="1200" b="0">
                <a:solidFill>
                  <a:srgbClr val="5B6372"/>
                </a:solidFill>
                <a:latin typeface="Arial"/>
              </a:rPr>
              <a:t>Business Innovation</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TSC Code</a:t>
            </a:r>
          </a:p>
          <a:p>
            <a:pPr algn="l">
              <a:spcAft>
                <a:spcPts val="300"/>
              </a:spcAft>
            </a:pPr>
            <a:r>
              <a:rPr sz="1200" b="0">
                <a:solidFill>
                  <a:srgbClr val="5B6372"/>
                </a:solidFill>
                <a:latin typeface="Arial"/>
              </a:rPr>
              <a:t>ICT-SNA-4003-1.1</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Category</a:t>
            </a:r>
          </a:p>
          <a:p>
            <a:pPr algn="l">
              <a:spcAft>
                <a:spcPts val="300"/>
              </a:spcAft>
            </a:pPr>
            <a:r>
              <a:rPr sz="1200" b="0">
                <a:solidFill>
                  <a:srgbClr val="5B6372"/>
                </a:solidFill>
                <a:latin typeface="Arial"/>
              </a:rPr>
              <a:t>Business and Project Management</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Proficiency</a:t>
            </a:r>
          </a:p>
          <a:p>
            <a:pPr algn="l">
              <a:spcAft>
                <a:spcPts val="300"/>
              </a:spcAft>
            </a:pPr>
            <a:r>
              <a:rPr sz="1200" b="0">
                <a:solidFill>
                  <a:srgbClr val="5B6372"/>
                </a:solidFill>
                <a:latin typeface="Arial"/>
              </a:rPr>
              <a:t>Level 4 — Explore opportunities for business innovation and reform, and lead the implementation of innovative business initiatives.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THIS COURSE DEVELOPS  ·  A1–A5</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TSC Abilities — Assessed by the Written Assessment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85074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85074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501091"/>
          </a:xfrm>
          <a:prstGeom prst="rect">
            <a:avLst/>
          </a:prstGeom>
          <a:noFill/>
        </p:spPr>
        <p:txBody>
          <a:bodyPr wrap="square" anchor="ctr">
            <a:spAutoFit/>
          </a:bodyPr>
          <a:lstStyle/>
          <a:p>
            <a:pPr algn="l">
              <a:spcAft>
                <a:spcPts val="300"/>
              </a:spcAft>
            </a:pPr>
            <a:r>
              <a:rPr sz="1500" b="1">
                <a:solidFill>
                  <a:srgbClr val="161B26"/>
                </a:solidFill>
                <a:latin typeface="Arial"/>
              </a:rPr>
              <a:t>A1</a:t>
            </a:r>
          </a:p>
          <a:p>
            <a:pPr algn="l">
              <a:spcAft>
                <a:spcPts val="300"/>
              </a:spcAft>
            </a:pPr>
            <a:r>
              <a:rPr sz="1100" b="0">
                <a:solidFill>
                  <a:srgbClr val="5B6372"/>
                </a:solidFill>
                <a:latin typeface="Arial"/>
              </a:rPr>
              <a:t>Compare current business model for the organisation with the other business models in the industry</a:t>
            </a:r>
          </a:p>
        </p:txBody>
      </p:sp>
      <p:sp>
        <p:nvSpPr>
          <p:cNvPr id="12" name="Rectangle 11"/>
          <p:cNvSpPr/>
          <p:nvPr/>
        </p:nvSpPr>
        <p:spPr>
          <a:xfrm>
            <a:off x="777240" y="270479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704795"/>
            <a:ext cx="91440" cy="68397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277246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27724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2832811"/>
            <a:ext cx="9427464" cy="501091"/>
          </a:xfrm>
          <a:prstGeom prst="rect">
            <a:avLst/>
          </a:prstGeom>
          <a:noFill/>
        </p:spPr>
        <p:txBody>
          <a:bodyPr wrap="square" anchor="ctr">
            <a:spAutoFit/>
          </a:bodyPr>
          <a:lstStyle/>
          <a:p>
            <a:pPr algn="l">
              <a:spcAft>
                <a:spcPts val="300"/>
              </a:spcAft>
            </a:pPr>
            <a:r>
              <a:rPr sz="1500" b="1">
                <a:solidFill>
                  <a:srgbClr val="161B26"/>
                </a:solidFill>
                <a:latin typeface="Arial"/>
              </a:rPr>
              <a:t>A2</a:t>
            </a:r>
          </a:p>
          <a:p>
            <a:pPr algn="l">
              <a:spcAft>
                <a:spcPts val="300"/>
              </a:spcAft>
            </a:pPr>
            <a:r>
              <a:rPr sz="1100" b="0">
                <a:solidFill>
                  <a:srgbClr val="5B6372"/>
                </a:solidFill>
                <a:latin typeface="Arial"/>
              </a:rPr>
              <a:t>Explore potential opportunities for business innovation to be introduced within the organisation</a:t>
            </a:r>
          </a:p>
        </p:txBody>
      </p:sp>
      <p:sp>
        <p:nvSpPr>
          <p:cNvPr id="17" name="Rectangle 16"/>
          <p:cNvSpPr/>
          <p:nvPr/>
        </p:nvSpPr>
        <p:spPr>
          <a:xfrm>
            <a:off x="777240" y="362651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626510"/>
            <a:ext cx="91440" cy="683971"/>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5"/>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754526"/>
            <a:ext cx="9427464" cy="501091"/>
          </a:xfrm>
          <a:prstGeom prst="rect">
            <a:avLst/>
          </a:prstGeom>
          <a:noFill/>
        </p:spPr>
        <p:txBody>
          <a:bodyPr wrap="square" anchor="ctr">
            <a:spAutoFit/>
          </a:bodyPr>
          <a:lstStyle/>
          <a:p>
            <a:pPr algn="l">
              <a:spcAft>
                <a:spcPts val="300"/>
              </a:spcAft>
            </a:pPr>
            <a:r>
              <a:rPr sz="1500" b="1">
                <a:solidFill>
                  <a:srgbClr val="161B26"/>
                </a:solidFill>
                <a:latin typeface="Arial"/>
              </a:rPr>
              <a:t>A3</a:t>
            </a:r>
          </a:p>
          <a:p>
            <a:pPr algn="l">
              <a:spcAft>
                <a:spcPts val="300"/>
              </a:spcAft>
            </a:pPr>
            <a:r>
              <a:rPr sz="1100" b="0">
                <a:solidFill>
                  <a:srgbClr val="5B6372"/>
                </a:solidFill>
                <a:latin typeface="Arial"/>
              </a:rPr>
              <a:t>Identify ways in which digitisation can be applied to the business</a:t>
            </a:r>
          </a:p>
        </p:txBody>
      </p:sp>
      <p:sp>
        <p:nvSpPr>
          <p:cNvPr id="22" name="Rectangle 21"/>
          <p:cNvSpPr/>
          <p:nvPr/>
        </p:nvSpPr>
        <p:spPr>
          <a:xfrm>
            <a:off x="777240" y="454822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4548225"/>
            <a:ext cx="91440" cy="683971"/>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461589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461589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4676241"/>
            <a:ext cx="9427464" cy="501091"/>
          </a:xfrm>
          <a:prstGeom prst="rect">
            <a:avLst/>
          </a:prstGeom>
          <a:noFill/>
        </p:spPr>
        <p:txBody>
          <a:bodyPr wrap="square" anchor="ctr">
            <a:spAutoFit/>
          </a:bodyPr>
          <a:lstStyle/>
          <a:p>
            <a:pPr algn="l">
              <a:spcAft>
                <a:spcPts val="300"/>
              </a:spcAft>
            </a:pPr>
            <a:r>
              <a:rPr sz="1500" b="1">
                <a:solidFill>
                  <a:srgbClr val="161B26"/>
                </a:solidFill>
                <a:latin typeface="Arial"/>
              </a:rPr>
              <a:t>A4</a:t>
            </a:r>
          </a:p>
          <a:p>
            <a:pPr algn="l">
              <a:spcAft>
                <a:spcPts val="300"/>
              </a:spcAft>
            </a:pPr>
            <a:r>
              <a:rPr sz="1100" b="0">
                <a:solidFill>
                  <a:srgbClr val="5B6372"/>
                </a:solidFill>
                <a:latin typeface="Arial"/>
              </a:rPr>
              <a:t>Conduct feasibility analysis and weigh the costs-benefits of potential business innovation opportunities</a:t>
            </a:r>
          </a:p>
        </p:txBody>
      </p:sp>
      <p:sp>
        <p:nvSpPr>
          <p:cNvPr id="27" name="Rectangle 26"/>
          <p:cNvSpPr/>
          <p:nvPr/>
        </p:nvSpPr>
        <p:spPr>
          <a:xfrm>
            <a:off x="777240" y="546994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46994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53760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53760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5597956"/>
            <a:ext cx="9427464" cy="501091"/>
          </a:xfrm>
          <a:prstGeom prst="rect">
            <a:avLst/>
          </a:prstGeom>
          <a:noFill/>
        </p:spPr>
        <p:txBody>
          <a:bodyPr wrap="square" anchor="ctr">
            <a:spAutoFit/>
          </a:bodyPr>
          <a:lstStyle/>
          <a:p>
            <a:pPr algn="l">
              <a:spcAft>
                <a:spcPts val="300"/>
              </a:spcAft>
            </a:pPr>
            <a:r>
              <a:rPr sz="1500" b="1">
                <a:solidFill>
                  <a:srgbClr val="161B26"/>
                </a:solidFill>
                <a:latin typeface="Arial"/>
              </a:rPr>
              <a:t>A5</a:t>
            </a:r>
          </a:p>
          <a:p>
            <a:pPr algn="l">
              <a:spcAft>
                <a:spcPts val="300"/>
              </a:spcAft>
            </a:pPr>
            <a:r>
              <a:rPr sz="1100" b="0">
                <a:solidFill>
                  <a:srgbClr val="5B6372"/>
                </a:solidFill>
                <a:latin typeface="Arial"/>
              </a:rPr>
              <a:t>Implement business innovation processes in line with a defined action plan</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WHAT THIS COURSE DEVELOPS  ·  K1–K4</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TSC Knowledge — Assessed by Oral Questioning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96596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731520"/>
          </a:xfrm>
          <a:prstGeom prst="rect">
            <a:avLst/>
          </a:prstGeom>
          <a:noFill/>
        </p:spPr>
        <p:txBody>
          <a:bodyPr wrap="square" anchor="ctr">
            <a:spAutoFit/>
          </a:bodyPr>
          <a:lstStyle/>
          <a:p>
            <a:pPr algn="l">
              <a:spcAft>
                <a:spcPts val="300"/>
              </a:spcAft>
            </a:pPr>
            <a:r>
              <a:rPr sz="1600" b="1">
                <a:solidFill>
                  <a:srgbClr val="161B26"/>
                </a:solidFill>
                <a:latin typeface="Arial"/>
              </a:rPr>
              <a:t>K1</a:t>
            </a:r>
          </a:p>
          <a:p>
            <a:pPr algn="l">
              <a:spcAft>
                <a:spcPts val="300"/>
              </a:spcAft>
            </a:pPr>
            <a:r>
              <a:rPr sz="1200" b="0">
                <a:solidFill>
                  <a:srgbClr val="5B6372"/>
                </a:solidFill>
                <a:latin typeface="Arial"/>
              </a:rPr>
              <a:t>New and emerging innovative business processes / models deployed in the industry</a:t>
            </a:r>
          </a:p>
        </p:txBody>
      </p:sp>
      <p:sp>
        <p:nvSpPr>
          <p:cNvPr id="12" name="Rectangle 11"/>
          <p:cNvSpPr/>
          <p:nvPr/>
        </p:nvSpPr>
        <p:spPr>
          <a:xfrm>
            <a:off x="777240" y="2935224"/>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935224"/>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31181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3063240"/>
            <a:ext cx="9427464" cy="731520"/>
          </a:xfrm>
          <a:prstGeom prst="rect">
            <a:avLst/>
          </a:prstGeom>
          <a:noFill/>
        </p:spPr>
        <p:txBody>
          <a:bodyPr wrap="square" anchor="ctr">
            <a:spAutoFit/>
          </a:bodyPr>
          <a:lstStyle/>
          <a:p>
            <a:pPr algn="l">
              <a:spcAft>
                <a:spcPts val="300"/>
              </a:spcAft>
            </a:pPr>
            <a:r>
              <a:rPr sz="1600" b="1">
                <a:solidFill>
                  <a:srgbClr val="161B26"/>
                </a:solidFill>
                <a:latin typeface="Arial"/>
              </a:rPr>
              <a:t>K2</a:t>
            </a:r>
          </a:p>
          <a:p>
            <a:pPr algn="l">
              <a:spcAft>
                <a:spcPts val="300"/>
              </a:spcAft>
            </a:pPr>
            <a:r>
              <a:rPr sz="1200" b="0">
                <a:solidFill>
                  <a:srgbClr val="5B6372"/>
                </a:solidFill>
                <a:latin typeface="Arial"/>
              </a:rPr>
              <a:t>Concept and principles of digitisation</a:t>
            </a:r>
          </a:p>
        </p:txBody>
      </p:sp>
      <p:sp>
        <p:nvSpPr>
          <p:cNvPr id="17" name="Rectangle 16"/>
          <p:cNvSpPr/>
          <p:nvPr/>
        </p:nvSpPr>
        <p:spPr>
          <a:xfrm>
            <a:off x="777240" y="4087368"/>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2702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9427464" cy="731520"/>
          </a:xfrm>
          <a:prstGeom prst="rect">
            <a:avLst/>
          </a:prstGeom>
          <a:noFill/>
        </p:spPr>
        <p:txBody>
          <a:bodyPr wrap="square" anchor="ctr">
            <a:spAutoFit/>
          </a:bodyPr>
          <a:lstStyle/>
          <a:p>
            <a:pPr algn="l">
              <a:spcAft>
                <a:spcPts val="300"/>
              </a:spcAft>
            </a:pPr>
            <a:r>
              <a:rPr sz="1600" b="1">
                <a:solidFill>
                  <a:srgbClr val="161B26"/>
                </a:solidFill>
                <a:latin typeface="Arial"/>
              </a:rPr>
              <a:t>K3</a:t>
            </a:r>
          </a:p>
          <a:p>
            <a:pPr algn="l">
              <a:spcAft>
                <a:spcPts val="300"/>
              </a:spcAft>
            </a:pPr>
            <a:r>
              <a:rPr sz="1200" b="0">
                <a:solidFill>
                  <a:srgbClr val="5B6372"/>
                </a:solidFill>
                <a:latin typeface="Arial"/>
              </a:rPr>
              <a:t>Factors to consider to assess the viability of business innovation for a given organisation context</a:t>
            </a:r>
          </a:p>
        </p:txBody>
      </p:sp>
      <p:sp>
        <p:nvSpPr>
          <p:cNvPr id="22" name="Rectangle 21"/>
          <p:cNvSpPr/>
          <p:nvPr/>
        </p:nvSpPr>
        <p:spPr>
          <a:xfrm>
            <a:off x="777240" y="5239512"/>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5422392"/>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5367528"/>
            <a:ext cx="9427464" cy="731520"/>
          </a:xfrm>
          <a:prstGeom prst="rect">
            <a:avLst/>
          </a:prstGeom>
          <a:noFill/>
        </p:spPr>
        <p:txBody>
          <a:bodyPr wrap="square" anchor="ctr">
            <a:spAutoFit/>
          </a:bodyPr>
          <a:lstStyle/>
          <a:p>
            <a:pPr algn="l">
              <a:spcAft>
                <a:spcPts val="300"/>
              </a:spcAft>
            </a:pPr>
            <a:r>
              <a:rPr sz="1600" b="1">
                <a:solidFill>
                  <a:srgbClr val="161B26"/>
                </a:solidFill>
                <a:latin typeface="Arial"/>
              </a:rPr>
              <a:t>K4</a:t>
            </a:r>
          </a:p>
          <a:p>
            <a:pPr algn="l">
              <a:spcAft>
                <a:spcPts val="300"/>
              </a:spcAft>
            </a:pPr>
            <a:r>
              <a:rPr sz="1200" b="0">
                <a:solidFill>
                  <a:srgbClr val="5B6372"/>
                </a:solidFill>
                <a:latin typeface="Arial"/>
              </a:rPr>
              <a:t>Success factors for implementation of business innovation</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SCHEDULE · 9:30am – 6:30pm</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Lesson Plan — 1 Day, 8 hours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Morning  ·  9:30am – 12:30pm</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Afternoon  ·  1:30pm – 6:30pm</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400" b="0">
                <a:solidFill>
                  <a:srgbClr val="5B6372"/>
                </a:solidFill>
                <a:latin typeface="Arial"/>
              </a:rPr>
              <a:t>–  Digital Attendance (AM) · Introductions</a:t>
            </a:r>
          </a:p>
          <a:p>
            <a:pPr>
              <a:spcAft>
                <a:spcPts val="1000"/>
              </a:spcAft>
            </a:pPr>
            <a:r>
              <a:rPr sz="1400" b="0">
                <a:solidFill>
                  <a:srgbClr val="5B6372"/>
                </a:solidFill>
                <a:latin typeface="Arial"/>
              </a:rPr>
              <a:t>–  Topic 1: Overview of IoT  (LO1)</a:t>
            </a:r>
          </a:p>
          <a:p>
            <a:pPr>
              <a:spcAft>
                <a:spcPts val="1000"/>
              </a:spcAft>
            </a:pPr>
            <a:r>
              <a:rPr sz="1400" b="0">
                <a:solidFill>
                  <a:srgbClr val="5B6372"/>
                </a:solidFill>
                <a:latin typeface="Arial"/>
              </a:rPr>
              <a:t>–  Topic 2: Potential Opportunities of IoT  (LO2)</a:t>
            </a:r>
          </a:p>
          <a:p>
            <a:pPr>
              <a:spcAft>
                <a:spcPts val="1000"/>
              </a:spcAft>
            </a:pPr>
            <a:r>
              <a:rPr sz="1400" b="0">
                <a:solidFill>
                  <a:srgbClr val="5B6372"/>
                </a:solidFill>
                <a:latin typeface="Arial"/>
              </a:rPr>
              <a:t>–  Topic 3: IoT Technology — concepts  (LO3)</a:t>
            </a:r>
          </a:p>
          <a:p>
            <a:pPr>
              <a:spcAft>
                <a:spcPts val="1000"/>
              </a:spcAft>
            </a:pPr>
            <a:r>
              <a:rPr sz="1400" b="0">
                <a:solidFill>
                  <a:srgbClr val="5B6372"/>
                </a:solidFill>
                <a:latin typeface="Arial"/>
              </a:rPr>
              <a:t>–  Lunch Break — 1 hour</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400" b="0">
                <a:solidFill>
                  <a:srgbClr val="5B6372"/>
                </a:solidFill>
                <a:latin typeface="Arial"/>
              </a:rPr>
              <a:t>–  Digital Attendance (PM)</a:t>
            </a:r>
          </a:p>
          <a:p>
            <a:pPr>
              <a:spcAft>
                <a:spcPts val="1000"/>
              </a:spcAft>
            </a:pPr>
            <a:r>
              <a:rPr sz="1400" b="0">
                <a:solidFill>
                  <a:srgbClr val="5B6372"/>
                </a:solidFill>
                <a:latin typeface="Arial"/>
              </a:rPr>
              <a:t>–  Topic 3: Hands-On Practical — Labs 1–4 (90 min)</a:t>
            </a:r>
          </a:p>
          <a:p>
            <a:pPr>
              <a:spcAft>
                <a:spcPts val="1000"/>
              </a:spcAft>
            </a:pPr>
            <a:r>
              <a:rPr sz="1400" b="0">
                <a:solidFill>
                  <a:srgbClr val="5B6372"/>
                </a:solidFill>
                <a:latin typeface="Arial"/>
              </a:rPr>
              <a:t>–  Topic 4: IoT Adoption  (LO4)</a:t>
            </a:r>
          </a:p>
          <a:p>
            <a:pPr>
              <a:spcAft>
                <a:spcPts val="1000"/>
              </a:spcAft>
            </a:pPr>
            <a:r>
              <a:rPr sz="1400" b="0">
                <a:solidFill>
                  <a:srgbClr val="5B6372"/>
                </a:solidFill>
                <a:latin typeface="Arial"/>
              </a:rPr>
              <a:t>–  Topic 5: IoT Implementation  (LO5)</a:t>
            </a:r>
          </a:p>
          <a:p>
            <a:pPr>
              <a:spcAft>
                <a:spcPts val="1000"/>
              </a:spcAft>
            </a:pPr>
            <a:r>
              <a:rPr sz="1400" b="0">
                <a:solidFill>
                  <a:srgbClr val="5B6372"/>
                </a:solidFill>
                <a:latin typeface="Arial"/>
              </a:rPr>
              <a:t>–  TRAQOM Survey · Digital Attendance (Assessment)</a:t>
            </a:r>
          </a:p>
          <a:p>
            <a:pPr>
              <a:spcAft>
                <a:spcPts val="1000"/>
              </a:spcAft>
            </a:pPr>
            <a:r>
              <a:rPr sz="1400" b="0">
                <a:solidFill>
                  <a:srgbClr val="5B6372"/>
                </a:solidFill>
                <a:latin typeface="Arial"/>
              </a:rPr>
              <a:t>–  Final Assessment — WA (75 min) + OQ (15 min)</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YOU'LL ACHIEVE</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Learning Outcomes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85074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85074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501091"/>
          </a:xfrm>
          <a:prstGeom prst="rect">
            <a:avLst/>
          </a:prstGeom>
          <a:noFill/>
        </p:spPr>
        <p:txBody>
          <a:bodyPr wrap="square" anchor="ctr">
            <a:spAutoFit/>
          </a:bodyPr>
          <a:lstStyle/>
          <a:p>
            <a:pPr algn="l">
              <a:spcAft>
                <a:spcPts val="300"/>
              </a:spcAft>
            </a:pPr>
            <a:r>
              <a:rPr sz="1600" b="1">
                <a:solidFill>
                  <a:srgbClr val="161B26"/>
                </a:solidFill>
                <a:latin typeface="Arial"/>
              </a:rPr>
              <a:t>LO1 · Compare business models</a:t>
            </a:r>
          </a:p>
          <a:p>
            <a:pPr algn="l">
              <a:spcAft>
                <a:spcPts val="300"/>
              </a:spcAft>
            </a:pPr>
            <a:r>
              <a:rPr sz="1200" b="0">
                <a:solidFill>
                  <a:srgbClr val="5B6372"/>
                </a:solidFill>
                <a:latin typeface="Arial"/>
              </a:rPr>
              <a:t>Compare your current business model with emerging IoT-enabled models. (A1, K1)</a:t>
            </a:r>
          </a:p>
        </p:txBody>
      </p:sp>
      <p:sp>
        <p:nvSpPr>
          <p:cNvPr id="12" name="Rectangle 11"/>
          <p:cNvSpPr/>
          <p:nvPr/>
        </p:nvSpPr>
        <p:spPr>
          <a:xfrm>
            <a:off x="777240" y="270479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704795"/>
            <a:ext cx="91440" cy="68397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277246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27724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2832811"/>
            <a:ext cx="9427464" cy="501091"/>
          </a:xfrm>
          <a:prstGeom prst="rect">
            <a:avLst/>
          </a:prstGeom>
          <a:noFill/>
        </p:spPr>
        <p:txBody>
          <a:bodyPr wrap="square" anchor="ctr">
            <a:spAutoFit/>
          </a:bodyPr>
          <a:lstStyle/>
          <a:p>
            <a:pPr algn="l">
              <a:spcAft>
                <a:spcPts val="300"/>
              </a:spcAft>
            </a:pPr>
            <a:r>
              <a:rPr sz="1600" b="1">
                <a:solidFill>
                  <a:srgbClr val="161B26"/>
                </a:solidFill>
                <a:latin typeface="Arial"/>
              </a:rPr>
              <a:t>LO2 · Explore opportunities</a:t>
            </a:r>
          </a:p>
          <a:p>
            <a:pPr algn="l">
              <a:spcAft>
                <a:spcPts val="300"/>
              </a:spcAft>
            </a:pPr>
            <a:r>
              <a:rPr sz="1200" b="0">
                <a:solidFill>
                  <a:srgbClr val="5B6372"/>
                </a:solidFill>
                <a:latin typeface="Arial"/>
              </a:rPr>
              <a:t>Explore potential opportunities for business innovation using IoT. (A2, K1)</a:t>
            </a:r>
          </a:p>
        </p:txBody>
      </p:sp>
      <p:sp>
        <p:nvSpPr>
          <p:cNvPr id="17" name="Rectangle 16"/>
          <p:cNvSpPr/>
          <p:nvPr/>
        </p:nvSpPr>
        <p:spPr>
          <a:xfrm>
            <a:off x="777240" y="362651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626510"/>
            <a:ext cx="91440" cy="683971"/>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5"/>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754526"/>
            <a:ext cx="9427464" cy="501091"/>
          </a:xfrm>
          <a:prstGeom prst="rect">
            <a:avLst/>
          </a:prstGeom>
          <a:noFill/>
        </p:spPr>
        <p:txBody>
          <a:bodyPr wrap="square" anchor="ctr">
            <a:spAutoFit/>
          </a:bodyPr>
          <a:lstStyle/>
          <a:p>
            <a:pPr algn="l">
              <a:spcAft>
                <a:spcPts val="300"/>
              </a:spcAft>
            </a:pPr>
            <a:r>
              <a:rPr sz="1600" b="1">
                <a:solidFill>
                  <a:srgbClr val="161B26"/>
                </a:solidFill>
                <a:latin typeface="Arial"/>
              </a:rPr>
              <a:t>LO3 · Identify how IoT works</a:t>
            </a:r>
          </a:p>
          <a:p>
            <a:pPr algn="l">
              <a:spcAft>
                <a:spcPts val="300"/>
              </a:spcAft>
            </a:pPr>
            <a:r>
              <a:rPr sz="1200" b="0">
                <a:solidFill>
                  <a:srgbClr val="5B6372"/>
                </a:solidFill>
                <a:latin typeface="Arial"/>
              </a:rPr>
              <a:t>Identify how IoT works and how digitisation applies to the business. (A3, K2)</a:t>
            </a:r>
          </a:p>
        </p:txBody>
      </p:sp>
      <p:sp>
        <p:nvSpPr>
          <p:cNvPr id="22" name="Rectangle 21"/>
          <p:cNvSpPr/>
          <p:nvPr/>
        </p:nvSpPr>
        <p:spPr>
          <a:xfrm>
            <a:off x="777240" y="454822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4548225"/>
            <a:ext cx="91440" cy="683971"/>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461589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461589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4676241"/>
            <a:ext cx="9427464" cy="501091"/>
          </a:xfrm>
          <a:prstGeom prst="rect">
            <a:avLst/>
          </a:prstGeom>
          <a:noFill/>
        </p:spPr>
        <p:txBody>
          <a:bodyPr wrap="square" anchor="ctr">
            <a:spAutoFit/>
          </a:bodyPr>
          <a:lstStyle/>
          <a:p>
            <a:pPr algn="l">
              <a:spcAft>
                <a:spcPts val="300"/>
              </a:spcAft>
            </a:pPr>
            <a:r>
              <a:rPr sz="1600" b="1">
                <a:solidFill>
                  <a:srgbClr val="161B26"/>
                </a:solidFill>
                <a:latin typeface="Arial"/>
              </a:rPr>
              <a:t>LO4 · Weigh costs &amp; benefits</a:t>
            </a:r>
          </a:p>
          <a:p>
            <a:pPr algn="l">
              <a:spcAft>
                <a:spcPts val="300"/>
              </a:spcAft>
            </a:pPr>
            <a:r>
              <a:rPr sz="1200" b="0">
                <a:solidFill>
                  <a:srgbClr val="5B6372"/>
                </a:solidFill>
                <a:latin typeface="Arial"/>
              </a:rPr>
              <a:t>Conduct a feasibility analysis and weigh the costs and benefits of IoT. (A4, K3)</a:t>
            </a:r>
          </a:p>
        </p:txBody>
      </p:sp>
      <p:sp>
        <p:nvSpPr>
          <p:cNvPr id="27" name="Rectangle 26"/>
          <p:cNvSpPr/>
          <p:nvPr/>
        </p:nvSpPr>
        <p:spPr>
          <a:xfrm>
            <a:off x="777240" y="546994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46994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53760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53760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5597956"/>
            <a:ext cx="9427464" cy="501091"/>
          </a:xfrm>
          <a:prstGeom prst="rect">
            <a:avLst/>
          </a:prstGeom>
          <a:noFill/>
        </p:spPr>
        <p:txBody>
          <a:bodyPr wrap="square" anchor="ctr">
            <a:spAutoFit/>
          </a:bodyPr>
          <a:lstStyle/>
          <a:p>
            <a:pPr algn="l">
              <a:spcAft>
                <a:spcPts val="300"/>
              </a:spcAft>
            </a:pPr>
            <a:r>
              <a:rPr sz="1600" b="1">
                <a:solidFill>
                  <a:srgbClr val="161B26"/>
                </a:solidFill>
                <a:latin typeface="Arial"/>
              </a:rPr>
              <a:t>LO5 · Implement with a plan</a:t>
            </a:r>
          </a:p>
          <a:p>
            <a:pPr algn="l">
              <a:spcAft>
                <a:spcPts val="300"/>
              </a:spcAft>
            </a:pPr>
            <a:r>
              <a:rPr sz="1200" b="0">
                <a:solidFill>
                  <a:srgbClr val="5B6372"/>
                </a:solidFill>
                <a:latin typeface="Arial"/>
              </a:rPr>
              <a:t>Implement business innovation processes with IoT to a defined action plan. (A5, K4)</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FIVE TOPICS · ONE DAY</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Course Outline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85074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85074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501091"/>
          </a:xfrm>
          <a:prstGeom prst="rect">
            <a:avLst/>
          </a:prstGeom>
          <a:noFill/>
        </p:spPr>
        <p:txBody>
          <a:bodyPr wrap="square" anchor="ctr">
            <a:spAutoFit/>
          </a:bodyPr>
          <a:lstStyle/>
          <a:p>
            <a:pPr algn="l">
              <a:spcAft>
                <a:spcPts val="300"/>
              </a:spcAft>
            </a:pPr>
            <a:r>
              <a:rPr sz="1600" b="1">
                <a:solidFill>
                  <a:srgbClr val="161B26"/>
                </a:solidFill>
                <a:latin typeface="Arial"/>
              </a:rPr>
              <a:t>Topic 1 — Overview of IoT</a:t>
            </a:r>
          </a:p>
          <a:p>
            <a:pPr algn="l">
              <a:spcAft>
                <a:spcPts val="300"/>
              </a:spcAft>
            </a:pPr>
            <a:r>
              <a:rPr sz="1200" b="0">
                <a:solidFill>
                  <a:srgbClr val="5B6372"/>
                </a:solidFill>
                <a:latin typeface="Arial"/>
              </a:rPr>
              <a:t>Industry 4.0, IoT business models, sensors and actuators, wireless technologies.</a:t>
            </a:r>
          </a:p>
        </p:txBody>
      </p:sp>
      <p:sp>
        <p:nvSpPr>
          <p:cNvPr id="12" name="Rectangle 11"/>
          <p:cNvSpPr/>
          <p:nvPr/>
        </p:nvSpPr>
        <p:spPr>
          <a:xfrm>
            <a:off x="777240" y="270479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704795"/>
            <a:ext cx="91440" cy="68397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277246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27724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2832811"/>
            <a:ext cx="9427464" cy="501091"/>
          </a:xfrm>
          <a:prstGeom prst="rect">
            <a:avLst/>
          </a:prstGeom>
          <a:noFill/>
        </p:spPr>
        <p:txBody>
          <a:bodyPr wrap="square" anchor="ctr">
            <a:spAutoFit/>
          </a:bodyPr>
          <a:lstStyle/>
          <a:p>
            <a:pPr algn="l">
              <a:spcAft>
                <a:spcPts val="300"/>
              </a:spcAft>
            </a:pPr>
            <a:r>
              <a:rPr sz="1600" b="1">
                <a:solidFill>
                  <a:srgbClr val="161B26"/>
                </a:solidFill>
                <a:latin typeface="Arial"/>
              </a:rPr>
              <a:t>Topic 2 — Potential Opportunities</a:t>
            </a:r>
          </a:p>
          <a:p>
            <a:pPr algn="l">
              <a:spcAft>
                <a:spcPts val="300"/>
              </a:spcAft>
            </a:pPr>
            <a:r>
              <a:rPr sz="1200" b="0">
                <a:solidFill>
                  <a:srgbClr val="5B6372"/>
                </a:solidFill>
                <a:latin typeface="Arial"/>
              </a:rPr>
              <a:t>Agriculture, autonomous vehicles, logistics, smart buildings, healthcare, drones.</a:t>
            </a:r>
          </a:p>
        </p:txBody>
      </p:sp>
      <p:sp>
        <p:nvSpPr>
          <p:cNvPr id="17" name="Rectangle 16"/>
          <p:cNvSpPr/>
          <p:nvPr/>
        </p:nvSpPr>
        <p:spPr>
          <a:xfrm>
            <a:off x="777240" y="362651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626510"/>
            <a:ext cx="91440" cy="683971"/>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5"/>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754526"/>
            <a:ext cx="9427464" cy="501091"/>
          </a:xfrm>
          <a:prstGeom prst="rect">
            <a:avLst/>
          </a:prstGeom>
          <a:noFill/>
        </p:spPr>
        <p:txBody>
          <a:bodyPr wrap="square" anchor="ctr">
            <a:spAutoFit/>
          </a:bodyPr>
          <a:lstStyle/>
          <a:p>
            <a:pPr algn="l">
              <a:spcAft>
                <a:spcPts val="300"/>
              </a:spcAft>
            </a:pPr>
            <a:r>
              <a:rPr sz="1600" b="1">
                <a:solidFill>
                  <a:srgbClr val="161B26"/>
                </a:solidFill>
                <a:latin typeface="Arial"/>
              </a:rPr>
              <a:t>Topic 3 — IoT Technology</a:t>
            </a:r>
          </a:p>
          <a:p>
            <a:pPr algn="l">
              <a:spcAft>
                <a:spcPts val="300"/>
              </a:spcAft>
            </a:pPr>
            <a:r>
              <a:rPr sz="1200" b="0">
                <a:solidFill>
                  <a:srgbClr val="5B6372"/>
                </a:solidFill>
                <a:latin typeface="Arial"/>
              </a:rPr>
              <a:t>Cloud platforms, posting data, remote control, analytics, automation  +  4 hands-on labs.</a:t>
            </a:r>
          </a:p>
        </p:txBody>
      </p:sp>
      <p:sp>
        <p:nvSpPr>
          <p:cNvPr id="22" name="Rectangle 21"/>
          <p:cNvSpPr/>
          <p:nvPr/>
        </p:nvSpPr>
        <p:spPr>
          <a:xfrm>
            <a:off x="777240" y="454822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4548225"/>
            <a:ext cx="91440" cy="683971"/>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461589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461589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4676241"/>
            <a:ext cx="9427464" cy="501091"/>
          </a:xfrm>
          <a:prstGeom prst="rect">
            <a:avLst/>
          </a:prstGeom>
          <a:noFill/>
        </p:spPr>
        <p:txBody>
          <a:bodyPr wrap="square" anchor="ctr">
            <a:spAutoFit/>
          </a:bodyPr>
          <a:lstStyle/>
          <a:p>
            <a:pPr algn="l">
              <a:spcAft>
                <a:spcPts val="300"/>
              </a:spcAft>
            </a:pPr>
            <a:r>
              <a:rPr sz="1600" b="1">
                <a:solidFill>
                  <a:srgbClr val="161B26"/>
                </a:solidFill>
                <a:latin typeface="Arial"/>
              </a:rPr>
              <a:t>Topic 4 — IoT Adoption</a:t>
            </a:r>
          </a:p>
          <a:p>
            <a:pPr algn="l">
              <a:spcAft>
                <a:spcPts val="300"/>
              </a:spcAft>
            </a:pPr>
            <a:r>
              <a:rPr sz="1200" b="0">
                <a:solidFill>
                  <a:srgbClr val="5B6372"/>
                </a:solidFill>
                <a:latin typeface="Arial"/>
              </a:rPr>
              <a:t>Adoption challenges, IoT security, edge computing, cost-benefit analysis.</a:t>
            </a:r>
          </a:p>
        </p:txBody>
      </p:sp>
      <p:sp>
        <p:nvSpPr>
          <p:cNvPr id="27" name="Rectangle 26"/>
          <p:cNvSpPr/>
          <p:nvPr/>
        </p:nvSpPr>
        <p:spPr>
          <a:xfrm>
            <a:off x="777240" y="546994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46994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53760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53760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5597956"/>
            <a:ext cx="9427464" cy="501091"/>
          </a:xfrm>
          <a:prstGeom prst="rect">
            <a:avLst/>
          </a:prstGeom>
          <a:noFill/>
        </p:spPr>
        <p:txBody>
          <a:bodyPr wrap="square" anchor="ctr">
            <a:spAutoFit/>
          </a:bodyPr>
          <a:lstStyle/>
          <a:p>
            <a:pPr algn="l">
              <a:spcAft>
                <a:spcPts val="300"/>
              </a:spcAft>
            </a:pPr>
            <a:r>
              <a:rPr sz="1600" b="1">
                <a:solidFill>
                  <a:srgbClr val="161B26"/>
                </a:solidFill>
                <a:latin typeface="Arial"/>
              </a:rPr>
              <a:t>Topic 5 — IoT Implementation</a:t>
            </a:r>
          </a:p>
          <a:p>
            <a:pPr algn="l">
              <a:spcAft>
                <a:spcPts val="300"/>
              </a:spcAft>
            </a:pPr>
            <a:r>
              <a:rPr sz="1200" b="0">
                <a:solidFill>
                  <a:srgbClr val="5B6372"/>
                </a:solidFill>
                <a:latin typeface="Arial"/>
              </a:rPr>
              <a:t>Success factors, design thinking, a 7-step implementation action plan.</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BEFORE YOU BEGIN</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Briefing for Assessment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Place phones and other materials under the table or on the floor.</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No photos or recording of assessment scripts.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10712"/>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No discussion during the assessment.</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10712"/>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Use a black or blue pen for hard-copy assessments.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46904"/>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No liquid paper or correction tape.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46904"/>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Scripts are collected when the time is up.</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ASSESSMENT · 90 MINUTES TOTAL</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Final Assessment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WA (Q&amp;A) — 75 min</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Short-answer questions</a:t>
            </a:r>
          </a:p>
          <a:p>
            <a:pPr>
              <a:spcAft>
                <a:spcPts val="900"/>
              </a:spcAft>
            </a:pPr>
            <a:r>
              <a:rPr sz="1400" b="0">
                <a:solidFill>
                  <a:srgbClr val="161B26"/>
                </a:solidFill>
                <a:latin typeface="Arial"/>
              </a:rPr>
              <a:t>•  Assesses abilities A1–A5</a:t>
            </a:r>
          </a:p>
          <a:p>
            <a:pPr>
              <a:spcAft>
                <a:spcPts val="900"/>
              </a:spcAft>
            </a:pPr>
            <a:r>
              <a:rPr sz="1400" b="0">
                <a:solidFill>
                  <a:srgbClr val="161B26"/>
                </a:solidFill>
                <a:latin typeface="Arial"/>
              </a:rPr>
              <a:t>•  15 minutes per ability</a:t>
            </a:r>
          </a:p>
          <a:p>
            <a:pPr>
              <a:spcAft>
                <a:spcPts val="900"/>
              </a:spcAft>
            </a:pPr>
            <a:r>
              <a:rPr sz="1400" b="0">
                <a:solidFill>
                  <a:srgbClr val="161B26"/>
                </a:solidFill>
                <a:latin typeface="Arial"/>
              </a:rPr>
              <a:t>•  Open book</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OQ — 15 min</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Oral questioning</a:t>
            </a:r>
          </a:p>
          <a:p>
            <a:pPr>
              <a:spcAft>
                <a:spcPts val="900"/>
              </a:spcAft>
            </a:pPr>
            <a:r>
              <a:rPr sz="1400" b="0">
                <a:solidFill>
                  <a:srgbClr val="161B26"/>
                </a:solidFill>
                <a:latin typeface="Arial"/>
              </a:rPr>
              <a:t>•  Assesses knowledge K1–K4</a:t>
            </a:r>
          </a:p>
          <a:p>
            <a:pPr>
              <a:spcAft>
                <a:spcPts val="900"/>
              </a:spcAft>
            </a:pPr>
            <a:r>
              <a:rPr sz="1400" b="0">
                <a:solidFill>
                  <a:srgbClr val="161B26"/>
                </a:solidFill>
                <a:latin typeface="Arial"/>
              </a:rPr>
              <a:t>•  1:1 with the assessor</a:t>
            </a:r>
          </a:p>
          <a:p>
            <a:pPr>
              <a:spcAft>
                <a:spcPts val="900"/>
              </a:spcAft>
            </a:pPr>
            <a:r>
              <a:rPr sz="1400" b="0">
                <a:solidFill>
                  <a:srgbClr val="161B26"/>
                </a:solidFill>
                <a:latin typeface="Arial"/>
              </a:rPr>
              <a:t>•  Open book</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What you may use</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The course slides</a:t>
            </a:r>
          </a:p>
          <a:p>
            <a:pPr>
              <a:spcAft>
                <a:spcPts val="900"/>
              </a:spcAft>
            </a:pPr>
            <a:r>
              <a:rPr sz="1400" b="0">
                <a:solidFill>
                  <a:srgbClr val="161B26"/>
                </a:solidFill>
                <a:latin typeface="Arial"/>
              </a:rPr>
              <a:t>•  Your Learner Guide</a:t>
            </a:r>
          </a:p>
          <a:p>
            <a:pPr>
              <a:spcAft>
                <a:spcPts val="900"/>
              </a:spcAft>
            </a:pPr>
            <a:r>
              <a:rPr sz="1400" b="0">
                <a:solidFill>
                  <a:srgbClr val="161B26"/>
                </a:solidFill>
                <a:latin typeface="Arial"/>
              </a:rPr>
              <a:t>•  Approved materials only</a:t>
            </a:r>
          </a:p>
          <a:p>
            <a:pPr>
              <a:spcAft>
                <a:spcPts val="900"/>
              </a:spcAft>
            </a:pPr>
            <a:r>
              <a:rPr sz="1400" b="0">
                <a:solidFill>
                  <a:srgbClr val="161B26"/>
                </a:solidFill>
                <a:latin typeface="Arial"/>
              </a:rPr>
              <a:t>•  An appeal process is available</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ON ASSESSMENT DAY</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Assessment Flow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1424"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142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TRAQOM survey — scan the QR code on the LMS</a:t>
            </a:r>
          </a:p>
        </p:txBody>
      </p:sp>
      <p:sp>
        <p:nvSpPr>
          <p:cNvPr id="12" name="TextBox 11"/>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3" name="Rectangle 12"/>
          <p:cNvSpPr/>
          <p:nvPr/>
        </p:nvSpPr>
        <p:spPr>
          <a:xfrm>
            <a:off x="2966313"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66313"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30497"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30497"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3112617"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Assessment digital attendance — scan the SSG QR</a:t>
            </a:r>
          </a:p>
        </p:txBody>
      </p:sp>
      <p:sp>
        <p:nvSpPr>
          <p:cNvPr id="18" name="TextBox 17"/>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9" name="Rectangle 18"/>
          <p:cNvSpPr/>
          <p:nvPr/>
        </p:nvSpPr>
        <p:spPr>
          <a:xfrm>
            <a:off x="5155386"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55386"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19570"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1957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5301690"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Sit the WA (Q&amp;A) — 75 min, open book</a:t>
            </a:r>
          </a:p>
        </p:txBody>
      </p:sp>
      <p:sp>
        <p:nvSpPr>
          <p:cNvPr id="24" name="TextBox 23"/>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25" name="Rectangle 24"/>
          <p:cNvSpPr/>
          <p:nvPr/>
        </p:nvSpPr>
        <p:spPr>
          <a:xfrm>
            <a:off x="7344459"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4459"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8643"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86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7490763"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Oral Questioning — 15 min, 1:1 with the assessor</a:t>
            </a:r>
          </a:p>
        </p:txBody>
      </p:sp>
      <p:sp>
        <p:nvSpPr>
          <p:cNvPr id="30" name="TextBox 29"/>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31" name="Rectangle 30"/>
          <p:cNvSpPr/>
          <p:nvPr/>
        </p:nvSpPr>
        <p:spPr>
          <a:xfrm>
            <a:off x="9533532"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33532"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97716"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9771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9679836"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Sign the Assessment Summary Record</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01</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Overview of Internet of Things (IoT)</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Industry 4.0 · IoT business models · Sensors &amp; actuators · Wireless technologies</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01</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F6FEB"/>
                </a:solidFill>
                <a:latin typeface="Arial"/>
              </a:rPr>
              <a:t>WHY NOW</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We are in the 4th Industrial Revolution.</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AI + IoT + 5G + Cloud + Robotics are converging — physical assets now report their own state in real time.</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LO1 · A1, K1 · 60 min</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Key Concepts — Overview of Internet of Things (IoT)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Industry 4.0</a:t>
            </a:r>
          </a:p>
          <a:p>
            <a:pPr algn="l">
              <a:spcAft>
                <a:spcPts val="300"/>
              </a:spcAft>
            </a:pPr>
            <a:r>
              <a:rPr sz="1100" b="0">
                <a:solidFill>
                  <a:srgbClr val="5B6372"/>
                </a:solidFill>
                <a:latin typeface="Arial"/>
              </a:rPr>
              <a:t>IoT, AI, 5G, cloud and robotics converge so physical assets report their own state in real time.</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What IoT is</a:t>
            </a:r>
          </a:p>
          <a:p>
            <a:pPr algn="l">
              <a:spcAft>
                <a:spcPts val="300"/>
              </a:spcAft>
            </a:pPr>
            <a:r>
              <a:rPr sz="1100" b="0">
                <a:solidFill>
                  <a:srgbClr val="5B6372"/>
                </a:solidFill>
                <a:latin typeface="Arial"/>
              </a:rPr>
              <a:t>Connecting everyday objects to the internet to cut cost, lift productivity and open new revenue.</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The four building blocks</a:t>
            </a:r>
          </a:p>
          <a:p>
            <a:pPr algn="l">
              <a:spcAft>
                <a:spcPts val="300"/>
              </a:spcAft>
            </a:pPr>
            <a:r>
              <a:rPr sz="1100" b="0">
                <a:solidFill>
                  <a:srgbClr val="5B6372"/>
                </a:solidFill>
                <a:latin typeface="Arial"/>
              </a:rPr>
              <a:t>Sensors/devices capture data, connectivity moves it, cloud processes it, a UI acts on it.</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Why now</a:t>
            </a:r>
          </a:p>
          <a:p>
            <a:pPr algn="l">
              <a:spcAft>
                <a:spcPts val="300"/>
              </a:spcAft>
            </a:pPr>
            <a:r>
              <a:rPr sz="1100" b="0">
                <a:solidFill>
                  <a:srgbClr val="5B6372"/>
                </a:solidFill>
                <a:latin typeface="Arial"/>
              </a:rPr>
              <a:t>Cheap sensors, long-range low-power wireless and 5G removed the cost barrier to mass adoption.</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Product to service</a:t>
            </a:r>
          </a:p>
          <a:p>
            <a:pPr algn="l">
              <a:spcAft>
                <a:spcPts val="300"/>
              </a:spcAft>
            </a:pPr>
            <a:r>
              <a:rPr sz="1100" b="0">
                <a:solidFill>
                  <a:srgbClr val="5B6372"/>
                </a:solidFill>
                <a:latin typeface="Arial"/>
              </a:rPr>
              <a:t>IoT shifts firms from one-off product sales to subscription, outcome and pay-per-use models.</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Data as the asset</a:t>
            </a:r>
          </a:p>
          <a:p>
            <a:pPr algn="l">
              <a:spcAft>
                <a:spcPts val="300"/>
              </a:spcAft>
            </a:pPr>
            <a:r>
              <a:rPr sz="1100" b="0">
                <a:solidFill>
                  <a:srgbClr val="5B6372"/>
                </a:solidFill>
                <a:latin typeface="Arial"/>
              </a:rPr>
              <a:t>The recurring value is the telemetry stream, not the device — it compounds over time.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01 · CONTEXT</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The Fourth Industrial Revolution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5989320"/>
            <a:ext cx="10634472" cy="411480"/>
          </a:xfrm>
          <a:prstGeom prst="rect">
            <a:avLst/>
          </a:prstGeom>
          <a:noFill/>
        </p:spPr>
        <p:txBody>
          <a:bodyPr wrap="square" anchor="t">
            <a:spAutoFit/>
          </a:bodyPr>
          <a:lstStyle/>
          <a:p>
            <a:pPr algn="ctr">
              <a:spcAft>
                <a:spcPts val="400"/>
              </a:spcAft>
            </a:pPr>
            <a:r>
              <a:rPr sz="1200" b="0">
                <a:solidFill>
                  <a:srgbClr val="5B6372"/>
                </a:solidFill>
                <a:latin typeface="Arial"/>
              </a:rPr>
              <a:t>Industry 4.0 — cyber-physical systems, IoT, cloud computing and cognitive computing.</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01 · DEFINITION</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What Is the Internet of Things?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5989320"/>
            <a:ext cx="10634472" cy="411480"/>
          </a:xfrm>
          <a:prstGeom prst="rect">
            <a:avLst/>
          </a:prstGeom>
          <a:noFill/>
        </p:spPr>
        <p:txBody>
          <a:bodyPr wrap="square" anchor="t">
            <a:spAutoFit/>
          </a:bodyPr>
          <a:lstStyle/>
          <a:p>
            <a:pPr algn="ctr">
              <a:spcAft>
                <a:spcPts val="400"/>
              </a:spcAft>
            </a:pPr>
            <a:r>
              <a:rPr sz="1200" b="0">
                <a:solidFill>
                  <a:srgbClr val="5B6372"/>
                </a:solidFill>
                <a:latin typeface="Arial"/>
              </a:rPr>
              <a:t>IoT connects everyday objects to the internet so they can send and receive data.</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01 · COMPONENTS</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The Components of an IoT System</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5989320"/>
            <a:ext cx="10634472" cy="411480"/>
          </a:xfrm>
          <a:prstGeom prst="rect">
            <a:avLst/>
          </a:prstGeom>
          <a:noFill/>
        </p:spPr>
        <p:txBody>
          <a:bodyPr wrap="square" anchor="t">
            <a:spAutoFit/>
          </a:bodyPr>
          <a:lstStyle/>
          <a:p>
            <a:pPr algn="ctr">
              <a:spcAft>
                <a:spcPts val="400"/>
              </a:spcAft>
            </a:pPr>
            <a:r>
              <a:rPr sz="1200" b="0">
                <a:solidFill>
                  <a:srgbClr val="5B6372"/>
                </a:solidFill>
                <a:latin typeface="Arial"/>
              </a:rPr>
              <a:t>A 'thing' is any object with embedded electronics that transfers data over a network.</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THE OPPORTUNITY</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The Scale of IoT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94560"/>
            <a:ext cx="2452878" cy="3108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94560"/>
            <a:ext cx="2452878"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880360"/>
            <a:ext cx="2087118" cy="1051560"/>
          </a:xfrm>
          <a:prstGeom prst="rect">
            <a:avLst/>
          </a:prstGeom>
          <a:noFill/>
        </p:spPr>
        <p:txBody>
          <a:bodyPr wrap="square" anchor="ctr">
            <a:spAutoFit/>
          </a:bodyPr>
          <a:lstStyle/>
          <a:p>
            <a:pPr algn="ctr">
              <a:spcAft>
                <a:spcPts val="400"/>
              </a:spcAft>
            </a:pPr>
            <a:r>
              <a:rPr sz="4400" b="1">
                <a:solidFill>
                  <a:srgbClr val="1F6FEB"/>
                </a:solidFill>
                <a:latin typeface="Arial"/>
              </a:rPr>
              <a:t>$9T</a:t>
            </a:r>
          </a:p>
        </p:txBody>
      </p:sp>
      <p:sp>
        <p:nvSpPr>
          <p:cNvPr id="10" name="TextBox 9"/>
          <p:cNvSpPr txBox="1"/>
          <p:nvPr/>
        </p:nvSpPr>
        <p:spPr>
          <a:xfrm>
            <a:off x="996696" y="4023360"/>
            <a:ext cx="2013966" cy="1097280"/>
          </a:xfrm>
          <a:prstGeom prst="rect">
            <a:avLst/>
          </a:prstGeom>
          <a:noFill/>
        </p:spPr>
        <p:txBody>
          <a:bodyPr wrap="square" anchor="t">
            <a:spAutoFit/>
          </a:bodyPr>
          <a:lstStyle/>
          <a:p>
            <a:pPr algn="ctr">
              <a:spcAft>
                <a:spcPts val="400"/>
              </a:spcAft>
            </a:pPr>
            <a:r>
              <a:rPr sz="1300" b="0">
                <a:solidFill>
                  <a:srgbClr val="161B26"/>
                </a:solidFill>
                <a:latin typeface="Arial"/>
              </a:rPr>
              <a:t>Estimated IoT market value</a:t>
            </a:r>
          </a:p>
        </p:txBody>
      </p:sp>
      <p:sp>
        <p:nvSpPr>
          <p:cNvPr id="11" name="Rectangle 10"/>
          <p:cNvSpPr/>
          <p:nvPr/>
        </p:nvSpPr>
        <p:spPr>
          <a:xfrm>
            <a:off x="3504438" y="2194560"/>
            <a:ext cx="2452878" cy="3108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504438" y="2194560"/>
            <a:ext cx="2452878"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87318" y="2880360"/>
            <a:ext cx="2087118" cy="1051560"/>
          </a:xfrm>
          <a:prstGeom prst="rect">
            <a:avLst/>
          </a:prstGeom>
          <a:noFill/>
        </p:spPr>
        <p:txBody>
          <a:bodyPr wrap="square" anchor="ctr">
            <a:spAutoFit/>
          </a:bodyPr>
          <a:lstStyle/>
          <a:p>
            <a:pPr algn="ctr">
              <a:spcAft>
                <a:spcPts val="400"/>
              </a:spcAft>
            </a:pPr>
            <a:r>
              <a:rPr sz="4400" b="1">
                <a:solidFill>
                  <a:srgbClr val="10B981"/>
                </a:solidFill>
                <a:latin typeface="Arial"/>
              </a:rPr>
              <a:t>50B+</a:t>
            </a:r>
          </a:p>
        </p:txBody>
      </p:sp>
      <p:sp>
        <p:nvSpPr>
          <p:cNvPr id="14" name="TextBox 13"/>
          <p:cNvSpPr txBox="1"/>
          <p:nvPr/>
        </p:nvSpPr>
        <p:spPr>
          <a:xfrm>
            <a:off x="3723894" y="4023360"/>
            <a:ext cx="2013966" cy="1097280"/>
          </a:xfrm>
          <a:prstGeom prst="rect">
            <a:avLst/>
          </a:prstGeom>
          <a:noFill/>
        </p:spPr>
        <p:txBody>
          <a:bodyPr wrap="square" anchor="t">
            <a:spAutoFit/>
          </a:bodyPr>
          <a:lstStyle/>
          <a:p>
            <a:pPr algn="ctr">
              <a:spcAft>
                <a:spcPts val="400"/>
              </a:spcAft>
            </a:pPr>
            <a:r>
              <a:rPr sz="1300" b="0">
                <a:solidFill>
                  <a:srgbClr val="161B26"/>
                </a:solidFill>
                <a:latin typeface="Arial"/>
              </a:rPr>
              <a:t>Connected devices worldwide</a:t>
            </a:r>
          </a:p>
        </p:txBody>
      </p:sp>
      <p:sp>
        <p:nvSpPr>
          <p:cNvPr id="15" name="Rectangle 14"/>
          <p:cNvSpPr/>
          <p:nvPr/>
        </p:nvSpPr>
        <p:spPr>
          <a:xfrm>
            <a:off x="6231636" y="2194560"/>
            <a:ext cx="2452878" cy="3108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31636" y="2194560"/>
            <a:ext cx="2452878"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14516" y="2880360"/>
            <a:ext cx="2087118" cy="1051560"/>
          </a:xfrm>
          <a:prstGeom prst="rect">
            <a:avLst/>
          </a:prstGeom>
          <a:noFill/>
        </p:spPr>
        <p:txBody>
          <a:bodyPr wrap="square" anchor="ctr">
            <a:spAutoFit/>
          </a:bodyPr>
          <a:lstStyle/>
          <a:p>
            <a:pPr algn="ctr">
              <a:spcAft>
                <a:spcPts val="400"/>
              </a:spcAft>
            </a:pPr>
            <a:r>
              <a:rPr sz="4400" b="1">
                <a:solidFill>
                  <a:srgbClr val="7C3AED"/>
                </a:solidFill>
                <a:latin typeface="Arial"/>
              </a:rPr>
              <a:t>4th</a:t>
            </a:r>
          </a:p>
        </p:txBody>
      </p:sp>
      <p:sp>
        <p:nvSpPr>
          <p:cNvPr id="18" name="TextBox 17"/>
          <p:cNvSpPr txBox="1"/>
          <p:nvPr/>
        </p:nvSpPr>
        <p:spPr>
          <a:xfrm>
            <a:off x="6451092" y="4023360"/>
            <a:ext cx="2013966" cy="1097280"/>
          </a:xfrm>
          <a:prstGeom prst="rect">
            <a:avLst/>
          </a:prstGeom>
          <a:noFill/>
        </p:spPr>
        <p:txBody>
          <a:bodyPr wrap="square" anchor="t">
            <a:spAutoFit/>
          </a:bodyPr>
          <a:lstStyle/>
          <a:p>
            <a:pPr algn="ctr">
              <a:spcAft>
                <a:spcPts val="400"/>
              </a:spcAft>
            </a:pPr>
            <a:r>
              <a:rPr sz="1300" b="0">
                <a:solidFill>
                  <a:srgbClr val="161B26"/>
                </a:solidFill>
                <a:latin typeface="Arial"/>
              </a:rPr>
              <a:t>Industrial revolution underway</a:t>
            </a:r>
          </a:p>
        </p:txBody>
      </p:sp>
      <p:sp>
        <p:nvSpPr>
          <p:cNvPr id="19" name="Rectangle 18"/>
          <p:cNvSpPr/>
          <p:nvPr/>
        </p:nvSpPr>
        <p:spPr>
          <a:xfrm>
            <a:off x="8958834" y="2194560"/>
            <a:ext cx="2452878" cy="3108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958834" y="2194560"/>
            <a:ext cx="2452878" cy="10972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1714" y="2880360"/>
            <a:ext cx="2087118" cy="1051560"/>
          </a:xfrm>
          <a:prstGeom prst="rect">
            <a:avLst/>
          </a:prstGeom>
          <a:noFill/>
        </p:spPr>
        <p:txBody>
          <a:bodyPr wrap="square" anchor="ctr">
            <a:spAutoFit/>
          </a:bodyPr>
          <a:lstStyle/>
          <a:p>
            <a:pPr algn="ctr">
              <a:spcAft>
                <a:spcPts val="400"/>
              </a:spcAft>
            </a:pPr>
            <a:r>
              <a:rPr sz="4400" b="1">
                <a:solidFill>
                  <a:srgbClr val="F59E0B"/>
                </a:solidFill>
                <a:latin typeface="Arial"/>
              </a:rPr>
              <a:t>5G</a:t>
            </a:r>
          </a:p>
        </p:txBody>
      </p:sp>
      <p:sp>
        <p:nvSpPr>
          <p:cNvPr id="22" name="TextBox 21"/>
          <p:cNvSpPr txBox="1"/>
          <p:nvPr/>
        </p:nvSpPr>
        <p:spPr>
          <a:xfrm>
            <a:off x="9178290" y="4023360"/>
            <a:ext cx="2013966" cy="1097280"/>
          </a:xfrm>
          <a:prstGeom prst="rect">
            <a:avLst/>
          </a:prstGeom>
          <a:noFill/>
        </p:spPr>
        <p:txBody>
          <a:bodyPr wrap="square" anchor="t">
            <a:spAutoFit/>
          </a:bodyPr>
          <a:lstStyle/>
          <a:p>
            <a:pPr algn="ctr">
              <a:spcAft>
                <a:spcPts val="400"/>
              </a:spcAft>
            </a:pPr>
            <a:r>
              <a:rPr sz="1300" b="0">
                <a:solidFill>
                  <a:srgbClr val="161B26"/>
                </a:solidFill>
                <a:latin typeface="Arial"/>
              </a:rPr>
              <a:t>The accelerator to mass adoption</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THE IoT ARCHITECTURE</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How IoT Works — The Four Building Blocks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2425446"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2425446"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15059" y="271576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15059"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2132838" cy="1325880"/>
          </a:xfrm>
          <a:prstGeom prst="rect">
            <a:avLst/>
          </a:prstGeom>
          <a:noFill/>
        </p:spPr>
        <p:txBody>
          <a:bodyPr wrap="square" anchor="t">
            <a:spAutoFit/>
          </a:bodyPr>
          <a:lstStyle/>
          <a:p>
            <a:pPr algn="ctr">
              <a:spcAft>
                <a:spcPts val="400"/>
              </a:spcAft>
            </a:pPr>
            <a:r>
              <a:rPr sz="1400" b="0">
                <a:solidFill>
                  <a:srgbClr val="161B26"/>
                </a:solidFill>
                <a:latin typeface="Arial"/>
              </a:rPr>
              <a:t>SENSORS &amp; DEVICES capture data from the physical world</a:t>
            </a:r>
          </a:p>
        </p:txBody>
      </p:sp>
      <p:sp>
        <p:nvSpPr>
          <p:cNvPr id="12" name="TextBox 11"/>
          <p:cNvSpPr txBox="1"/>
          <p:nvPr/>
        </p:nvSpPr>
        <p:spPr>
          <a:xfrm>
            <a:off x="3166110"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13" name="Rectangle 12"/>
          <p:cNvSpPr/>
          <p:nvPr/>
        </p:nvSpPr>
        <p:spPr>
          <a:xfrm>
            <a:off x="3513582" y="2331720"/>
            <a:ext cx="2425446"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13582" y="2331720"/>
            <a:ext cx="2425446"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351401" y="271576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51401"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3659886" y="3749040"/>
            <a:ext cx="2132838" cy="1325880"/>
          </a:xfrm>
          <a:prstGeom prst="rect">
            <a:avLst/>
          </a:prstGeom>
          <a:noFill/>
        </p:spPr>
        <p:txBody>
          <a:bodyPr wrap="square" anchor="t">
            <a:spAutoFit/>
          </a:bodyPr>
          <a:lstStyle/>
          <a:p>
            <a:pPr algn="ctr">
              <a:spcAft>
                <a:spcPts val="400"/>
              </a:spcAft>
            </a:pPr>
            <a:r>
              <a:rPr sz="1400" b="0">
                <a:solidFill>
                  <a:srgbClr val="161B26"/>
                </a:solidFill>
                <a:latin typeface="Arial"/>
              </a:rPr>
              <a:t>CONNECTIVITY carries it over WiFi, cellular, LoRa or MQTT</a:t>
            </a:r>
          </a:p>
        </p:txBody>
      </p:sp>
      <p:sp>
        <p:nvSpPr>
          <p:cNvPr id="18" name="TextBox 17"/>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19" name="Rectangle 18"/>
          <p:cNvSpPr/>
          <p:nvPr/>
        </p:nvSpPr>
        <p:spPr>
          <a:xfrm>
            <a:off x="6249924" y="2331720"/>
            <a:ext cx="2425446"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49924" y="2331720"/>
            <a:ext cx="2425446"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087743" y="271576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0877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6396228" y="3749040"/>
            <a:ext cx="2132838" cy="1325880"/>
          </a:xfrm>
          <a:prstGeom prst="rect">
            <a:avLst/>
          </a:prstGeom>
          <a:noFill/>
        </p:spPr>
        <p:txBody>
          <a:bodyPr wrap="square" anchor="t">
            <a:spAutoFit/>
          </a:bodyPr>
          <a:lstStyle/>
          <a:p>
            <a:pPr algn="ctr">
              <a:spcAft>
                <a:spcPts val="400"/>
              </a:spcAft>
            </a:pPr>
            <a:r>
              <a:rPr sz="1400" b="0">
                <a:solidFill>
                  <a:srgbClr val="161B26"/>
                </a:solidFill>
                <a:latin typeface="Arial"/>
              </a:rPr>
              <a:t>CLOUD stores, processes and analyses the data</a:t>
            </a:r>
          </a:p>
        </p:txBody>
      </p:sp>
      <p:sp>
        <p:nvSpPr>
          <p:cNvPr id="24" name="TextBox 23"/>
          <p:cNvSpPr txBox="1"/>
          <p:nvPr/>
        </p:nvSpPr>
        <p:spPr>
          <a:xfrm>
            <a:off x="8638794"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25" name="Rectangle 24"/>
          <p:cNvSpPr/>
          <p:nvPr/>
        </p:nvSpPr>
        <p:spPr>
          <a:xfrm>
            <a:off x="8986266" y="2331720"/>
            <a:ext cx="2425446"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86266" y="2331720"/>
            <a:ext cx="2425446"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824085" y="271576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824085"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9132570" y="3749040"/>
            <a:ext cx="2132838" cy="1325880"/>
          </a:xfrm>
          <a:prstGeom prst="rect">
            <a:avLst/>
          </a:prstGeom>
          <a:noFill/>
        </p:spPr>
        <p:txBody>
          <a:bodyPr wrap="square" anchor="t">
            <a:spAutoFit/>
          </a:bodyPr>
          <a:lstStyle/>
          <a:p>
            <a:pPr algn="ctr">
              <a:spcAft>
                <a:spcPts val="400"/>
              </a:spcAft>
            </a:pPr>
            <a:r>
              <a:rPr sz="1400" b="0">
                <a:solidFill>
                  <a:srgbClr val="161B26"/>
                </a:solidFill>
                <a:latin typeface="Arial"/>
              </a:rPr>
              <a:t>USER INTERFACE shows insight and sends commands back</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01 · ARCHITECTURE</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How IoT Works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5989320"/>
            <a:ext cx="10634472" cy="411480"/>
          </a:xfrm>
          <a:prstGeom prst="rect">
            <a:avLst/>
          </a:prstGeom>
          <a:noFill/>
        </p:spPr>
        <p:txBody>
          <a:bodyPr wrap="square" anchor="t">
            <a:spAutoFit/>
          </a:bodyPr>
          <a:lstStyle/>
          <a:p>
            <a:pPr algn="ctr">
              <a:spcAft>
                <a:spcPts val="400"/>
              </a:spcAft>
            </a:pPr>
            <a:r>
              <a:rPr sz="1200" b="0">
                <a:solidFill>
                  <a:srgbClr val="5B6372"/>
                </a:solidFill>
                <a:latin typeface="Arial"/>
              </a:rPr>
              <a:t>Sensors and devices talk to the cloud; software processes the data and acts, or shows it to a user.</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01 · SENSORS</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Sensors for IoT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5989320"/>
            <a:ext cx="10634472" cy="411480"/>
          </a:xfrm>
          <a:prstGeom prst="rect">
            <a:avLst/>
          </a:prstGeom>
          <a:noFill/>
        </p:spPr>
        <p:txBody>
          <a:bodyPr wrap="square" anchor="t">
            <a:spAutoFit/>
          </a:bodyPr>
          <a:lstStyle/>
          <a:p>
            <a:pPr algn="ctr">
              <a:spcAft>
                <a:spcPts val="400"/>
              </a:spcAft>
            </a:pPr>
            <a:r>
              <a:rPr sz="1200" b="0">
                <a:solidFill>
                  <a:srgbClr val="5B6372"/>
                </a:solidFill>
                <a:latin typeface="Arial"/>
              </a:rPr>
              <a:t>Low-cost sensors are what made large-scale IoT deployment economically viable.</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01 · ACTUATORS</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Actuators for IoT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5989320"/>
            <a:ext cx="10634472" cy="411480"/>
          </a:xfrm>
          <a:prstGeom prst="rect">
            <a:avLst/>
          </a:prstGeom>
          <a:noFill/>
        </p:spPr>
        <p:txBody>
          <a:bodyPr wrap="square" anchor="t">
            <a:spAutoFit/>
          </a:bodyPr>
          <a:lstStyle/>
          <a:p>
            <a:pPr algn="ctr">
              <a:spcAft>
                <a:spcPts val="400"/>
              </a:spcAft>
            </a:pPr>
            <a:r>
              <a:rPr sz="1200" b="0">
                <a:solidFill>
                  <a:srgbClr val="5B6372"/>
                </a:solidFill>
                <a:latin typeface="Arial"/>
              </a:rPr>
              <a:t>Actuators turn a decision in the cloud back into a physical action.</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THE PHYSICAL LAYER</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Sensors, Actuators and Gateways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Sensors — sense</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Temperature &amp; humidity</a:t>
            </a:r>
          </a:p>
          <a:p>
            <a:pPr>
              <a:spcAft>
                <a:spcPts val="900"/>
              </a:spcAft>
            </a:pPr>
            <a:r>
              <a:rPr sz="1400" b="0">
                <a:solidFill>
                  <a:srgbClr val="161B26"/>
                </a:solidFill>
                <a:latin typeface="Arial"/>
              </a:rPr>
              <a:t>•  Motion, presence, vibration</a:t>
            </a:r>
          </a:p>
          <a:p>
            <a:pPr>
              <a:spcAft>
                <a:spcPts val="900"/>
              </a:spcAft>
            </a:pPr>
            <a:r>
              <a:rPr sz="1400" b="0">
                <a:solidFill>
                  <a:srgbClr val="161B26"/>
                </a:solidFill>
                <a:latin typeface="Arial"/>
              </a:rPr>
              <a:t>•  Light, gas, air quality</a:t>
            </a:r>
          </a:p>
          <a:p>
            <a:pPr>
              <a:spcAft>
                <a:spcPts val="900"/>
              </a:spcAft>
            </a:pPr>
            <a:r>
              <a:rPr sz="1400" b="0">
                <a:solidFill>
                  <a:srgbClr val="161B26"/>
                </a:solidFill>
                <a:latin typeface="Arial"/>
              </a:rPr>
              <a:t>•  GPS location, current</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Actuators — act</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Relays and switches</a:t>
            </a:r>
          </a:p>
          <a:p>
            <a:pPr>
              <a:spcAft>
                <a:spcPts val="900"/>
              </a:spcAft>
            </a:pPr>
            <a:r>
              <a:rPr sz="1400" b="0">
                <a:solidFill>
                  <a:srgbClr val="161B26"/>
                </a:solidFill>
                <a:latin typeface="Arial"/>
              </a:rPr>
              <a:t>•  Motors and servos</a:t>
            </a:r>
          </a:p>
          <a:p>
            <a:pPr>
              <a:spcAft>
                <a:spcPts val="900"/>
              </a:spcAft>
            </a:pPr>
            <a:r>
              <a:rPr sz="1400" b="0">
                <a:solidFill>
                  <a:srgbClr val="161B26"/>
                </a:solidFill>
                <a:latin typeface="Arial"/>
              </a:rPr>
              <a:t>•  Valves and pumps</a:t>
            </a:r>
          </a:p>
          <a:p>
            <a:pPr>
              <a:spcAft>
                <a:spcPts val="900"/>
              </a:spcAft>
            </a:pPr>
            <a:r>
              <a:rPr sz="1400" b="0">
                <a:solidFill>
                  <a:srgbClr val="161B26"/>
                </a:solidFill>
                <a:latin typeface="Arial"/>
              </a:rPr>
              <a:t>•  Alarms and displays</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Gateways — connect</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Aggregate nearby devices</a:t>
            </a:r>
          </a:p>
          <a:p>
            <a:pPr>
              <a:spcAft>
                <a:spcPts val="900"/>
              </a:spcAft>
            </a:pPr>
            <a:r>
              <a:rPr sz="1400" b="0">
                <a:solidFill>
                  <a:srgbClr val="161B26"/>
                </a:solidFill>
                <a:latin typeface="Arial"/>
              </a:rPr>
              <a:t>•  Translate protocols</a:t>
            </a:r>
          </a:p>
          <a:p>
            <a:pPr>
              <a:spcAft>
                <a:spcPts val="900"/>
              </a:spcAft>
            </a:pPr>
            <a:r>
              <a:rPr sz="1400" b="0">
                <a:solidFill>
                  <a:srgbClr val="161B26"/>
                </a:solidFill>
                <a:latin typeface="Arial"/>
              </a:rPr>
              <a:t>•  Buffer when offline</a:t>
            </a:r>
          </a:p>
          <a:p>
            <a:pPr>
              <a:spcAft>
                <a:spcPts val="900"/>
              </a:spcAft>
            </a:pPr>
            <a:r>
              <a:rPr sz="1400" b="0">
                <a:solidFill>
                  <a:srgbClr val="161B26"/>
                </a:solidFill>
                <a:latin typeface="Arial"/>
              </a:rPr>
              <a:t>•  Add edge processing</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CONNECTIVITY CHOICES</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Wireless Technologies for IoT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WiFi</a:t>
            </a:r>
          </a:p>
          <a:p>
            <a:pPr algn="l">
              <a:spcAft>
                <a:spcPts val="300"/>
              </a:spcAft>
            </a:pPr>
            <a:r>
              <a:rPr sz="1100" b="0">
                <a:solidFill>
                  <a:srgbClr val="5B6372"/>
                </a:solidFill>
                <a:latin typeface="Arial"/>
              </a:rPr>
              <a:t>High bandwidth, short range, mains power — best indoors where power is available.</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Bluetooth / BLE</a:t>
            </a:r>
          </a:p>
          <a:p>
            <a:pPr algn="l">
              <a:spcAft>
                <a:spcPts val="300"/>
              </a:spcAft>
            </a:pPr>
            <a:r>
              <a:rPr sz="1100" b="0">
                <a:solidFill>
                  <a:srgbClr val="5B6372"/>
                </a:solidFill>
                <a:latin typeface="Arial"/>
              </a:rPr>
              <a:t>Very low power, very short range — wearables and personal devices.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Cellular (4G/5G)</a:t>
            </a:r>
          </a:p>
          <a:p>
            <a:pPr algn="l">
              <a:spcAft>
                <a:spcPts val="300"/>
              </a:spcAft>
            </a:pPr>
            <a:r>
              <a:rPr sz="1100" b="0">
                <a:solidFill>
                  <a:srgbClr val="5B6372"/>
                </a:solidFill>
                <a:latin typeface="Arial"/>
              </a:rPr>
              <a:t>Wide coverage with a subscription cost — vehicles, logistics and remote assets.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LoRaWAN / NB-IoT</a:t>
            </a:r>
          </a:p>
          <a:p>
            <a:pPr algn="l">
              <a:spcAft>
                <a:spcPts val="300"/>
              </a:spcAft>
            </a:pPr>
            <a:r>
              <a:rPr sz="1100" b="0">
                <a:solidFill>
                  <a:srgbClr val="5B6372"/>
                </a:solidFill>
                <a:latin typeface="Arial"/>
              </a:rPr>
              <a:t>Long range, very low power, tiny payloads — agriculture, metering, city-scale sensing.</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Zigbee / Z-Wave</a:t>
            </a:r>
          </a:p>
          <a:p>
            <a:pPr algn="l">
              <a:spcAft>
                <a:spcPts val="300"/>
              </a:spcAft>
            </a:pPr>
            <a:r>
              <a:rPr sz="1100" b="0">
                <a:solidFill>
                  <a:srgbClr val="5B6372"/>
                </a:solidFill>
                <a:latin typeface="Arial"/>
              </a:rPr>
              <a:t>Low-power mesh — smart buildings and home automation.</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Choosing one</a:t>
            </a:r>
          </a:p>
          <a:p>
            <a:pPr algn="l">
              <a:spcAft>
                <a:spcPts val="300"/>
              </a:spcAft>
            </a:pPr>
            <a:r>
              <a:rPr sz="1100" b="0">
                <a:solidFill>
                  <a:srgbClr val="5B6372"/>
                </a:solidFill>
                <a:latin typeface="Arial"/>
              </a:rPr>
              <a:t>Trade range against power, bandwidth and cost — there is no single best option.</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01 · CONNECTIVITY</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Wireless Technologies for IoT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5989320"/>
            <a:ext cx="10634472" cy="411480"/>
          </a:xfrm>
          <a:prstGeom prst="rect">
            <a:avLst/>
          </a:prstGeom>
          <a:noFill/>
        </p:spPr>
        <p:txBody>
          <a:bodyPr wrap="square" anchor="t">
            <a:spAutoFit/>
          </a:bodyPr>
          <a:lstStyle/>
          <a:p>
            <a:pPr algn="ctr">
              <a:spcAft>
                <a:spcPts val="400"/>
              </a:spcAft>
            </a:pPr>
            <a:r>
              <a:rPr sz="1200" b="0">
                <a:solidFill>
                  <a:srgbClr val="5B6372"/>
                </a:solidFill>
                <a:latin typeface="Arial"/>
              </a:rPr>
              <a:t>Range, power consumption, bandwidth and cost determine which technology fits a use case.</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01 · CONNECTIVITY</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Comparing Wireless Technologies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5989320"/>
            <a:ext cx="10634472" cy="411480"/>
          </a:xfrm>
          <a:prstGeom prst="rect">
            <a:avLst/>
          </a:prstGeom>
          <a:noFill/>
        </p:spPr>
        <p:txBody>
          <a:bodyPr wrap="square" anchor="t">
            <a:spAutoFit/>
          </a:bodyPr>
          <a:lstStyle/>
          <a:p>
            <a:pPr algn="ctr">
              <a:spcAft>
                <a:spcPts val="400"/>
              </a:spcAft>
            </a:pPr>
            <a:r>
              <a:rPr sz="1200" b="0">
                <a:solidFill>
                  <a:srgbClr val="5B6372"/>
                </a:solidFill>
                <a:latin typeface="Arial"/>
              </a:rPr>
              <a:t>There is no single best option — every choice trades range against power and bandwidth.</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A1 · HOW IoT CHANGES THE BUSINESS MODEL</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New Business Models Enabled by IoT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Product → Service</a:t>
            </a:r>
          </a:p>
          <a:p>
            <a:pPr algn="l">
              <a:spcAft>
                <a:spcPts val="300"/>
              </a:spcAft>
            </a:pPr>
            <a:r>
              <a:rPr sz="1100" b="0">
                <a:solidFill>
                  <a:srgbClr val="5B6372"/>
                </a:solidFill>
                <a:latin typeface="Arial"/>
              </a:rPr>
              <a:t>Sell the outcome (cooling, uptime, mobility) rather than the machine itself.</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Subscription</a:t>
            </a:r>
          </a:p>
          <a:p>
            <a:pPr algn="l">
              <a:spcAft>
                <a:spcPts val="300"/>
              </a:spcAft>
            </a:pPr>
            <a:r>
              <a:rPr sz="1100" b="0">
                <a:solidFill>
                  <a:srgbClr val="5B6372"/>
                </a:solidFill>
                <a:latin typeface="Arial"/>
              </a:rPr>
              <a:t>Recurring revenue for monitoring, analytics and support built on the data stream.</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Pay-per-use</a:t>
            </a:r>
          </a:p>
          <a:p>
            <a:pPr algn="l">
              <a:spcAft>
                <a:spcPts val="300"/>
              </a:spcAft>
            </a:pPr>
            <a:r>
              <a:rPr sz="1100" b="0">
                <a:solidFill>
                  <a:srgbClr val="5B6372"/>
                </a:solidFill>
                <a:latin typeface="Arial"/>
              </a:rPr>
              <a:t>Charge by actual consumption, measured by the device — fair for the customer, predictable for you.</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Predictive maintenance</a:t>
            </a:r>
          </a:p>
          <a:p>
            <a:pPr algn="l">
              <a:spcAft>
                <a:spcPts val="300"/>
              </a:spcAft>
            </a:pPr>
            <a:r>
              <a:rPr sz="1100" b="0">
                <a:solidFill>
                  <a:srgbClr val="5B6372"/>
                </a:solidFill>
                <a:latin typeface="Arial"/>
              </a:rPr>
              <a:t>Service before failure; convert unplanned downtime into scheduled work.</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Data-driven products</a:t>
            </a:r>
          </a:p>
          <a:p>
            <a:pPr algn="l">
              <a:spcAft>
                <a:spcPts val="300"/>
              </a:spcAft>
            </a:pPr>
            <a:r>
              <a:rPr sz="1100" b="0">
                <a:solidFill>
                  <a:srgbClr val="5B6372"/>
                </a:solidFill>
                <a:latin typeface="Arial"/>
              </a:rPr>
              <a:t>The telemetry itself becomes a product — benchmarking, insurance, optimisation.</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Ecosystem platforms</a:t>
            </a:r>
          </a:p>
          <a:p>
            <a:pPr algn="l">
              <a:spcAft>
                <a:spcPts val="300"/>
              </a:spcAft>
            </a:pPr>
            <a:r>
              <a:rPr sz="1100" b="0">
                <a:solidFill>
                  <a:srgbClr val="5B6372"/>
                </a:solidFill>
                <a:latin typeface="Arial"/>
              </a:rPr>
              <a:t>Open the data to partners and earn from the platform, not just the device.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TOPIC 01 · ACTIVITY</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Discussion — Compare Business Models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2286000" cy="4572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2286000" cy="365760"/>
          </a:xfrm>
          <a:prstGeom prst="rect">
            <a:avLst/>
          </a:prstGeom>
          <a:noFill/>
        </p:spPr>
        <p:txBody>
          <a:bodyPr wrap="square" anchor="t">
            <a:spAutoFit/>
          </a:bodyPr>
          <a:lstStyle/>
          <a:p>
            <a:pPr algn="ctr">
              <a:spcAft>
                <a:spcPts val="400"/>
              </a:spcAft>
            </a:pPr>
            <a:r>
              <a:rPr sz="1300" b="1">
                <a:solidFill>
                  <a:srgbClr val="FFFFFF"/>
                </a:solidFill>
                <a:latin typeface="Arial"/>
              </a:rPr>
              <a:t>DISCUSSION · 15 MIN</a:t>
            </a:r>
          </a:p>
        </p:txBody>
      </p:sp>
      <p:sp>
        <p:nvSpPr>
          <p:cNvPr id="9" name="TextBox 8"/>
          <p:cNvSpPr txBox="1"/>
          <p:nvPr/>
        </p:nvSpPr>
        <p:spPr>
          <a:xfrm>
            <a:off x="777240" y="2377440"/>
            <a:ext cx="10698480" cy="868680"/>
          </a:xfrm>
          <a:prstGeom prst="rect">
            <a:avLst/>
          </a:prstGeom>
          <a:noFill/>
        </p:spPr>
        <p:txBody>
          <a:bodyPr wrap="square" anchor="t">
            <a:spAutoFit/>
          </a:bodyPr>
          <a:lstStyle/>
          <a:p>
            <a:pPr algn="l">
              <a:spcAft>
                <a:spcPts val="400"/>
              </a:spcAft>
            </a:pPr>
            <a:r>
              <a:rPr sz="1700" b="0">
                <a:solidFill>
                  <a:srgbClr val="161B26"/>
                </a:solidFill>
                <a:latin typeface="Arial"/>
              </a:rPr>
              <a:t>In pairs, describe how your organisation earns revenue today. Then pick one IoT-enabled competitor or industry example and compare the two.</a:t>
            </a:r>
          </a:p>
        </p:txBody>
      </p:sp>
      <p:sp>
        <p:nvSpPr>
          <p:cNvPr id="10" name="Rectangle 9"/>
          <p:cNvSpPr/>
          <p:nvPr/>
        </p:nvSpPr>
        <p:spPr>
          <a:xfrm>
            <a:off x="777240" y="3429000"/>
            <a:ext cx="2475738"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3429000"/>
            <a:ext cx="2475738"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759077" y="3685032"/>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759077" y="3685032"/>
            <a:ext cx="512064" cy="512064"/>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923544" y="4325112"/>
            <a:ext cx="2183130" cy="777240"/>
          </a:xfrm>
          <a:prstGeom prst="rect">
            <a:avLst/>
          </a:prstGeom>
          <a:noFill/>
        </p:spPr>
        <p:txBody>
          <a:bodyPr wrap="square" anchor="t">
            <a:spAutoFit/>
          </a:bodyPr>
          <a:lstStyle/>
          <a:p>
            <a:pPr algn="ctr">
              <a:spcAft>
                <a:spcPts val="400"/>
              </a:spcAft>
            </a:pPr>
            <a:r>
              <a:rPr sz="1100" b="0">
                <a:solidFill>
                  <a:srgbClr val="161B26"/>
                </a:solidFill>
                <a:latin typeface="Arial"/>
              </a:rPr>
              <a:t>How does your organisation make money today — product sale, project fee, subscription?</a:t>
            </a:r>
          </a:p>
        </p:txBody>
      </p:sp>
      <p:sp>
        <p:nvSpPr>
          <p:cNvPr id="15" name="Rectangle 14"/>
          <p:cNvSpPr/>
          <p:nvPr/>
        </p:nvSpPr>
        <p:spPr>
          <a:xfrm>
            <a:off x="3509010" y="3429000"/>
            <a:ext cx="2475738"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09010" y="3429000"/>
            <a:ext cx="247573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4490847" y="3685032"/>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90847" y="3685032"/>
            <a:ext cx="512064" cy="512064"/>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3655314" y="4325112"/>
            <a:ext cx="2183130" cy="777240"/>
          </a:xfrm>
          <a:prstGeom prst="rect">
            <a:avLst/>
          </a:prstGeom>
          <a:noFill/>
        </p:spPr>
        <p:txBody>
          <a:bodyPr wrap="square" anchor="t">
            <a:spAutoFit/>
          </a:bodyPr>
          <a:lstStyle/>
          <a:p>
            <a:pPr algn="ctr">
              <a:spcAft>
                <a:spcPts val="400"/>
              </a:spcAft>
            </a:pPr>
            <a:r>
              <a:rPr sz="1100" b="0">
                <a:solidFill>
                  <a:srgbClr val="161B26"/>
                </a:solidFill>
                <a:latin typeface="Arial"/>
              </a:rPr>
              <a:t>Which IoT-enabled model could apply: outcome-based, pay-per-use, subscription, or predictive service?</a:t>
            </a:r>
          </a:p>
        </p:txBody>
      </p:sp>
      <p:sp>
        <p:nvSpPr>
          <p:cNvPr id="20" name="Rectangle 19"/>
          <p:cNvSpPr/>
          <p:nvPr/>
        </p:nvSpPr>
        <p:spPr>
          <a:xfrm>
            <a:off x="6240780" y="3429000"/>
            <a:ext cx="2475738"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40780" y="3429000"/>
            <a:ext cx="2475738"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222617" y="3685032"/>
            <a:ext cx="512064" cy="51206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22617" y="3685032"/>
            <a:ext cx="512064" cy="512064"/>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6387084" y="4325112"/>
            <a:ext cx="2183130" cy="777240"/>
          </a:xfrm>
          <a:prstGeom prst="rect">
            <a:avLst/>
          </a:prstGeom>
          <a:noFill/>
        </p:spPr>
        <p:txBody>
          <a:bodyPr wrap="square" anchor="t">
            <a:spAutoFit/>
          </a:bodyPr>
          <a:lstStyle/>
          <a:p>
            <a:pPr algn="ctr">
              <a:spcAft>
                <a:spcPts val="400"/>
              </a:spcAft>
            </a:pPr>
            <a:r>
              <a:rPr sz="1100" b="0">
                <a:solidFill>
                  <a:srgbClr val="161B26"/>
                </a:solidFill>
                <a:latin typeface="Arial"/>
              </a:rPr>
              <a:t>What data would you need to collect before that model becomes possible?</a:t>
            </a:r>
          </a:p>
        </p:txBody>
      </p:sp>
      <p:sp>
        <p:nvSpPr>
          <p:cNvPr id="25" name="Rectangle 24"/>
          <p:cNvSpPr/>
          <p:nvPr/>
        </p:nvSpPr>
        <p:spPr>
          <a:xfrm>
            <a:off x="8972550" y="3429000"/>
            <a:ext cx="2475738"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72550" y="3429000"/>
            <a:ext cx="2475738"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954387" y="3685032"/>
            <a:ext cx="512064" cy="51206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954387" y="3685032"/>
            <a:ext cx="512064" cy="512064"/>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9118854" y="4325112"/>
            <a:ext cx="2183130" cy="777240"/>
          </a:xfrm>
          <a:prstGeom prst="rect">
            <a:avLst/>
          </a:prstGeom>
          <a:noFill/>
        </p:spPr>
        <p:txBody>
          <a:bodyPr wrap="square" anchor="t">
            <a:spAutoFit/>
          </a:bodyPr>
          <a:lstStyle/>
          <a:p>
            <a:pPr algn="ctr">
              <a:spcAft>
                <a:spcPts val="400"/>
              </a:spcAft>
            </a:pPr>
            <a:r>
              <a:rPr sz="1100" b="0">
                <a:solidFill>
                  <a:srgbClr val="161B26"/>
                </a:solidFill>
                <a:latin typeface="Arial"/>
              </a:rPr>
              <a:t>What would customers gain, and what would they be willing to pay for?</a:t>
            </a:r>
          </a:p>
        </p:txBody>
      </p:sp>
      <p:sp>
        <p:nvSpPr>
          <p:cNvPr id="30" name="Rectangle 29"/>
          <p:cNvSpPr/>
          <p:nvPr/>
        </p:nvSpPr>
        <p:spPr>
          <a:xfrm>
            <a:off x="777240" y="5440680"/>
            <a:ext cx="10671048" cy="566928"/>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5840" y="5440680"/>
            <a:ext cx="10241280" cy="566928"/>
          </a:xfrm>
          <a:prstGeom prst="rect">
            <a:avLst/>
          </a:prstGeom>
          <a:noFill/>
        </p:spPr>
        <p:txBody>
          <a:bodyPr wrap="square" anchor="ctr">
            <a:spAutoFit/>
          </a:bodyPr>
          <a:lstStyle/>
          <a:p>
            <a:pPr algn="l">
              <a:spcAft>
                <a:spcPts val="400"/>
              </a:spcAft>
            </a:pPr>
            <a:r>
              <a:rPr sz="1000" b="1">
                <a:solidFill>
                  <a:srgbClr val="127A3E"/>
                </a:solidFill>
                <a:latin typeface="Arial"/>
              </a:rPr>
              <a:t>YOUR OUTPUT   </a:t>
            </a:r>
            <a:r>
              <a:rPr sz="1200" b="0">
                <a:solidFill>
                  <a:srgbClr val="161B26"/>
                </a:solidFill>
                <a:latin typeface="Arial"/>
              </a:rPr>
              <a:t>A short written comparison of your current model against one IoT-enabled model.</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RECAP</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Recap — Overview of Internet of Things (IoT)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IoT connects physical assets to the internet so they report their own state.</a:t>
            </a:r>
          </a:p>
          <a:p>
            <a:pPr>
              <a:spcAft>
                <a:spcPts val="1000"/>
              </a:spcAft>
            </a:pPr>
            <a:r>
              <a:rPr sz="1700" b="0">
                <a:solidFill>
                  <a:srgbClr val="161B26"/>
                </a:solidFill>
                <a:latin typeface="Arial"/>
              </a:rPr>
              <a:t>•  Four building blocks: sensors/devices, connectivity, cloud, user interface.</a:t>
            </a:r>
          </a:p>
          <a:p>
            <a:pPr>
              <a:spcAft>
                <a:spcPts val="1000"/>
              </a:spcAft>
            </a:pPr>
            <a:r>
              <a:rPr sz="1700" b="0">
                <a:solidFill>
                  <a:srgbClr val="161B26"/>
                </a:solidFill>
                <a:latin typeface="Arial"/>
              </a:rPr>
              <a:t>•  Falling sensor cost, low-power wireless and 5G made mass adoption viable.</a:t>
            </a:r>
          </a:p>
          <a:p>
            <a:pPr>
              <a:spcAft>
                <a:spcPts val="1000"/>
              </a:spcAft>
            </a:pPr>
            <a:r>
              <a:rPr sz="1700" b="0">
                <a:solidFill>
                  <a:srgbClr val="161B26"/>
                </a:solidFill>
                <a:latin typeface="Arial"/>
              </a:rPr>
              <a:t>•  IoT shifts firms from product sales to service, subscription and outcome models.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02</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Potential Opportunities of IoT Innovation</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Agriculture · Autonomous vehicles · Logistics · Smart buildings · Healthcare · Drones</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02</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0B981"/>
                </a:solidFill>
                <a:latin typeface="Arial"/>
              </a:rPr>
              <a:t>THE OPPORTUNITY LANDSCAPE</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IoT has reached every industry.</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From agriculture to aerospace — the pattern is always the same: sense something that used to be invisible, then act on it.</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LO2 · A2, K1 · 60 min</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500" b="1">
                <a:solidFill>
                  <a:srgbClr val="161B26"/>
                </a:solidFill>
                <a:latin typeface="Arial"/>
              </a:rPr>
              <a:t>Key Concepts — Potential Opportunities of IoT Innovation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Agriculture</a:t>
            </a:r>
          </a:p>
          <a:p>
            <a:pPr algn="l">
              <a:spcAft>
                <a:spcPts val="300"/>
              </a:spcAft>
            </a:pPr>
            <a:r>
              <a:rPr sz="1100" b="0">
                <a:solidFill>
                  <a:srgbClr val="5B6372"/>
                </a:solidFill>
                <a:latin typeface="Arial"/>
              </a:rPr>
              <a:t>Soil, weather and crop sensing drive precision irrigation and fertiliser decisions — e.g. IBM AgroPad.</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Autonomous vehicles</a:t>
            </a:r>
          </a:p>
          <a:p>
            <a:pPr algn="l">
              <a:spcAft>
                <a:spcPts val="300"/>
              </a:spcAft>
            </a:pPr>
            <a:r>
              <a:rPr sz="1100" b="0">
                <a:solidFill>
                  <a:srgbClr val="5B6372"/>
                </a:solidFill>
                <a:latin typeface="Arial"/>
              </a:rPr>
              <a:t>Vehicle telemetry and sensor fusion enable driver assistance and highly automated driving.</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Logistics &amp; fleet</a:t>
            </a:r>
          </a:p>
          <a:p>
            <a:pPr algn="l">
              <a:spcAft>
                <a:spcPts val="300"/>
              </a:spcAft>
            </a:pPr>
            <a:r>
              <a:rPr sz="1100" b="0">
                <a:solidFill>
                  <a:srgbClr val="5B6372"/>
                </a:solidFill>
                <a:latin typeface="Arial"/>
              </a:rPr>
              <a:t>Location, temperature and fuel telemetry give end-to-end shipment visibility and route optimisation.</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Smart buildings</a:t>
            </a:r>
          </a:p>
          <a:p>
            <a:pPr algn="l">
              <a:spcAft>
                <a:spcPts val="300"/>
              </a:spcAft>
            </a:pPr>
            <a:r>
              <a:rPr sz="1100" b="0">
                <a:solidFill>
                  <a:srgbClr val="5B6372"/>
                </a:solidFill>
                <a:latin typeface="Arial"/>
              </a:rPr>
              <a:t>Occupancy, energy and equipment sensing cut utility cost and enable predictive maintenance.</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Healthcare &amp; wearables</a:t>
            </a:r>
          </a:p>
          <a:p>
            <a:pPr algn="l">
              <a:spcAft>
                <a:spcPts val="300"/>
              </a:spcAft>
            </a:pPr>
            <a:r>
              <a:rPr sz="1100" b="0">
                <a:solidFill>
                  <a:srgbClr val="5B6372"/>
                </a:solidFill>
                <a:latin typeface="Arial"/>
              </a:rPr>
              <a:t>Continuous patient monitoring feeds records securely, supporting earlier clinical intervention.</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Drones</a:t>
            </a:r>
          </a:p>
          <a:p>
            <a:pPr algn="l">
              <a:spcAft>
                <a:spcPts val="300"/>
              </a:spcAft>
            </a:pPr>
            <a:r>
              <a:rPr sz="1100" b="0">
                <a:solidFill>
                  <a:srgbClr val="5B6372"/>
                </a:solidFill>
                <a:latin typeface="Arial"/>
              </a:rPr>
              <a:t>Aerial inspection, survey and delivery reach places people cannot, safely and at lower cost.</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02 · LANDSCAPE</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IoT Applications Across Industry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5989320"/>
            <a:ext cx="10634472" cy="411480"/>
          </a:xfrm>
          <a:prstGeom prst="rect">
            <a:avLst/>
          </a:prstGeom>
          <a:noFill/>
        </p:spPr>
        <p:txBody>
          <a:bodyPr wrap="square" anchor="t">
            <a:spAutoFit/>
          </a:bodyPr>
          <a:lstStyle/>
          <a:p>
            <a:pPr algn="ctr">
              <a:spcAft>
                <a:spcPts val="400"/>
              </a:spcAft>
            </a:pPr>
            <a:r>
              <a:rPr sz="1200" b="0">
                <a:solidFill>
                  <a:srgbClr val="5B6372"/>
                </a:solidFill>
                <a:latin typeface="Arial"/>
              </a:rPr>
              <a:t>IoT has found its way into every conceivable field, from agriculture to aerospace.</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02 · AGRICULTURE</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IoT for Agriculture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5989320"/>
            <a:ext cx="10634472" cy="411480"/>
          </a:xfrm>
          <a:prstGeom prst="rect">
            <a:avLst/>
          </a:prstGeom>
          <a:noFill/>
        </p:spPr>
        <p:txBody>
          <a:bodyPr wrap="square" anchor="t">
            <a:spAutoFit/>
          </a:bodyPr>
          <a:lstStyle/>
          <a:p>
            <a:pPr algn="ctr">
              <a:spcAft>
                <a:spcPts val="400"/>
              </a:spcAft>
            </a:pPr>
            <a:r>
              <a:rPr sz="1200" b="0">
                <a:solidFill>
                  <a:srgbClr val="5B6372"/>
                </a:solidFill>
                <a:latin typeface="Arial"/>
              </a:rPr>
              <a:t>Precision agriculture: sense the soil and crop, then irrigate and fertilise to the actual need.</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02 · AGRICULTURE</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Use Case — Agriculture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The problem</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Soil and crop condition is invisible</a:t>
            </a:r>
          </a:p>
          <a:p>
            <a:pPr>
              <a:spcAft>
                <a:spcPts val="900"/>
              </a:spcAft>
            </a:pPr>
            <a:r>
              <a:rPr sz="1400" b="0">
                <a:solidFill>
                  <a:srgbClr val="161B26"/>
                </a:solidFill>
                <a:latin typeface="Arial"/>
              </a:rPr>
              <a:t>•  Water and fertiliser applied uniformly</a:t>
            </a:r>
          </a:p>
          <a:p>
            <a:pPr>
              <a:spcAft>
                <a:spcPts val="900"/>
              </a:spcAft>
            </a:pPr>
            <a:r>
              <a:rPr sz="1400" b="0">
                <a:solidFill>
                  <a:srgbClr val="161B26"/>
                </a:solidFill>
                <a:latin typeface="Arial"/>
              </a:rPr>
              <a:t>•  Decisions made from experience alone</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The IoT solution</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Soil moisture &amp; nutrient sensing</a:t>
            </a:r>
          </a:p>
          <a:p>
            <a:pPr>
              <a:spcAft>
                <a:spcPts val="900"/>
              </a:spcAft>
            </a:pPr>
            <a:r>
              <a:rPr sz="1400" b="0">
                <a:solidFill>
                  <a:srgbClr val="161B26"/>
                </a:solidFill>
                <a:latin typeface="Arial"/>
              </a:rPr>
              <a:t>•  Weather and micro-climate data</a:t>
            </a:r>
          </a:p>
          <a:p>
            <a:pPr>
              <a:spcAft>
                <a:spcPts val="900"/>
              </a:spcAft>
            </a:pPr>
            <a:r>
              <a:rPr sz="1400" b="0">
                <a:solidFill>
                  <a:srgbClr val="161B26"/>
                </a:solidFill>
                <a:latin typeface="Arial"/>
              </a:rPr>
              <a:t>•  IBM AgroPad: instant chemical test</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The business value</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Precision irrigation cuts water use</a:t>
            </a:r>
          </a:p>
          <a:p>
            <a:pPr>
              <a:spcAft>
                <a:spcPts val="900"/>
              </a:spcAft>
            </a:pPr>
            <a:r>
              <a:rPr sz="1400" b="0">
                <a:solidFill>
                  <a:srgbClr val="161B26"/>
                </a:solidFill>
                <a:latin typeface="Arial"/>
              </a:rPr>
              <a:t>•  Higher yield per hectare</a:t>
            </a:r>
          </a:p>
          <a:p>
            <a:pPr>
              <a:spcAft>
                <a:spcPts val="900"/>
              </a:spcAft>
            </a:pPr>
            <a:r>
              <a:rPr sz="1400" b="0">
                <a:solidFill>
                  <a:srgbClr val="161B26"/>
                </a:solidFill>
                <a:latin typeface="Arial"/>
              </a:rPr>
              <a:t>•  Lower input cost per tonne</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02 · MOBILITY &amp; SUPPLY CHAIN</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Use Case — Autonomous Vehicles &amp; Logistics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Autonomous driving</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Sensor fusion: radar, lidar, camera</a:t>
            </a:r>
          </a:p>
          <a:p>
            <a:pPr>
              <a:spcAft>
                <a:spcPts val="900"/>
              </a:spcAft>
            </a:pPr>
            <a:r>
              <a:rPr sz="1400" b="0">
                <a:solidFill>
                  <a:srgbClr val="161B26"/>
                </a:solidFill>
                <a:latin typeface="Arial"/>
              </a:rPr>
              <a:t>•  Driver assistance to full automation</a:t>
            </a:r>
          </a:p>
          <a:p>
            <a:pPr>
              <a:spcAft>
                <a:spcPts val="900"/>
              </a:spcAft>
            </a:pPr>
            <a:r>
              <a:rPr sz="1400" b="0">
                <a:solidFill>
                  <a:srgbClr val="161B26"/>
                </a:solidFill>
                <a:latin typeface="Arial"/>
              </a:rPr>
              <a:t>•  BMW: 30 years of development</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Fleet monitoring</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Location, fuel and engine telemetry</a:t>
            </a:r>
          </a:p>
          <a:p>
            <a:pPr>
              <a:spcAft>
                <a:spcPts val="900"/>
              </a:spcAft>
            </a:pPr>
            <a:r>
              <a:rPr sz="1400" b="0">
                <a:solidFill>
                  <a:srgbClr val="161B26"/>
                </a:solidFill>
                <a:latin typeface="Arial"/>
              </a:rPr>
              <a:t>•  Cold-chain temperature tracking</a:t>
            </a:r>
          </a:p>
          <a:p>
            <a:pPr>
              <a:spcAft>
                <a:spcPts val="900"/>
              </a:spcAft>
            </a:pPr>
            <a:r>
              <a:rPr sz="1400" b="0">
                <a:solidFill>
                  <a:srgbClr val="161B26"/>
                </a:solidFill>
                <a:latin typeface="Arial"/>
              </a:rPr>
              <a:t>•  Oracle IoT Fleet Monitoring</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The business value</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Route and fuel optimisation</a:t>
            </a:r>
          </a:p>
          <a:p>
            <a:pPr>
              <a:spcAft>
                <a:spcPts val="900"/>
              </a:spcAft>
            </a:pPr>
            <a:r>
              <a:rPr sz="1400" b="0">
                <a:solidFill>
                  <a:srgbClr val="161B26"/>
                </a:solidFill>
                <a:latin typeface="Arial"/>
              </a:rPr>
              <a:t>•  Fewer accidents and claims</a:t>
            </a:r>
          </a:p>
          <a:p>
            <a:pPr>
              <a:spcAft>
                <a:spcPts val="900"/>
              </a:spcAft>
            </a:pPr>
            <a:r>
              <a:rPr sz="1400" b="0">
                <a:solidFill>
                  <a:srgbClr val="161B26"/>
                </a:solidFill>
                <a:latin typeface="Arial"/>
              </a:rPr>
              <a:t>•  End-to-end shipment visibility</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02 · LOGISTICS</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IoT for Logistics and Fleet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5989320"/>
            <a:ext cx="10634472" cy="411480"/>
          </a:xfrm>
          <a:prstGeom prst="rect">
            <a:avLst/>
          </a:prstGeom>
          <a:noFill/>
        </p:spPr>
        <p:txBody>
          <a:bodyPr wrap="square" anchor="t">
            <a:spAutoFit/>
          </a:bodyPr>
          <a:lstStyle/>
          <a:p>
            <a:pPr algn="ctr">
              <a:spcAft>
                <a:spcPts val="400"/>
              </a:spcAft>
            </a:pPr>
            <a:r>
              <a:rPr sz="1200" b="0">
                <a:solidFill>
                  <a:srgbClr val="5B6372"/>
                </a:solidFill>
                <a:latin typeface="Arial"/>
              </a:rPr>
              <a:t>Location, temperature and fuel telemetry give end-to-end shipment visibility.</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02 · SMART BUILDINGS</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IoT for Smart Buildings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5989320"/>
            <a:ext cx="10634472" cy="411480"/>
          </a:xfrm>
          <a:prstGeom prst="rect">
            <a:avLst/>
          </a:prstGeom>
          <a:noFill/>
        </p:spPr>
        <p:txBody>
          <a:bodyPr wrap="square" anchor="t">
            <a:spAutoFit/>
          </a:bodyPr>
          <a:lstStyle/>
          <a:p>
            <a:pPr algn="ctr">
              <a:spcAft>
                <a:spcPts val="400"/>
              </a:spcAft>
            </a:pPr>
            <a:r>
              <a:rPr sz="1200" b="0">
                <a:solidFill>
                  <a:srgbClr val="5B6372"/>
                </a:solidFill>
                <a:latin typeface="Arial"/>
              </a:rPr>
              <a:t>Occupancy, energy and equipment sensing cut utility cost and enable predictive maintenance.</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02 · HEALTHCARE</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IoT for Healthcare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5989320"/>
            <a:ext cx="10634472" cy="411480"/>
          </a:xfrm>
          <a:prstGeom prst="rect">
            <a:avLst/>
          </a:prstGeom>
          <a:noFill/>
        </p:spPr>
        <p:txBody>
          <a:bodyPr wrap="square" anchor="t">
            <a:spAutoFit/>
          </a:bodyPr>
          <a:lstStyle/>
          <a:p>
            <a:pPr algn="ctr">
              <a:spcAft>
                <a:spcPts val="400"/>
              </a:spcAft>
            </a:pPr>
            <a:r>
              <a:rPr sz="1200" b="0">
                <a:solidFill>
                  <a:srgbClr val="5B6372"/>
                </a:solidFill>
                <a:latin typeface="Arial"/>
              </a:rPr>
              <a:t>Continuous patient monitoring feeds the medical record and supports earlier intervention.</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02 · BUILT ENVIRONMENT, HEALTH &amp; AERIAL</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Use Case — Buildings, Healthcare &amp; Drones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Smart buildings</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Occupancy and energy sensing</a:t>
            </a:r>
          </a:p>
          <a:p>
            <a:pPr>
              <a:spcAft>
                <a:spcPts val="900"/>
              </a:spcAft>
            </a:pPr>
            <a:r>
              <a:rPr sz="1400" b="0">
                <a:solidFill>
                  <a:srgbClr val="161B26"/>
                </a:solidFill>
                <a:latin typeface="Arial"/>
              </a:rPr>
              <a:t>•  Predictive lift &amp; HVAC maintenance</a:t>
            </a:r>
          </a:p>
          <a:p>
            <a:pPr>
              <a:spcAft>
                <a:spcPts val="900"/>
              </a:spcAft>
            </a:pPr>
            <a:r>
              <a:rPr sz="1400" b="0">
                <a:solidFill>
                  <a:srgbClr val="161B26"/>
                </a:solidFill>
                <a:latin typeface="Arial"/>
              </a:rPr>
              <a:t>•  Smart washroom servicing on demand</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Healthcare &amp; wearables</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Continuous patient monitoring</a:t>
            </a:r>
          </a:p>
          <a:p>
            <a:pPr>
              <a:spcAft>
                <a:spcPts val="900"/>
              </a:spcAft>
            </a:pPr>
            <a:r>
              <a:rPr sz="1400" b="0">
                <a:solidFill>
                  <a:srgbClr val="161B26"/>
                </a:solidFill>
                <a:latin typeface="Arial"/>
              </a:rPr>
              <a:t>•  Philips: data feeds the EMR securely</a:t>
            </a:r>
          </a:p>
          <a:p>
            <a:pPr>
              <a:spcAft>
                <a:spcPts val="900"/>
              </a:spcAft>
            </a:pPr>
            <a:r>
              <a:rPr sz="1400" b="0">
                <a:solidFill>
                  <a:srgbClr val="161B26"/>
                </a:solidFill>
                <a:latin typeface="Arial"/>
              </a:rPr>
              <a:t>•  Earlier clinical intervention</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Drones</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Aerial inspection and survey</a:t>
            </a:r>
          </a:p>
          <a:p>
            <a:pPr>
              <a:spcAft>
                <a:spcPts val="900"/>
              </a:spcAft>
            </a:pPr>
            <a:r>
              <a:rPr sz="1400" b="0">
                <a:solidFill>
                  <a:srgbClr val="161B26"/>
                </a:solidFill>
                <a:latin typeface="Arial"/>
              </a:rPr>
              <a:t>•  Singapore offshore ship delivery</a:t>
            </a:r>
          </a:p>
          <a:p>
            <a:pPr>
              <a:spcAft>
                <a:spcPts val="900"/>
              </a:spcAft>
            </a:pPr>
            <a:r>
              <a:rPr sz="1400" b="0">
                <a:solidFill>
                  <a:srgbClr val="161B26"/>
                </a:solidFill>
                <a:latin typeface="Arial"/>
              </a:rPr>
              <a:t>•  Reaches where people cannot safely go</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A2 · A REPEATABLE METHOD</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How to Find an IoT Opportunity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1424" y="271576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142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Find a process that is invisible, manual or reactive today</a:t>
            </a:r>
          </a:p>
        </p:txBody>
      </p:sp>
      <p:sp>
        <p:nvSpPr>
          <p:cNvPr id="12" name="TextBox 11"/>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13" name="Rectangle 12"/>
          <p:cNvSpPr/>
          <p:nvPr/>
        </p:nvSpPr>
        <p:spPr>
          <a:xfrm>
            <a:off x="2966313"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66313" y="2331720"/>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30497" y="271576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30497"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3112617"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Decide what to MEASURE and how often</a:t>
            </a:r>
          </a:p>
        </p:txBody>
      </p:sp>
      <p:sp>
        <p:nvSpPr>
          <p:cNvPr id="18" name="TextBox 17"/>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19" name="Rectangle 18"/>
          <p:cNvSpPr/>
          <p:nvPr/>
        </p:nvSpPr>
        <p:spPr>
          <a:xfrm>
            <a:off x="5155386"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55386" y="2331720"/>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19570" y="271576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1957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5301690"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Decide who or what ACTS on that reading</a:t>
            </a:r>
          </a:p>
        </p:txBody>
      </p:sp>
      <p:sp>
        <p:nvSpPr>
          <p:cNvPr id="24" name="TextBox 23"/>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25" name="Rectangle 24"/>
          <p:cNvSpPr/>
          <p:nvPr/>
        </p:nvSpPr>
        <p:spPr>
          <a:xfrm>
            <a:off x="7344459"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4459" y="2331720"/>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8643" y="271576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86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7490763"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Quantify the cost of the current blind spot</a:t>
            </a:r>
          </a:p>
        </p:txBody>
      </p:sp>
      <p:sp>
        <p:nvSpPr>
          <p:cNvPr id="30" name="TextBox 29"/>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31" name="Rectangle 30"/>
          <p:cNvSpPr/>
          <p:nvPr/>
        </p:nvSpPr>
        <p:spPr>
          <a:xfrm>
            <a:off x="9533532"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33532" y="2331720"/>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97716" y="271576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9771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9679836"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Pilot on one asset before you scale</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TOPIC 02 · ACTIVITY</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Discussion — Spot an IoT Opportunity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2286000" cy="4572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2286000" cy="365760"/>
          </a:xfrm>
          <a:prstGeom prst="rect">
            <a:avLst/>
          </a:prstGeom>
          <a:noFill/>
        </p:spPr>
        <p:txBody>
          <a:bodyPr wrap="square" anchor="t">
            <a:spAutoFit/>
          </a:bodyPr>
          <a:lstStyle/>
          <a:p>
            <a:pPr algn="ctr">
              <a:spcAft>
                <a:spcPts val="400"/>
              </a:spcAft>
            </a:pPr>
            <a:r>
              <a:rPr sz="1300" b="1">
                <a:solidFill>
                  <a:srgbClr val="FFFFFF"/>
                </a:solidFill>
                <a:latin typeface="Arial"/>
              </a:rPr>
              <a:t>DISCUSSION · 15 MIN</a:t>
            </a:r>
          </a:p>
        </p:txBody>
      </p:sp>
      <p:sp>
        <p:nvSpPr>
          <p:cNvPr id="9" name="TextBox 8"/>
          <p:cNvSpPr txBox="1"/>
          <p:nvPr/>
        </p:nvSpPr>
        <p:spPr>
          <a:xfrm>
            <a:off x="777240" y="2377440"/>
            <a:ext cx="10698480" cy="868680"/>
          </a:xfrm>
          <a:prstGeom prst="rect">
            <a:avLst/>
          </a:prstGeom>
          <a:noFill/>
        </p:spPr>
        <p:txBody>
          <a:bodyPr wrap="square" anchor="t">
            <a:spAutoFit/>
          </a:bodyPr>
          <a:lstStyle/>
          <a:p>
            <a:pPr algn="l">
              <a:spcAft>
                <a:spcPts val="400"/>
              </a:spcAft>
            </a:pPr>
            <a:r>
              <a:rPr sz="1700" b="0">
                <a:solidFill>
                  <a:srgbClr val="161B26"/>
                </a:solidFill>
                <a:latin typeface="Arial"/>
              </a:rPr>
              <a:t>Working from the six industry use cases, identify one process in your own organisation that is currently invisible, manual or reactive, and could be sensed instead.</a:t>
            </a:r>
          </a:p>
        </p:txBody>
      </p:sp>
      <p:sp>
        <p:nvSpPr>
          <p:cNvPr id="10" name="Rectangle 9"/>
          <p:cNvSpPr/>
          <p:nvPr/>
        </p:nvSpPr>
        <p:spPr>
          <a:xfrm>
            <a:off x="777240" y="3429000"/>
            <a:ext cx="2475738"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3429000"/>
            <a:ext cx="2475738"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759077" y="3685032"/>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759077" y="3685032"/>
            <a:ext cx="512064" cy="512064"/>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923544" y="4325112"/>
            <a:ext cx="2183130" cy="777240"/>
          </a:xfrm>
          <a:prstGeom prst="rect">
            <a:avLst/>
          </a:prstGeom>
          <a:noFill/>
        </p:spPr>
        <p:txBody>
          <a:bodyPr wrap="square" anchor="t">
            <a:spAutoFit/>
          </a:bodyPr>
          <a:lstStyle/>
          <a:p>
            <a:pPr algn="ctr">
              <a:spcAft>
                <a:spcPts val="400"/>
              </a:spcAft>
            </a:pPr>
            <a:r>
              <a:rPr sz="1100" b="0">
                <a:solidFill>
                  <a:srgbClr val="161B26"/>
                </a:solidFill>
                <a:latin typeface="Arial"/>
              </a:rPr>
              <a:t>Which process today relies on someone physically checking something?</a:t>
            </a:r>
          </a:p>
        </p:txBody>
      </p:sp>
      <p:sp>
        <p:nvSpPr>
          <p:cNvPr id="15" name="Rectangle 14"/>
          <p:cNvSpPr/>
          <p:nvPr/>
        </p:nvSpPr>
        <p:spPr>
          <a:xfrm>
            <a:off x="3509010" y="3429000"/>
            <a:ext cx="2475738"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09010" y="3429000"/>
            <a:ext cx="247573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4490847" y="3685032"/>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90847" y="3685032"/>
            <a:ext cx="512064" cy="512064"/>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3655314" y="4325112"/>
            <a:ext cx="2183130" cy="777240"/>
          </a:xfrm>
          <a:prstGeom prst="rect">
            <a:avLst/>
          </a:prstGeom>
          <a:noFill/>
        </p:spPr>
        <p:txBody>
          <a:bodyPr wrap="square" anchor="t">
            <a:spAutoFit/>
          </a:bodyPr>
          <a:lstStyle/>
          <a:p>
            <a:pPr algn="ctr">
              <a:spcAft>
                <a:spcPts val="400"/>
              </a:spcAft>
            </a:pPr>
            <a:r>
              <a:rPr sz="1100" b="0">
                <a:solidFill>
                  <a:srgbClr val="161B26"/>
                </a:solidFill>
                <a:latin typeface="Arial"/>
              </a:rPr>
              <a:t>What would you measure, how often, and who would act on the reading?</a:t>
            </a:r>
          </a:p>
        </p:txBody>
      </p:sp>
      <p:sp>
        <p:nvSpPr>
          <p:cNvPr id="20" name="Rectangle 19"/>
          <p:cNvSpPr/>
          <p:nvPr/>
        </p:nvSpPr>
        <p:spPr>
          <a:xfrm>
            <a:off x="6240780" y="3429000"/>
            <a:ext cx="2475738"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40780" y="3429000"/>
            <a:ext cx="2475738"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222617" y="3685032"/>
            <a:ext cx="512064" cy="51206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22617" y="3685032"/>
            <a:ext cx="512064" cy="512064"/>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6387084" y="4325112"/>
            <a:ext cx="2183130" cy="777240"/>
          </a:xfrm>
          <a:prstGeom prst="rect">
            <a:avLst/>
          </a:prstGeom>
          <a:noFill/>
        </p:spPr>
        <p:txBody>
          <a:bodyPr wrap="square" anchor="t">
            <a:spAutoFit/>
          </a:bodyPr>
          <a:lstStyle/>
          <a:p>
            <a:pPr algn="ctr">
              <a:spcAft>
                <a:spcPts val="400"/>
              </a:spcAft>
            </a:pPr>
            <a:r>
              <a:rPr sz="1100" b="0">
                <a:solidFill>
                  <a:srgbClr val="161B26"/>
                </a:solidFill>
                <a:latin typeface="Arial"/>
              </a:rPr>
              <a:t>What is the cost of the current blind spot — downtime, spoilage, overtime, penalties?</a:t>
            </a:r>
          </a:p>
        </p:txBody>
      </p:sp>
      <p:sp>
        <p:nvSpPr>
          <p:cNvPr id="25" name="Rectangle 24"/>
          <p:cNvSpPr/>
          <p:nvPr/>
        </p:nvSpPr>
        <p:spPr>
          <a:xfrm>
            <a:off x="8972550" y="3429000"/>
            <a:ext cx="2475738"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72550" y="3429000"/>
            <a:ext cx="2475738"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954387" y="3685032"/>
            <a:ext cx="512064" cy="51206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954387" y="3685032"/>
            <a:ext cx="512064" cy="512064"/>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9118854" y="4325112"/>
            <a:ext cx="2183130" cy="777240"/>
          </a:xfrm>
          <a:prstGeom prst="rect">
            <a:avLst/>
          </a:prstGeom>
          <a:noFill/>
        </p:spPr>
        <p:txBody>
          <a:bodyPr wrap="square" anchor="t">
            <a:spAutoFit/>
          </a:bodyPr>
          <a:lstStyle/>
          <a:p>
            <a:pPr algn="ctr">
              <a:spcAft>
                <a:spcPts val="400"/>
              </a:spcAft>
            </a:pPr>
            <a:r>
              <a:rPr sz="1100" b="0">
                <a:solidFill>
                  <a:srgbClr val="161B26"/>
                </a:solidFill>
                <a:latin typeface="Arial"/>
              </a:rPr>
              <a:t>Which of the six use cases is closest to your scenario, and what can you borrow from it?</a:t>
            </a:r>
          </a:p>
        </p:txBody>
      </p:sp>
      <p:sp>
        <p:nvSpPr>
          <p:cNvPr id="30" name="Rectangle 29"/>
          <p:cNvSpPr/>
          <p:nvPr/>
        </p:nvSpPr>
        <p:spPr>
          <a:xfrm>
            <a:off x="777240" y="5440680"/>
            <a:ext cx="10671048" cy="566928"/>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5840" y="5440680"/>
            <a:ext cx="10241280" cy="566928"/>
          </a:xfrm>
          <a:prstGeom prst="rect">
            <a:avLst/>
          </a:prstGeom>
          <a:noFill/>
        </p:spPr>
        <p:txBody>
          <a:bodyPr wrap="square" anchor="ctr">
            <a:spAutoFit/>
          </a:bodyPr>
          <a:lstStyle/>
          <a:p>
            <a:pPr algn="l">
              <a:spcAft>
                <a:spcPts val="400"/>
              </a:spcAft>
            </a:pPr>
            <a:r>
              <a:rPr sz="1000" b="1">
                <a:solidFill>
                  <a:srgbClr val="127A3E"/>
                </a:solidFill>
                <a:latin typeface="Arial"/>
              </a:rPr>
              <a:t>YOUR OUTPUT   </a:t>
            </a:r>
            <a:r>
              <a:rPr sz="1200" b="0">
                <a:solidFill>
                  <a:srgbClr val="161B26"/>
                </a:solidFill>
                <a:latin typeface="Arial"/>
              </a:rPr>
              <a:t>One clearly stated IoT opportunity: the asset, the measurement, and the decision it improves.</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RECAP</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Recap — Potential Opportunities of IoT Innovation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IoT opportunities exist in every sector — agriculture, mobility, logistics, buildings, health and aerial.</a:t>
            </a:r>
          </a:p>
          <a:p>
            <a:pPr>
              <a:spcAft>
                <a:spcPts val="1000"/>
              </a:spcAft>
            </a:pPr>
            <a:r>
              <a:rPr sz="1700" b="0">
                <a:solidFill>
                  <a:srgbClr val="161B26"/>
                </a:solidFill>
                <a:latin typeface="Arial"/>
              </a:rPr>
              <a:t>•  The repeating pattern: sense what was invisible, then act on it automatically.</a:t>
            </a:r>
          </a:p>
          <a:p>
            <a:pPr>
              <a:spcAft>
                <a:spcPts val="1000"/>
              </a:spcAft>
            </a:pPr>
            <a:r>
              <a:rPr sz="1700" b="0">
                <a:solidFill>
                  <a:srgbClr val="161B26"/>
                </a:solidFill>
                <a:latin typeface="Arial"/>
              </a:rPr>
              <a:t>•  Borrow the pattern from an adjacent industry rather than inventing from scratch.</a:t>
            </a:r>
          </a:p>
          <a:p>
            <a:pPr>
              <a:spcAft>
                <a:spcPts val="1000"/>
              </a:spcAft>
            </a:pPr>
            <a:r>
              <a:rPr sz="1700" b="0">
                <a:solidFill>
                  <a:srgbClr val="161B26"/>
                </a:solidFill>
                <a:latin typeface="Arial"/>
              </a:rPr>
              <a:t>•  Start from the business pain and the cost of the blind spot, not from the technology.</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03</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IoT Technology</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Cloud platforms · Post data · Read &amp; control · Analytics &amp; visualisation · Automation</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03</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LO3 · A3, K2 · 60 min + 90 min practical</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Key Concepts — IoT Technology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Cloud for IoT</a:t>
            </a:r>
          </a:p>
          <a:p>
            <a:pPr algn="l">
              <a:spcAft>
                <a:spcPts val="300"/>
              </a:spcAft>
            </a:pPr>
            <a:r>
              <a:rPr sz="1100" b="0">
                <a:solidFill>
                  <a:srgbClr val="5B6372"/>
                </a:solidFill>
                <a:latin typeface="Arial"/>
              </a:rPr>
              <a:t>A platform ingests telemetry, stores history, visualises it and triggers actions — no servers to run.</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IoTFlow</a:t>
            </a:r>
          </a:p>
          <a:p>
            <a:pPr algn="l">
              <a:spcAft>
                <a:spcPts val="300"/>
              </a:spcAft>
            </a:pPr>
            <a:r>
              <a:rPr sz="1100" b="0">
                <a:solidFill>
                  <a:srgbClr val="5B6372"/>
                </a:solidFill>
                <a:latin typeface="Arial"/>
              </a:rPr>
              <a:t>Our platform: projects, devices, tokens, dashboards, alerts and automations in one place.</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Uplink: posting data</a:t>
            </a:r>
          </a:p>
          <a:p>
            <a:pPr algn="l">
              <a:spcAft>
                <a:spcPts val="300"/>
              </a:spcAft>
            </a:pPr>
            <a:r>
              <a:rPr sz="1100" b="0">
                <a:solidFill>
                  <a:srgbClr val="5B6372"/>
                </a:solidFill>
                <a:latin typeface="Arial"/>
              </a:rPr>
              <a:t>Devices POST readings over HTTP REST or publish over MQTT, authenticated by a device token.</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Downlink: control</a:t>
            </a:r>
          </a:p>
          <a:p>
            <a:pPr algn="l">
              <a:spcAft>
                <a:spcPts val="300"/>
              </a:spcAft>
            </a:pPr>
            <a:r>
              <a:rPr sz="1100" b="0">
                <a:solidFill>
                  <a:srgbClr val="5B6372"/>
                </a:solidFill>
                <a:latin typeface="Arial"/>
              </a:rPr>
              <a:t>Virtual pins carry commands from the dashboard back to the device to switch a relay or set a value.</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Analytics &amp; visualisation</a:t>
            </a:r>
          </a:p>
          <a:p>
            <a:pPr algn="l">
              <a:spcAft>
                <a:spcPts val="300"/>
              </a:spcAft>
            </a:pPr>
            <a:r>
              <a:rPr sz="1100" b="0">
                <a:solidFill>
                  <a:srgbClr val="5B6372"/>
                </a:solidFill>
                <a:latin typeface="Arial"/>
              </a:rPr>
              <a:t>Number cards, gauges, charts and maps turn raw readings into an operational picture.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Automation &amp; AI</a:t>
            </a:r>
          </a:p>
          <a:p>
            <a:pPr algn="l">
              <a:spcAft>
                <a:spcPts val="300"/>
              </a:spcAft>
            </a:pPr>
            <a:r>
              <a:rPr sz="1100" b="0">
                <a:solidFill>
                  <a:srgbClr val="5B6372"/>
                </a:solidFill>
                <a:latin typeface="Arial"/>
              </a:rPr>
              <a:t>Rules and n8n workflows notify, log and let AI summarise readings and recommend an action.</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THE CLOUD LAYER</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Cloud Computing for IoT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Why the cloud</a:t>
            </a:r>
          </a:p>
          <a:p>
            <a:pPr algn="l">
              <a:spcAft>
                <a:spcPts val="300"/>
              </a:spcAft>
            </a:pPr>
            <a:r>
              <a:rPr sz="1200" b="0">
                <a:solidFill>
                  <a:srgbClr val="5B6372"/>
                </a:solidFill>
                <a:latin typeface="Arial"/>
              </a:rPr>
              <a:t>Devices are small and intermittent; the cloud gives storage, compute and availability they cannot.</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What a platform does</a:t>
            </a:r>
          </a:p>
          <a:p>
            <a:pPr algn="l">
              <a:spcAft>
                <a:spcPts val="300"/>
              </a:spcAft>
            </a:pPr>
            <a:r>
              <a:rPr sz="1200" b="0">
                <a:solidFill>
                  <a:srgbClr val="5B6372"/>
                </a:solidFill>
                <a:latin typeface="Arial"/>
              </a:rPr>
              <a:t>Ingest telemetry, store history, visualise it, raise alerts and trigger actions.</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No servers to run</a:t>
            </a:r>
          </a:p>
          <a:p>
            <a:pPr algn="l">
              <a:spcAft>
                <a:spcPts val="300"/>
              </a:spcAft>
            </a:pPr>
            <a:r>
              <a:rPr sz="1200" b="0">
                <a:solidFill>
                  <a:srgbClr val="5B6372"/>
                </a:solidFill>
                <a:latin typeface="Arial"/>
              </a:rPr>
              <a:t>A managed IoT platform removes the infrastructure work so you focus on the business logic.</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Scales with you</a:t>
            </a:r>
          </a:p>
          <a:p>
            <a:pPr algn="l">
              <a:spcAft>
                <a:spcPts val="300"/>
              </a:spcAft>
            </a:pPr>
            <a:r>
              <a:rPr sz="1200" b="0">
                <a:solidFill>
                  <a:srgbClr val="5B6372"/>
                </a:solidFill>
                <a:latin typeface="Arial"/>
              </a:rPr>
              <a:t>One device or ten thousand — the same architecture, priced by what you actually use.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03 · THE CLOUD LAYER</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Cloud Computing for IoT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5989320"/>
            <a:ext cx="10634472" cy="411480"/>
          </a:xfrm>
          <a:prstGeom prst="rect">
            <a:avLst/>
          </a:prstGeom>
          <a:noFill/>
        </p:spPr>
        <p:txBody>
          <a:bodyPr wrap="square" anchor="t">
            <a:spAutoFit/>
          </a:bodyPr>
          <a:lstStyle/>
          <a:p>
            <a:pPr algn="ctr">
              <a:spcAft>
                <a:spcPts val="400"/>
              </a:spcAft>
            </a:pPr>
            <a:r>
              <a:rPr sz="1200" b="0">
                <a:solidFill>
                  <a:srgbClr val="5B6372"/>
                </a:solidFill>
                <a:latin typeface="Arial"/>
              </a:rPr>
              <a:t>The cloud gives constrained devices the storage, compute and availability they lack.</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03 · OUR PLATFORM</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IoTFlow — https://iot.tertiaryinfotech.com</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5989320"/>
            <a:ext cx="10634472" cy="411480"/>
          </a:xfrm>
          <a:prstGeom prst="rect">
            <a:avLst/>
          </a:prstGeom>
          <a:noFill/>
        </p:spPr>
        <p:txBody>
          <a:bodyPr wrap="square" anchor="t">
            <a:spAutoFit/>
          </a:bodyPr>
          <a:lstStyle/>
          <a:p>
            <a:pPr algn="ctr">
              <a:spcAft>
                <a:spcPts val="400"/>
              </a:spcAft>
            </a:pPr>
            <a:r>
              <a:rPr sz="1200" b="0">
                <a:solidFill>
                  <a:srgbClr val="5B6372"/>
                </a:solidFill>
                <a:latin typeface="Arial"/>
              </a:rPr>
              <a:t>The platform you will use for every lab in this course.</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https://iot.tertiaryinfotech.com</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IoTFlow — Our IoT Platform</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Projects</a:t>
            </a:r>
          </a:p>
          <a:p>
            <a:pPr algn="l">
              <a:spcAft>
                <a:spcPts val="300"/>
              </a:spcAft>
            </a:pPr>
            <a:r>
              <a:rPr sz="1100" b="0">
                <a:solidFill>
                  <a:srgbClr val="5B6372"/>
                </a:solidFill>
                <a:latin typeface="Arial"/>
              </a:rPr>
              <a:t>A self-contained workspace with its own devices, dashboard, alerts, map and automations.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Devices &amp; tokens</a:t>
            </a:r>
          </a:p>
          <a:p>
            <a:pPr algn="l">
              <a:spcAft>
                <a:spcPts val="300"/>
              </a:spcAft>
            </a:pPr>
            <a:r>
              <a:rPr sz="1100" b="0">
                <a:solidFill>
                  <a:srgbClr val="5B6372"/>
                </a:solidFill>
                <a:latin typeface="Arial"/>
              </a:rPr>
              <a:t>Register a device in a guided wizard; a device token authenticates every message it sends.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HTTP &amp; MQTT</a:t>
            </a:r>
          </a:p>
          <a:p>
            <a:pPr algn="l">
              <a:spcAft>
                <a:spcPts val="300"/>
              </a:spcAft>
            </a:pPr>
            <a:r>
              <a:rPr sz="1100" b="0">
                <a:solidFill>
                  <a:srgbClr val="5B6372"/>
                </a:solidFill>
                <a:latin typeface="Arial"/>
              </a:rPr>
              <a:t>POST JSON to a REST endpoint, or publish/subscribe over MQTT for real-time two-way traffic.</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Dashboards</a:t>
            </a:r>
          </a:p>
          <a:p>
            <a:pPr algn="l">
              <a:spcAft>
                <a:spcPts val="300"/>
              </a:spcAft>
            </a:pPr>
            <a:r>
              <a:rPr sz="1100" b="0">
                <a:solidFill>
                  <a:srgbClr val="5B6372"/>
                </a:solidFill>
                <a:latin typeface="Arial"/>
              </a:rPr>
              <a:t>Number cards, gauges, charts, LED indicators and maps that refresh automatically.</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Alerts &amp; automations</a:t>
            </a:r>
          </a:p>
          <a:p>
            <a:pPr algn="l">
              <a:spcAft>
                <a:spcPts val="300"/>
              </a:spcAft>
            </a:pPr>
            <a:r>
              <a:rPr sz="1100" b="0">
                <a:solidFill>
                  <a:srgbClr val="5B6372"/>
                </a:solidFill>
                <a:latin typeface="Arial"/>
              </a:rPr>
              <a:t>Threshold and offline rules that fire a webhook into an n8n workflow.</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Clients</a:t>
            </a:r>
          </a:p>
          <a:p>
            <a:pPr algn="l">
              <a:spcAft>
                <a:spcPts val="300"/>
              </a:spcAft>
            </a:pPr>
            <a:r>
              <a:rPr sz="1100" b="0">
                <a:solidFill>
                  <a:srgbClr val="5B6372"/>
                </a:solidFill>
                <a:latin typeface="Arial"/>
              </a:rPr>
              <a:t>Official Python client (pip install iotflow) and an Arduino library for ESP32/ESP8266.</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A3 · HOW DIGITISATION REACHES THE BUSINESS</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The IoT Data Round Trip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1424"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142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DEVICE reads a sensor value</a:t>
            </a:r>
          </a:p>
        </p:txBody>
      </p:sp>
      <p:sp>
        <p:nvSpPr>
          <p:cNvPr id="12" name="TextBox 11"/>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3" name="Rectangle 12"/>
          <p:cNvSpPr/>
          <p:nvPr/>
        </p:nvSpPr>
        <p:spPr>
          <a:xfrm>
            <a:off x="2966313"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66313"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30497"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30497"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3112617"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UPLINK posts it over HTTP or MQTT</a:t>
            </a:r>
          </a:p>
        </p:txBody>
      </p:sp>
      <p:sp>
        <p:nvSpPr>
          <p:cNvPr id="18" name="TextBox 17"/>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9" name="Rectangle 18"/>
          <p:cNvSpPr/>
          <p:nvPr/>
        </p:nvSpPr>
        <p:spPr>
          <a:xfrm>
            <a:off x="5155386"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55386"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19570"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1957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5301690"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CLOUD stores, charts and evaluates rules</a:t>
            </a:r>
          </a:p>
        </p:txBody>
      </p:sp>
      <p:sp>
        <p:nvSpPr>
          <p:cNvPr id="24" name="TextBox 23"/>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25" name="Rectangle 24"/>
          <p:cNvSpPr/>
          <p:nvPr/>
        </p:nvSpPr>
        <p:spPr>
          <a:xfrm>
            <a:off x="7344459"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4459"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8643"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86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7490763"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DECISION — a person or an automation acts</a:t>
            </a:r>
          </a:p>
        </p:txBody>
      </p:sp>
      <p:sp>
        <p:nvSpPr>
          <p:cNvPr id="30" name="TextBox 29"/>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31" name="Rectangle 30"/>
          <p:cNvSpPr/>
          <p:nvPr/>
        </p:nvSpPr>
        <p:spPr>
          <a:xfrm>
            <a:off x="9533532"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33532"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97716"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9771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9679836"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DOWNLINK sends a command back to the device</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03 · PROTOCOLS</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How MQTT Works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5989320"/>
            <a:ext cx="10634472" cy="411480"/>
          </a:xfrm>
          <a:prstGeom prst="rect">
            <a:avLst/>
          </a:prstGeom>
          <a:noFill/>
        </p:spPr>
        <p:txBody>
          <a:bodyPr wrap="square" anchor="t">
            <a:spAutoFit/>
          </a:bodyPr>
          <a:lstStyle/>
          <a:p>
            <a:pPr algn="ctr">
              <a:spcAft>
                <a:spcPts val="400"/>
              </a:spcAft>
            </a:pPr>
            <a:r>
              <a:rPr sz="1200" b="0">
                <a:solidFill>
                  <a:srgbClr val="5B6372"/>
                </a:solidFill>
                <a:latin typeface="Arial"/>
              </a:rPr>
              <a:t>Publish/subscribe: devices publish to a topic and the broker delivers to every subscriber.</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TWO DIRECTIONS, TWO PURPOSES</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Uplink vs Downlink</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Monitoring</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Control</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161B26"/>
                </a:solidFill>
                <a:latin typeface="Arial"/>
              </a:rPr>
              <a:t>•  Uplink — telemetry</a:t>
            </a:r>
          </a:p>
          <a:p>
            <a:pPr>
              <a:spcAft>
                <a:spcPts val="1000"/>
              </a:spcAft>
            </a:pPr>
            <a:r>
              <a:rPr sz="1400" b="0">
                <a:solidFill>
                  <a:srgbClr val="5B6372"/>
                </a:solidFill>
                <a:latin typeface="Arial"/>
              </a:rPr>
              <a:t>–  Device → cloud</a:t>
            </a:r>
          </a:p>
          <a:p>
            <a:pPr>
              <a:spcAft>
                <a:spcPts val="1000"/>
              </a:spcAft>
            </a:pPr>
            <a:r>
              <a:rPr sz="1400" b="0">
                <a:solidFill>
                  <a:srgbClr val="5B6372"/>
                </a:solidFill>
                <a:latin typeface="Arial"/>
              </a:rPr>
              <a:t>–  Sensor readings and status</a:t>
            </a:r>
          </a:p>
          <a:p>
            <a:pPr>
              <a:spcAft>
                <a:spcPts val="1000"/>
              </a:spcAft>
            </a:pPr>
            <a:r>
              <a:rPr sz="1400" b="0">
                <a:solidFill>
                  <a:srgbClr val="5B6372"/>
                </a:solidFill>
                <a:latin typeface="Arial"/>
              </a:rPr>
              <a:t>–  HTTP POST /api/telemetry</a:t>
            </a:r>
          </a:p>
          <a:p>
            <a:pPr>
              <a:spcAft>
                <a:spcPts val="1000"/>
              </a:spcAft>
            </a:pPr>
            <a:r>
              <a:rPr sz="1400" b="0">
                <a:solidFill>
                  <a:srgbClr val="5B6372"/>
                </a:solidFill>
                <a:latin typeface="Arial"/>
              </a:rPr>
              <a:t>–  or MQTT publish</a:t>
            </a:r>
          </a:p>
          <a:p>
            <a:pPr>
              <a:spcAft>
                <a:spcPts val="1000"/>
              </a:spcAft>
            </a:pPr>
            <a:r>
              <a:rPr sz="1400" b="0">
                <a:solidFill>
                  <a:srgbClr val="5B6372"/>
                </a:solidFill>
                <a:latin typeface="Arial"/>
              </a:rPr>
              <a:t>–  This is your monitoring data</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161B26"/>
                </a:solidFill>
                <a:latin typeface="Arial"/>
              </a:rPr>
              <a:t>•  Downlink — commands</a:t>
            </a:r>
          </a:p>
          <a:p>
            <a:pPr>
              <a:spcAft>
                <a:spcPts val="1000"/>
              </a:spcAft>
            </a:pPr>
            <a:r>
              <a:rPr sz="1400" b="0">
                <a:solidFill>
                  <a:srgbClr val="5B6372"/>
                </a:solidFill>
                <a:latin typeface="Arial"/>
              </a:rPr>
              <a:t>–  Cloud → device</a:t>
            </a:r>
          </a:p>
          <a:p>
            <a:pPr>
              <a:spcAft>
                <a:spcPts val="1000"/>
              </a:spcAft>
            </a:pPr>
            <a:r>
              <a:rPr sz="1400" b="0">
                <a:solidFill>
                  <a:srgbClr val="5B6372"/>
                </a:solidFill>
                <a:latin typeface="Arial"/>
              </a:rPr>
              <a:t>–  Switch a relay, set a value</a:t>
            </a:r>
          </a:p>
          <a:p>
            <a:pPr>
              <a:spcAft>
                <a:spcPts val="1000"/>
              </a:spcAft>
            </a:pPr>
            <a:r>
              <a:rPr sz="1400" b="0">
                <a:solidFill>
                  <a:srgbClr val="5B6372"/>
                </a:solidFill>
                <a:latin typeface="Arial"/>
              </a:rPr>
              <a:t>–  MQTT topic devices/&lt;id&gt;/down</a:t>
            </a:r>
          </a:p>
          <a:p>
            <a:pPr>
              <a:spcAft>
                <a:spcPts val="1000"/>
              </a:spcAft>
            </a:pPr>
            <a:r>
              <a:rPr sz="1400" b="0">
                <a:solidFill>
                  <a:srgbClr val="5B6372"/>
                </a:solidFill>
                <a:latin typeface="Arial"/>
              </a:rPr>
              <a:t>–  or HTTP state polling</a:t>
            </a:r>
          </a:p>
          <a:p>
            <a:pPr>
              <a:spcAft>
                <a:spcPts val="1000"/>
              </a:spcAft>
            </a:pPr>
            <a:r>
              <a:rPr sz="1400" b="0">
                <a:solidFill>
                  <a:srgbClr val="5B6372"/>
                </a:solidFill>
                <a:latin typeface="Arial"/>
              </a:rPr>
              <a:t>–  This is your automation</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ANALYTICS, VISUALISATION &amp; AUTOMATION</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Turning Data into Business Insight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Visualise</a:t>
            </a:r>
          </a:p>
          <a:p>
            <a:pPr algn="l">
              <a:spcAft>
                <a:spcPts val="300"/>
              </a:spcAft>
            </a:pPr>
            <a:r>
              <a:rPr sz="1100" b="0">
                <a:solidFill>
                  <a:srgbClr val="5B6372"/>
                </a:solidFill>
                <a:latin typeface="Arial"/>
              </a:rPr>
              <a:t>Number cards, gauges, line charts and maps make current performance obvious at a glance.</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Detect</a:t>
            </a:r>
          </a:p>
          <a:p>
            <a:pPr algn="l">
              <a:spcAft>
                <a:spcPts val="300"/>
              </a:spcAft>
            </a:pPr>
            <a:r>
              <a:rPr sz="1100" b="0">
                <a:solidFill>
                  <a:srgbClr val="5B6372"/>
                </a:solidFill>
                <a:latin typeface="Arial"/>
              </a:rPr>
              <a:t>Alert rules fire the moment a reading crosses a business-meaningful threshold.</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Notify</a:t>
            </a:r>
          </a:p>
          <a:p>
            <a:pPr algn="l">
              <a:spcAft>
                <a:spcPts val="300"/>
              </a:spcAft>
            </a:pPr>
            <a:r>
              <a:rPr sz="1100" b="0">
                <a:solidFill>
                  <a:srgbClr val="5B6372"/>
                </a:solidFill>
                <a:latin typeface="Arial"/>
              </a:rPr>
              <a:t>Automations push the event to email, Telegram or WhatsApp so the right person knows.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Record</a:t>
            </a:r>
          </a:p>
          <a:p>
            <a:pPr algn="l">
              <a:spcAft>
                <a:spcPts val="300"/>
              </a:spcAft>
            </a:pPr>
            <a:r>
              <a:rPr sz="1100" b="0">
                <a:solidFill>
                  <a:srgbClr val="5B6372"/>
                </a:solidFill>
                <a:latin typeface="Arial"/>
              </a:rPr>
              <a:t>Append every event to a sheet or database to build the history the business case needs.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Analyse with AI</a:t>
            </a:r>
          </a:p>
          <a:p>
            <a:pPr algn="l">
              <a:spcAft>
                <a:spcPts val="300"/>
              </a:spcAft>
            </a:pPr>
            <a:r>
              <a:rPr sz="1100" b="0">
                <a:solidFill>
                  <a:srgbClr val="5B6372"/>
                </a:solidFill>
                <a:latin typeface="Arial"/>
              </a:rPr>
              <a:t>An AI node summarises recent readings and recommends an action in plain language.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Act automatically</a:t>
            </a:r>
          </a:p>
          <a:p>
            <a:pPr algn="l">
              <a:spcAft>
                <a:spcPts val="300"/>
              </a:spcAft>
            </a:pPr>
            <a:r>
              <a:rPr sz="1100" b="0">
                <a:solidFill>
                  <a:srgbClr val="5B6372"/>
                </a:solidFill>
                <a:latin typeface="Arial"/>
              </a:rPr>
              <a:t>Close the loop — send a command back to the device with no human in the middle.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0B981"/>
                </a:solidFill>
                <a:latin typeface="Arial"/>
              </a:rPr>
              <a:t>TOPIC 03 · PRACTICAL</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Hands-On Practical — 90 minutes</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Four labs on IoTFlow (https://iot.tertiaryinfotech.com). Step-by-step instructions are in your Learner Guide — follow along there.</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YOU'LL DO</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Hands-On Labs — IoT Technology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Labs 1–2</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Register your first IoT device</a:t>
            </a:r>
          </a:p>
          <a:p>
            <a:pPr>
              <a:spcAft>
                <a:spcPts val="900"/>
              </a:spcAft>
            </a:pPr>
            <a:r>
              <a:rPr sz="1400" b="0">
                <a:solidFill>
                  <a:srgbClr val="161B26"/>
                </a:solidFill>
                <a:latin typeface="Arial"/>
              </a:rPr>
              <a:t>•  Post business data to the cloud</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Lab 3</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Read data back</a:t>
            </a:r>
          </a:p>
          <a:p>
            <a:pPr>
              <a:spcAft>
                <a:spcPts val="900"/>
              </a:spcAft>
            </a:pPr>
            <a:r>
              <a:rPr sz="1400" b="0">
                <a:solidFill>
                  <a:srgbClr val="161B26"/>
                </a:solidFill>
                <a:latin typeface="Arial"/>
              </a:rPr>
              <a:t>•  Remotely control the asset</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Lab 4</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Dashboard, alerts &amp; AI automation</a:t>
            </a:r>
          </a:p>
          <a:p>
            <a:pPr>
              <a:spcAft>
                <a:spcPts val="900"/>
              </a:spcAft>
            </a:pPr>
            <a:r>
              <a:rPr sz="1400" b="0">
                <a:solidFill>
                  <a:srgbClr val="161B26"/>
                </a:solidFill>
                <a:latin typeface="Arial"/>
              </a:rPr>
              <a:t>•  Turn data into a decision</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03 · HANDS-ON</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Register Your First IoT Device on IoTFlow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60020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600200" cy="365760"/>
          </a:xfrm>
          <a:prstGeom prst="rect">
            <a:avLst/>
          </a:prstGeom>
          <a:noFill/>
        </p:spPr>
        <p:txBody>
          <a:bodyPr wrap="square" anchor="t">
            <a:spAutoFit/>
          </a:bodyPr>
          <a:lstStyle/>
          <a:p>
            <a:pPr algn="ctr">
              <a:spcAft>
                <a:spcPts val="400"/>
              </a:spcAft>
            </a:pPr>
            <a:r>
              <a:rPr sz="1600" b="1">
                <a:solidFill>
                  <a:srgbClr val="FFFFFF"/>
                </a:solidFill>
                <a:latin typeface="Arial"/>
              </a:rPr>
              <a:t>LAB 1</a:t>
            </a:r>
          </a:p>
        </p:txBody>
      </p:sp>
      <p:sp>
        <p:nvSpPr>
          <p:cNvPr id="9" name="TextBox 8"/>
          <p:cNvSpPr txBox="1"/>
          <p:nvPr/>
        </p:nvSpPr>
        <p:spPr>
          <a:xfrm>
            <a:off x="2560320" y="1709928"/>
            <a:ext cx="8869680" cy="502920"/>
          </a:xfrm>
          <a:prstGeom prst="rect">
            <a:avLst/>
          </a:prstGeom>
          <a:noFill/>
        </p:spPr>
        <p:txBody>
          <a:bodyPr wrap="square" anchor="ctr">
            <a:spAutoFit/>
          </a:bodyPr>
          <a:lstStyle/>
          <a:p>
            <a:pPr algn="l">
              <a:spcAft>
                <a:spcPts val="400"/>
              </a:spcAft>
            </a:pPr>
            <a:r>
              <a:rPr sz="1300" b="0">
                <a:solidFill>
                  <a:srgbClr val="5B6372"/>
                </a:solidFill>
                <a:latin typeface="Arial"/>
              </a:rPr>
              <a:t>Identify how digitisation is applied to a business asset by connecting it to the cloud (A3, K2).</a:t>
            </a:r>
          </a:p>
        </p:txBody>
      </p:sp>
      <p:sp>
        <p:nvSpPr>
          <p:cNvPr id="10" name="TextBox 9"/>
          <p:cNvSpPr txBox="1"/>
          <p:nvPr/>
        </p:nvSpPr>
        <p:spPr>
          <a:xfrm>
            <a:off x="777240" y="2331720"/>
            <a:ext cx="10698480" cy="1143000"/>
          </a:xfrm>
          <a:prstGeom prst="rect">
            <a:avLst/>
          </a:prstGeom>
          <a:noFill/>
        </p:spPr>
        <p:txBody>
          <a:bodyPr wrap="square" anchor="t">
            <a:spAutoFit/>
          </a:bodyPr>
          <a:lstStyle/>
          <a:p>
            <a:pPr algn="l">
              <a:spcAft>
                <a:spcPts val="400"/>
              </a:spcAft>
            </a:pPr>
            <a:r>
              <a:rPr sz="1700" b="0">
                <a:solidFill>
                  <a:srgbClr val="161B26"/>
                </a:solidFill>
                <a:latin typeface="Arial"/>
              </a:rPr>
              <a:t>Turn a physical asset into a digital one. You sign in to IoTFlow, create a project workspace for your business scenario, register a device through the Add Device wizard, choose how it will talk to the cloud (HTTP or MQTT), and capture the device token that authenticates every message it sends.</a:t>
            </a:r>
          </a:p>
        </p:txBody>
      </p:sp>
      <p:sp>
        <p:nvSpPr>
          <p:cNvPr id="11" name="Rectangle 10"/>
          <p:cNvSpPr/>
          <p:nvPr/>
        </p:nvSpPr>
        <p:spPr>
          <a:xfrm>
            <a:off x="777240" y="3611880"/>
            <a:ext cx="5230368" cy="1600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611880"/>
            <a:ext cx="5230368"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3813048"/>
            <a:ext cx="4754880" cy="320040"/>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1005840" y="4160520"/>
            <a:ext cx="4800600" cy="960120"/>
          </a:xfrm>
          <a:prstGeom prst="rect">
            <a:avLst/>
          </a:prstGeom>
          <a:noFill/>
        </p:spPr>
        <p:txBody>
          <a:bodyPr wrap="square" anchor="t">
            <a:spAutoFit/>
          </a:bodyPr>
          <a:lstStyle/>
          <a:p>
            <a:pPr algn="l">
              <a:spcAft>
                <a:spcPts val="400"/>
              </a:spcAft>
            </a:pPr>
            <a:r>
              <a:rPr sz="1500" b="1">
                <a:solidFill>
                  <a:srgbClr val="161B26"/>
                </a:solidFill>
                <a:latin typeface="Arial"/>
              </a:rPr>
              <a:t>A registered IoT device in your own IoTFlow project, with its device token saved</a:t>
            </a:r>
          </a:p>
        </p:txBody>
      </p:sp>
      <p:sp>
        <p:nvSpPr>
          <p:cNvPr id="15" name="Rectangle 14"/>
          <p:cNvSpPr/>
          <p:nvPr/>
        </p:nvSpPr>
        <p:spPr>
          <a:xfrm>
            <a:off x="6217920" y="3611880"/>
            <a:ext cx="5230368" cy="1600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17920" y="3611880"/>
            <a:ext cx="5230368"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46520" y="3813048"/>
            <a:ext cx="4754880" cy="320040"/>
          </a:xfrm>
          <a:prstGeom prst="rect">
            <a:avLst/>
          </a:prstGeom>
          <a:noFill/>
        </p:spPr>
        <p:txBody>
          <a:bodyPr wrap="square" anchor="t">
            <a:spAutoFit/>
          </a:bodyPr>
          <a:lstStyle/>
          <a:p>
            <a:pPr algn="l">
              <a:spcAft>
                <a:spcPts val="400"/>
              </a:spcAft>
            </a:pPr>
            <a:r>
              <a:rPr sz="1100" b="1">
                <a:solidFill>
                  <a:srgbClr val="7C3AED"/>
                </a:solidFill>
                <a:latin typeface="Arial"/>
              </a:rPr>
              <a:t>WHY THE BUSINESS CARES</a:t>
            </a:r>
          </a:p>
        </p:txBody>
      </p:sp>
      <p:sp>
        <p:nvSpPr>
          <p:cNvPr id="18" name="TextBox 17"/>
          <p:cNvSpPr txBox="1"/>
          <p:nvPr/>
        </p:nvSpPr>
        <p:spPr>
          <a:xfrm>
            <a:off x="6446520" y="4160520"/>
            <a:ext cx="4800600" cy="960120"/>
          </a:xfrm>
          <a:prstGeom prst="rect">
            <a:avLst/>
          </a:prstGeom>
          <a:noFill/>
        </p:spPr>
        <p:txBody>
          <a:bodyPr wrap="square" anchor="t">
            <a:spAutoFit/>
          </a:bodyPr>
          <a:lstStyle/>
          <a:p>
            <a:pPr algn="l">
              <a:spcAft>
                <a:spcPts val="400"/>
              </a:spcAft>
            </a:pPr>
            <a:r>
              <a:rPr sz="1300" b="0">
                <a:solidFill>
                  <a:srgbClr val="5B6372"/>
                </a:solidFill>
                <a:latin typeface="Arial"/>
              </a:rPr>
              <a:t>This is the first step of digitisation: an asset that was previously invisible to the business now has an identity, an owner and a data stream that can be measured and managed.</a:t>
            </a:r>
          </a:p>
        </p:txBody>
      </p:sp>
      <p:sp>
        <p:nvSpPr>
          <p:cNvPr id="19" name="Rectangle 18"/>
          <p:cNvSpPr/>
          <p:nvPr/>
        </p:nvSpPr>
        <p:spPr>
          <a:xfrm>
            <a:off x="777240" y="5440680"/>
            <a:ext cx="10671048" cy="566928"/>
          </a:xfrm>
          <a:prstGeom prst="rect">
            <a:avLst/>
          </a:prstGeom>
          <a:solidFill>
            <a:srgbClr val="EEF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05840" y="5440680"/>
            <a:ext cx="10241280" cy="566928"/>
          </a:xfrm>
          <a:prstGeom prst="rect">
            <a:avLst/>
          </a:prstGeom>
          <a:noFill/>
        </p:spPr>
        <p:txBody>
          <a:bodyPr wrap="square" anchor="ctr">
            <a:spAutoFit/>
          </a:bodyPr>
          <a:lstStyle/>
          <a:p>
            <a:pPr algn="l">
              <a:spcAft>
                <a:spcPts val="400"/>
              </a:spcAft>
            </a:pPr>
            <a:r>
              <a:rPr sz="1000" b="1">
                <a:solidFill>
                  <a:srgbClr val="1F6FEB"/>
                </a:solidFill>
                <a:latin typeface="Arial"/>
              </a:rPr>
              <a:t>TOOLS   </a:t>
            </a:r>
            <a:r>
              <a:rPr sz="1200" b="0">
                <a:solidFill>
                  <a:srgbClr val="5B6372"/>
                </a:solidFill>
                <a:latin typeface="Arial"/>
              </a:rPr>
              <a:t>IoTFlow projects · Add Device wizard · Device tokens · HTTP &amp; MQTT</a:t>
            </a:r>
          </a:p>
        </p:txBody>
      </p:sp>
      <p:sp>
        <p:nvSpPr>
          <p:cNvPr id="21" name="TextBox 2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22" name="TextBox 2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3" name="TextBox 2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03 · WHAT YOU'LL SEE</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Lab 1 — Register Your First IoT Device on IoTFlow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5989320"/>
            <a:ext cx="10634472" cy="411480"/>
          </a:xfrm>
          <a:prstGeom prst="rect">
            <a:avLst/>
          </a:prstGeom>
          <a:noFill/>
        </p:spPr>
        <p:txBody>
          <a:bodyPr wrap="square" anchor="t">
            <a:spAutoFit/>
          </a:bodyPr>
          <a:lstStyle/>
          <a:p>
            <a:pPr algn="ctr">
              <a:spcAft>
                <a:spcPts val="400"/>
              </a:spcAft>
            </a:pPr>
            <a:r>
              <a:rPr sz="1200" b="0">
                <a:solidFill>
                  <a:srgbClr val="5B6372"/>
                </a:solidFill>
                <a:latin typeface="Arial"/>
              </a:rPr>
              <a:t>IoTFlow — A registered IoT device in your own IoTFlow project, with its device token saved</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03 · HANDS-ON</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Post Business Data to the Cloud (HTTP &amp; MQTT)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60020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600200" cy="365760"/>
          </a:xfrm>
          <a:prstGeom prst="rect">
            <a:avLst/>
          </a:prstGeom>
          <a:noFill/>
        </p:spPr>
        <p:txBody>
          <a:bodyPr wrap="square" anchor="t">
            <a:spAutoFit/>
          </a:bodyPr>
          <a:lstStyle/>
          <a:p>
            <a:pPr algn="ctr">
              <a:spcAft>
                <a:spcPts val="400"/>
              </a:spcAft>
            </a:pPr>
            <a:r>
              <a:rPr sz="1600" b="1">
                <a:solidFill>
                  <a:srgbClr val="FFFFFF"/>
                </a:solidFill>
                <a:latin typeface="Arial"/>
              </a:rPr>
              <a:t>LAB 2</a:t>
            </a:r>
          </a:p>
        </p:txBody>
      </p:sp>
      <p:sp>
        <p:nvSpPr>
          <p:cNvPr id="9" name="TextBox 8"/>
          <p:cNvSpPr txBox="1"/>
          <p:nvPr/>
        </p:nvSpPr>
        <p:spPr>
          <a:xfrm>
            <a:off x="2560320" y="1709928"/>
            <a:ext cx="8869680" cy="502920"/>
          </a:xfrm>
          <a:prstGeom prst="rect">
            <a:avLst/>
          </a:prstGeom>
          <a:noFill/>
        </p:spPr>
        <p:txBody>
          <a:bodyPr wrap="square" anchor="ctr">
            <a:spAutoFit/>
          </a:bodyPr>
          <a:lstStyle/>
          <a:p>
            <a:pPr algn="l">
              <a:spcAft>
                <a:spcPts val="400"/>
              </a:spcAft>
            </a:pPr>
            <a:r>
              <a:rPr sz="1300" b="0">
                <a:solidFill>
                  <a:srgbClr val="5B6372"/>
                </a:solidFill>
                <a:latin typeface="Arial"/>
              </a:rPr>
              <a:t>Apply digitisation by streaming operational data from the asset to the cloud (A3, K2).</a:t>
            </a:r>
          </a:p>
        </p:txBody>
      </p:sp>
      <p:sp>
        <p:nvSpPr>
          <p:cNvPr id="10" name="TextBox 9"/>
          <p:cNvSpPr txBox="1"/>
          <p:nvPr/>
        </p:nvSpPr>
        <p:spPr>
          <a:xfrm>
            <a:off x="777240" y="2331720"/>
            <a:ext cx="10698480" cy="1143000"/>
          </a:xfrm>
          <a:prstGeom prst="rect">
            <a:avLst/>
          </a:prstGeom>
          <a:noFill/>
        </p:spPr>
        <p:txBody>
          <a:bodyPr wrap="square" anchor="t">
            <a:spAutoFit/>
          </a:bodyPr>
          <a:lstStyle/>
          <a:p>
            <a:pPr algn="l">
              <a:spcAft>
                <a:spcPts val="400"/>
              </a:spcAft>
            </a:pPr>
            <a:r>
              <a:rPr sz="1700" b="0">
                <a:solidFill>
                  <a:srgbClr val="161B26"/>
                </a:solidFill>
                <a:latin typeface="Arial"/>
              </a:rPr>
              <a:t>Send readings to IoTFlow three different ways — cURL from any terminal, the Python client, and (optionally) an ESP32/ESP8266 over MQTT — and watch them arrive live. This is the uplink that every IoT business case depends on: without a reliable data stream there is nothing to analyse.</a:t>
            </a:r>
          </a:p>
        </p:txBody>
      </p:sp>
      <p:sp>
        <p:nvSpPr>
          <p:cNvPr id="11" name="Rectangle 10"/>
          <p:cNvSpPr/>
          <p:nvPr/>
        </p:nvSpPr>
        <p:spPr>
          <a:xfrm>
            <a:off x="777240" y="3611880"/>
            <a:ext cx="5230368" cy="1600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611880"/>
            <a:ext cx="5230368"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3813048"/>
            <a:ext cx="4754880" cy="320040"/>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1005840" y="4160520"/>
            <a:ext cx="4800600" cy="960120"/>
          </a:xfrm>
          <a:prstGeom prst="rect">
            <a:avLst/>
          </a:prstGeom>
          <a:noFill/>
        </p:spPr>
        <p:txBody>
          <a:bodyPr wrap="square" anchor="t">
            <a:spAutoFit/>
          </a:bodyPr>
          <a:lstStyle/>
          <a:p>
            <a:pPr algn="l">
              <a:spcAft>
                <a:spcPts val="400"/>
              </a:spcAft>
            </a:pPr>
            <a:r>
              <a:rPr sz="1500" b="1">
                <a:solidFill>
                  <a:srgbClr val="161B26"/>
                </a:solidFill>
                <a:latin typeface="Arial"/>
              </a:rPr>
              <a:t>Live temperature and humidity telemetry streaming into IoTFlow from terminal and Python</a:t>
            </a:r>
          </a:p>
        </p:txBody>
      </p:sp>
      <p:sp>
        <p:nvSpPr>
          <p:cNvPr id="15" name="Rectangle 14"/>
          <p:cNvSpPr/>
          <p:nvPr/>
        </p:nvSpPr>
        <p:spPr>
          <a:xfrm>
            <a:off x="6217920" y="3611880"/>
            <a:ext cx="5230368" cy="1600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17920" y="3611880"/>
            <a:ext cx="5230368"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46520" y="3813048"/>
            <a:ext cx="4754880" cy="320040"/>
          </a:xfrm>
          <a:prstGeom prst="rect">
            <a:avLst/>
          </a:prstGeom>
          <a:noFill/>
        </p:spPr>
        <p:txBody>
          <a:bodyPr wrap="square" anchor="t">
            <a:spAutoFit/>
          </a:bodyPr>
          <a:lstStyle/>
          <a:p>
            <a:pPr algn="l">
              <a:spcAft>
                <a:spcPts val="400"/>
              </a:spcAft>
            </a:pPr>
            <a:r>
              <a:rPr sz="1100" b="1">
                <a:solidFill>
                  <a:srgbClr val="7C3AED"/>
                </a:solidFill>
                <a:latin typeface="Arial"/>
              </a:rPr>
              <a:t>WHY THE BUSINESS CARES</a:t>
            </a:r>
          </a:p>
        </p:txBody>
      </p:sp>
      <p:sp>
        <p:nvSpPr>
          <p:cNvPr id="18" name="TextBox 17"/>
          <p:cNvSpPr txBox="1"/>
          <p:nvPr/>
        </p:nvSpPr>
        <p:spPr>
          <a:xfrm>
            <a:off x="6446520" y="4160520"/>
            <a:ext cx="4800600" cy="960120"/>
          </a:xfrm>
          <a:prstGeom prst="rect">
            <a:avLst/>
          </a:prstGeom>
          <a:noFill/>
        </p:spPr>
        <p:txBody>
          <a:bodyPr wrap="square" anchor="t">
            <a:spAutoFit/>
          </a:bodyPr>
          <a:lstStyle/>
          <a:p>
            <a:pPr algn="l">
              <a:spcAft>
                <a:spcPts val="400"/>
              </a:spcAft>
            </a:pPr>
            <a:r>
              <a:rPr sz="1300" b="0">
                <a:solidFill>
                  <a:srgbClr val="5B6372"/>
                </a:solidFill>
                <a:latin typeface="Arial"/>
              </a:rPr>
              <a:t>Each reading is an operational fact with a timestamp. Once the stream exists, the business can ask questions it previously could not answer — how often, how long, how bad, and at what cost.</a:t>
            </a:r>
          </a:p>
        </p:txBody>
      </p:sp>
      <p:sp>
        <p:nvSpPr>
          <p:cNvPr id="19" name="Rectangle 18"/>
          <p:cNvSpPr/>
          <p:nvPr/>
        </p:nvSpPr>
        <p:spPr>
          <a:xfrm>
            <a:off x="777240" y="5440680"/>
            <a:ext cx="10671048" cy="566928"/>
          </a:xfrm>
          <a:prstGeom prst="rect">
            <a:avLst/>
          </a:prstGeom>
          <a:solidFill>
            <a:srgbClr val="EEF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05840" y="5440680"/>
            <a:ext cx="10241280" cy="566928"/>
          </a:xfrm>
          <a:prstGeom prst="rect">
            <a:avLst/>
          </a:prstGeom>
          <a:noFill/>
        </p:spPr>
        <p:txBody>
          <a:bodyPr wrap="square" anchor="ctr">
            <a:spAutoFit/>
          </a:bodyPr>
          <a:lstStyle/>
          <a:p>
            <a:pPr algn="l">
              <a:spcAft>
                <a:spcPts val="400"/>
              </a:spcAft>
            </a:pPr>
            <a:r>
              <a:rPr sz="1000" b="1">
                <a:solidFill>
                  <a:srgbClr val="1F6FEB"/>
                </a:solidFill>
                <a:latin typeface="Arial"/>
              </a:rPr>
              <a:t>TOOLS   </a:t>
            </a:r>
            <a:r>
              <a:rPr sz="1200" b="0">
                <a:solidFill>
                  <a:srgbClr val="5B6372"/>
                </a:solidFill>
                <a:latin typeface="Arial"/>
              </a:rPr>
              <a:t>Telemetry REST API · Python client (pip install iotflow) · MQTT broker · ESP32/ESP8266</a:t>
            </a:r>
          </a:p>
        </p:txBody>
      </p:sp>
      <p:sp>
        <p:nvSpPr>
          <p:cNvPr id="21" name="TextBox 2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22" name="TextBox 2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3" name="TextBox 2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03 · WHAT YOU'LL SEE</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500" b="1">
                <a:solidFill>
                  <a:srgbClr val="161B26"/>
                </a:solidFill>
                <a:latin typeface="Arial"/>
              </a:rPr>
              <a:t>Lab 2 — Post Business Data to the Cloud (HTTP &amp; MQTT)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5989320"/>
            <a:ext cx="10634472" cy="411480"/>
          </a:xfrm>
          <a:prstGeom prst="rect">
            <a:avLst/>
          </a:prstGeom>
          <a:noFill/>
        </p:spPr>
        <p:txBody>
          <a:bodyPr wrap="square" anchor="t">
            <a:spAutoFit/>
          </a:bodyPr>
          <a:lstStyle/>
          <a:p>
            <a:pPr algn="ctr">
              <a:spcAft>
                <a:spcPts val="400"/>
              </a:spcAft>
            </a:pPr>
            <a:r>
              <a:rPr sz="1200" b="0">
                <a:solidFill>
                  <a:srgbClr val="5B6372"/>
                </a:solidFill>
                <a:latin typeface="Arial"/>
              </a:rPr>
              <a:t>IoTFlow — Live temperature and humidity telemetry streaming into IoTFlow from terminal and Python</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03 · HANDS-ON</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Read Data Back and Remotely Control the Asset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60020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600200" cy="365760"/>
          </a:xfrm>
          <a:prstGeom prst="rect">
            <a:avLst/>
          </a:prstGeom>
          <a:noFill/>
        </p:spPr>
        <p:txBody>
          <a:bodyPr wrap="square" anchor="t">
            <a:spAutoFit/>
          </a:bodyPr>
          <a:lstStyle/>
          <a:p>
            <a:pPr algn="ctr">
              <a:spcAft>
                <a:spcPts val="400"/>
              </a:spcAft>
            </a:pPr>
            <a:r>
              <a:rPr sz="1600" b="1">
                <a:solidFill>
                  <a:srgbClr val="FFFFFF"/>
                </a:solidFill>
                <a:latin typeface="Arial"/>
              </a:rPr>
              <a:t>LAB 3</a:t>
            </a:r>
          </a:p>
        </p:txBody>
      </p:sp>
      <p:sp>
        <p:nvSpPr>
          <p:cNvPr id="9" name="TextBox 8"/>
          <p:cNvSpPr txBox="1"/>
          <p:nvPr/>
        </p:nvSpPr>
        <p:spPr>
          <a:xfrm>
            <a:off x="2560320" y="1709928"/>
            <a:ext cx="8869680" cy="502920"/>
          </a:xfrm>
          <a:prstGeom prst="rect">
            <a:avLst/>
          </a:prstGeom>
          <a:noFill/>
        </p:spPr>
        <p:txBody>
          <a:bodyPr wrap="square" anchor="ctr">
            <a:spAutoFit/>
          </a:bodyPr>
          <a:lstStyle/>
          <a:p>
            <a:pPr algn="l">
              <a:spcAft>
                <a:spcPts val="400"/>
              </a:spcAft>
            </a:pPr>
            <a:r>
              <a:rPr sz="1300" b="0">
                <a:solidFill>
                  <a:srgbClr val="5B6372"/>
                </a:solidFill>
                <a:latin typeface="Arial"/>
              </a:rPr>
              <a:t>Close the loop between cloud data and physical action — the basis of an IoT business process (A3, K2).</a:t>
            </a:r>
          </a:p>
        </p:txBody>
      </p:sp>
      <p:sp>
        <p:nvSpPr>
          <p:cNvPr id="10" name="TextBox 9"/>
          <p:cNvSpPr txBox="1"/>
          <p:nvPr/>
        </p:nvSpPr>
        <p:spPr>
          <a:xfrm>
            <a:off x="777240" y="2331720"/>
            <a:ext cx="10698480" cy="1143000"/>
          </a:xfrm>
          <a:prstGeom prst="rect">
            <a:avLst/>
          </a:prstGeom>
          <a:noFill/>
        </p:spPr>
        <p:txBody>
          <a:bodyPr wrap="square" anchor="t">
            <a:spAutoFit/>
          </a:bodyPr>
          <a:lstStyle/>
          <a:p>
            <a:pPr algn="l">
              <a:spcAft>
                <a:spcPts val="400"/>
              </a:spcAft>
            </a:pPr>
            <a:r>
              <a:rPr sz="1700" b="0">
                <a:solidFill>
                  <a:srgbClr val="161B26"/>
                </a:solidFill>
                <a:latin typeface="Arial"/>
              </a:rPr>
              <a:t>Read device state back out of the cloud over the REST API and MQTT, then add Control widgets (switch, slider) bound to virtual pins and drive the device from the dashboard. Reading data is monitoring; sending commands back is automation — and that is where the labour savings appear.</a:t>
            </a:r>
          </a:p>
        </p:txBody>
      </p:sp>
      <p:sp>
        <p:nvSpPr>
          <p:cNvPr id="11" name="Rectangle 10"/>
          <p:cNvSpPr/>
          <p:nvPr/>
        </p:nvSpPr>
        <p:spPr>
          <a:xfrm>
            <a:off x="777240" y="3611880"/>
            <a:ext cx="5230368" cy="1600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611880"/>
            <a:ext cx="5230368"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3813048"/>
            <a:ext cx="4754880" cy="320040"/>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1005840" y="4160520"/>
            <a:ext cx="4800600" cy="960120"/>
          </a:xfrm>
          <a:prstGeom prst="rect">
            <a:avLst/>
          </a:prstGeom>
          <a:noFill/>
        </p:spPr>
        <p:txBody>
          <a:bodyPr wrap="square" anchor="t">
            <a:spAutoFit/>
          </a:bodyPr>
          <a:lstStyle/>
          <a:p>
            <a:pPr algn="l">
              <a:spcAft>
                <a:spcPts val="400"/>
              </a:spcAft>
            </a:pPr>
            <a:r>
              <a:rPr sz="1500" b="1">
                <a:solidFill>
                  <a:srgbClr val="161B26"/>
                </a:solidFill>
                <a:latin typeface="Arial"/>
              </a:rPr>
              <a:t>A dashboard switch and slider that control a relay/LED on the device in real time</a:t>
            </a:r>
          </a:p>
        </p:txBody>
      </p:sp>
      <p:sp>
        <p:nvSpPr>
          <p:cNvPr id="15" name="Rectangle 14"/>
          <p:cNvSpPr/>
          <p:nvPr/>
        </p:nvSpPr>
        <p:spPr>
          <a:xfrm>
            <a:off x="6217920" y="3611880"/>
            <a:ext cx="5230368" cy="1600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17920" y="3611880"/>
            <a:ext cx="5230368"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46520" y="3813048"/>
            <a:ext cx="4754880" cy="320040"/>
          </a:xfrm>
          <a:prstGeom prst="rect">
            <a:avLst/>
          </a:prstGeom>
          <a:noFill/>
        </p:spPr>
        <p:txBody>
          <a:bodyPr wrap="square" anchor="t">
            <a:spAutoFit/>
          </a:bodyPr>
          <a:lstStyle/>
          <a:p>
            <a:pPr algn="l">
              <a:spcAft>
                <a:spcPts val="400"/>
              </a:spcAft>
            </a:pPr>
            <a:r>
              <a:rPr sz="1100" b="1">
                <a:solidFill>
                  <a:srgbClr val="7C3AED"/>
                </a:solidFill>
                <a:latin typeface="Arial"/>
              </a:rPr>
              <a:t>WHY THE BUSINESS CARES</a:t>
            </a:r>
          </a:p>
        </p:txBody>
      </p:sp>
      <p:sp>
        <p:nvSpPr>
          <p:cNvPr id="18" name="TextBox 17"/>
          <p:cNvSpPr txBox="1"/>
          <p:nvPr/>
        </p:nvSpPr>
        <p:spPr>
          <a:xfrm>
            <a:off x="6446520" y="4160520"/>
            <a:ext cx="4800600" cy="960120"/>
          </a:xfrm>
          <a:prstGeom prst="rect">
            <a:avLst/>
          </a:prstGeom>
          <a:noFill/>
        </p:spPr>
        <p:txBody>
          <a:bodyPr wrap="square" anchor="t">
            <a:spAutoFit/>
          </a:bodyPr>
          <a:lstStyle/>
          <a:p>
            <a:pPr algn="l">
              <a:spcAft>
                <a:spcPts val="400"/>
              </a:spcAft>
            </a:pPr>
            <a:r>
              <a:rPr sz="1300" b="0">
                <a:solidFill>
                  <a:srgbClr val="5B6372"/>
                </a:solidFill>
                <a:latin typeface="Arial"/>
              </a:rPr>
              <a:t>Monitoring tells you what happened. Control lets the system act without a person driving out to the site — this is usually the single largest line in an IoT cost-benefit case.</a:t>
            </a:r>
          </a:p>
        </p:txBody>
      </p:sp>
      <p:sp>
        <p:nvSpPr>
          <p:cNvPr id="19" name="Rectangle 18"/>
          <p:cNvSpPr/>
          <p:nvPr/>
        </p:nvSpPr>
        <p:spPr>
          <a:xfrm>
            <a:off x="777240" y="5440680"/>
            <a:ext cx="10671048" cy="566928"/>
          </a:xfrm>
          <a:prstGeom prst="rect">
            <a:avLst/>
          </a:prstGeom>
          <a:solidFill>
            <a:srgbClr val="EEF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05840" y="5440680"/>
            <a:ext cx="10241280" cy="566928"/>
          </a:xfrm>
          <a:prstGeom prst="rect">
            <a:avLst/>
          </a:prstGeom>
          <a:noFill/>
        </p:spPr>
        <p:txBody>
          <a:bodyPr wrap="square" anchor="ctr">
            <a:spAutoFit/>
          </a:bodyPr>
          <a:lstStyle/>
          <a:p>
            <a:pPr algn="l">
              <a:spcAft>
                <a:spcPts val="400"/>
              </a:spcAft>
            </a:pPr>
            <a:r>
              <a:rPr sz="1000" b="1">
                <a:solidFill>
                  <a:srgbClr val="1F6FEB"/>
                </a:solidFill>
                <a:latin typeface="Arial"/>
              </a:rPr>
              <a:t>TOOLS   </a:t>
            </a:r>
            <a:r>
              <a:rPr sz="1200" b="0">
                <a:solidFill>
                  <a:srgbClr val="5B6372"/>
                </a:solidFill>
                <a:latin typeface="Arial"/>
              </a:rPr>
              <a:t>REST API (GET /api/device/state) · MQTT subscribe · Control widgets · Virtual pins · @on_command</a:t>
            </a:r>
          </a:p>
        </p:txBody>
      </p:sp>
      <p:sp>
        <p:nvSpPr>
          <p:cNvPr id="21" name="TextBox 2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22" name="TextBox 2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3" name="TextBox 2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03 · WHAT YOU'LL SEE</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500" b="1">
                <a:solidFill>
                  <a:srgbClr val="161B26"/>
                </a:solidFill>
                <a:latin typeface="Arial"/>
              </a:rPr>
              <a:t>Lab 3 — Read Data Back and Remotely Control the Asset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5989320"/>
            <a:ext cx="10634472" cy="411480"/>
          </a:xfrm>
          <a:prstGeom prst="rect">
            <a:avLst/>
          </a:prstGeom>
          <a:noFill/>
        </p:spPr>
        <p:txBody>
          <a:bodyPr wrap="square" anchor="t">
            <a:spAutoFit/>
          </a:bodyPr>
          <a:lstStyle/>
          <a:p>
            <a:pPr algn="ctr">
              <a:spcAft>
                <a:spcPts val="400"/>
              </a:spcAft>
            </a:pPr>
            <a:r>
              <a:rPr sz="1200" b="0">
                <a:solidFill>
                  <a:srgbClr val="5B6372"/>
                </a:solidFill>
                <a:latin typeface="Arial"/>
              </a:rPr>
              <a:t>IoTFlow — A dashboard switch and slider that control a relay/LED on the device in real time</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03 · HANDS-ON</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Turn IoT Data into Business Insight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60020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600200" cy="365760"/>
          </a:xfrm>
          <a:prstGeom prst="rect">
            <a:avLst/>
          </a:prstGeom>
          <a:noFill/>
        </p:spPr>
        <p:txBody>
          <a:bodyPr wrap="square" anchor="t">
            <a:spAutoFit/>
          </a:bodyPr>
          <a:lstStyle/>
          <a:p>
            <a:pPr algn="ctr">
              <a:spcAft>
                <a:spcPts val="400"/>
              </a:spcAft>
            </a:pPr>
            <a:r>
              <a:rPr sz="1600" b="1">
                <a:solidFill>
                  <a:srgbClr val="FFFFFF"/>
                </a:solidFill>
                <a:latin typeface="Arial"/>
              </a:rPr>
              <a:t>LAB 4</a:t>
            </a:r>
          </a:p>
        </p:txBody>
      </p:sp>
      <p:sp>
        <p:nvSpPr>
          <p:cNvPr id="9" name="TextBox 8"/>
          <p:cNvSpPr txBox="1"/>
          <p:nvPr/>
        </p:nvSpPr>
        <p:spPr>
          <a:xfrm>
            <a:off x="2560320" y="1709928"/>
            <a:ext cx="8869680" cy="502920"/>
          </a:xfrm>
          <a:prstGeom prst="rect">
            <a:avLst/>
          </a:prstGeom>
          <a:noFill/>
        </p:spPr>
        <p:txBody>
          <a:bodyPr wrap="square" anchor="ctr">
            <a:spAutoFit/>
          </a:bodyPr>
          <a:lstStyle/>
          <a:p>
            <a:pPr algn="l">
              <a:spcAft>
                <a:spcPts val="400"/>
              </a:spcAft>
            </a:pPr>
            <a:r>
              <a:rPr sz="1300" b="0">
                <a:solidFill>
                  <a:srgbClr val="5B6372"/>
                </a:solidFill>
                <a:latin typeface="Arial"/>
              </a:rPr>
              <a:t>Use analytics, visualisation and automation to turn raw telemetry into a business decision (A3, K2).</a:t>
            </a:r>
          </a:p>
        </p:txBody>
      </p:sp>
      <p:sp>
        <p:nvSpPr>
          <p:cNvPr id="10" name="TextBox 9"/>
          <p:cNvSpPr txBox="1"/>
          <p:nvPr/>
        </p:nvSpPr>
        <p:spPr>
          <a:xfrm>
            <a:off x="777240" y="2331720"/>
            <a:ext cx="10698480" cy="1143000"/>
          </a:xfrm>
          <a:prstGeom prst="rect">
            <a:avLst/>
          </a:prstGeom>
          <a:noFill/>
        </p:spPr>
        <p:txBody>
          <a:bodyPr wrap="square" anchor="t">
            <a:spAutoFit/>
          </a:bodyPr>
          <a:lstStyle/>
          <a:p>
            <a:pPr algn="l">
              <a:spcAft>
                <a:spcPts val="400"/>
              </a:spcAft>
            </a:pPr>
            <a:r>
              <a:rPr sz="1700" b="0">
                <a:solidFill>
                  <a:srgbClr val="161B26"/>
                </a:solidFill>
                <a:latin typeface="Arial"/>
              </a:rPr>
              <a:t>Build a live dashboard from your readings — number cards, gauges, charts, LED indicators and maps — then set a threshold alert and hand it to an n8n workflow that notifies the team, logs the event and asks an AI node to summarise the readings and recommend an action.</a:t>
            </a:r>
          </a:p>
        </p:txBody>
      </p:sp>
      <p:sp>
        <p:nvSpPr>
          <p:cNvPr id="11" name="Rectangle 10"/>
          <p:cNvSpPr/>
          <p:nvPr/>
        </p:nvSpPr>
        <p:spPr>
          <a:xfrm>
            <a:off x="777240" y="3611880"/>
            <a:ext cx="5230368" cy="1600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611880"/>
            <a:ext cx="5230368"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3813048"/>
            <a:ext cx="4754880" cy="320040"/>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1005840" y="4160520"/>
            <a:ext cx="4800600" cy="960120"/>
          </a:xfrm>
          <a:prstGeom prst="rect">
            <a:avLst/>
          </a:prstGeom>
          <a:noFill/>
        </p:spPr>
        <p:txBody>
          <a:bodyPr wrap="square" anchor="t">
            <a:spAutoFit/>
          </a:bodyPr>
          <a:lstStyle/>
          <a:p>
            <a:pPr algn="l">
              <a:spcAft>
                <a:spcPts val="400"/>
              </a:spcAft>
            </a:pPr>
            <a:r>
              <a:rPr sz="1500" b="1">
                <a:solidFill>
                  <a:srgbClr val="161B26"/>
                </a:solidFill>
                <a:latin typeface="Arial"/>
              </a:rPr>
              <a:t>A monitoring dashboard plus an alert-driven n8n workflow with an AI summary and a downlink command</a:t>
            </a:r>
          </a:p>
        </p:txBody>
      </p:sp>
      <p:sp>
        <p:nvSpPr>
          <p:cNvPr id="15" name="Rectangle 14"/>
          <p:cNvSpPr/>
          <p:nvPr/>
        </p:nvSpPr>
        <p:spPr>
          <a:xfrm>
            <a:off x="6217920" y="3611880"/>
            <a:ext cx="5230368" cy="1600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17920" y="3611880"/>
            <a:ext cx="5230368"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46520" y="3813048"/>
            <a:ext cx="4754880" cy="320040"/>
          </a:xfrm>
          <a:prstGeom prst="rect">
            <a:avLst/>
          </a:prstGeom>
          <a:noFill/>
        </p:spPr>
        <p:txBody>
          <a:bodyPr wrap="square" anchor="t">
            <a:spAutoFit/>
          </a:bodyPr>
          <a:lstStyle/>
          <a:p>
            <a:pPr algn="l">
              <a:spcAft>
                <a:spcPts val="400"/>
              </a:spcAft>
            </a:pPr>
            <a:r>
              <a:rPr sz="1100" b="1">
                <a:solidFill>
                  <a:srgbClr val="7C3AED"/>
                </a:solidFill>
                <a:latin typeface="Arial"/>
              </a:rPr>
              <a:t>WHY THE BUSINESS CARES</a:t>
            </a:r>
          </a:p>
        </p:txBody>
      </p:sp>
      <p:sp>
        <p:nvSpPr>
          <p:cNvPr id="18" name="TextBox 17"/>
          <p:cNvSpPr txBox="1"/>
          <p:nvPr/>
        </p:nvSpPr>
        <p:spPr>
          <a:xfrm>
            <a:off x="6446520" y="4160520"/>
            <a:ext cx="4800600" cy="960120"/>
          </a:xfrm>
          <a:prstGeom prst="rect">
            <a:avLst/>
          </a:prstGeom>
          <a:noFill/>
        </p:spPr>
        <p:txBody>
          <a:bodyPr wrap="square" anchor="t">
            <a:spAutoFit/>
          </a:bodyPr>
          <a:lstStyle/>
          <a:p>
            <a:pPr algn="l">
              <a:spcAft>
                <a:spcPts val="400"/>
              </a:spcAft>
            </a:pPr>
            <a:r>
              <a:rPr sz="1300" b="0">
                <a:solidFill>
                  <a:srgbClr val="5B6372"/>
                </a:solidFill>
                <a:latin typeface="Arial"/>
              </a:rPr>
              <a:t>This is the slide the board actually sees. A dashboard makes performance visible, an alert makes it timely, and the AI summary turns a stream of numbers into a recommended action.</a:t>
            </a:r>
          </a:p>
        </p:txBody>
      </p:sp>
      <p:sp>
        <p:nvSpPr>
          <p:cNvPr id="19" name="Rectangle 18"/>
          <p:cNvSpPr/>
          <p:nvPr/>
        </p:nvSpPr>
        <p:spPr>
          <a:xfrm>
            <a:off x="777240" y="5440680"/>
            <a:ext cx="10671048" cy="566928"/>
          </a:xfrm>
          <a:prstGeom prst="rect">
            <a:avLst/>
          </a:prstGeom>
          <a:solidFill>
            <a:srgbClr val="EEF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05840" y="5440680"/>
            <a:ext cx="10241280" cy="566928"/>
          </a:xfrm>
          <a:prstGeom prst="rect">
            <a:avLst/>
          </a:prstGeom>
          <a:noFill/>
        </p:spPr>
        <p:txBody>
          <a:bodyPr wrap="square" anchor="ctr">
            <a:spAutoFit/>
          </a:bodyPr>
          <a:lstStyle/>
          <a:p>
            <a:pPr algn="l">
              <a:spcAft>
                <a:spcPts val="400"/>
              </a:spcAft>
            </a:pPr>
            <a:r>
              <a:rPr sz="1000" b="1">
                <a:solidFill>
                  <a:srgbClr val="1F6FEB"/>
                </a:solidFill>
                <a:latin typeface="Arial"/>
              </a:rPr>
              <a:t>TOOLS   </a:t>
            </a:r>
            <a:r>
              <a:rPr sz="1200" b="0">
                <a:solidFill>
                  <a:srgbClr val="5B6372"/>
                </a:solidFill>
                <a:latin typeface="Arial"/>
              </a:rPr>
              <a:t>Display widgets · Alert rules · IoTFlow Automations · n8n Webhook · Email/Telegram · Google Sheets · AI nodes</a:t>
            </a:r>
          </a:p>
        </p:txBody>
      </p:sp>
      <p:sp>
        <p:nvSpPr>
          <p:cNvPr id="21" name="TextBox 2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22" name="TextBox 2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3" name="TextBox 2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03 · WHAT YOU'LL SEE</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Lab 4 — Turn IoT Data into Business Insight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5989320"/>
            <a:ext cx="10634472" cy="411480"/>
          </a:xfrm>
          <a:prstGeom prst="rect">
            <a:avLst/>
          </a:prstGeom>
          <a:noFill/>
        </p:spPr>
        <p:txBody>
          <a:bodyPr wrap="square" anchor="t">
            <a:spAutoFit/>
          </a:bodyPr>
          <a:lstStyle/>
          <a:p>
            <a:pPr algn="ctr">
              <a:spcAft>
                <a:spcPts val="400"/>
              </a:spcAft>
            </a:pPr>
            <a:r>
              <a:rPr sz="1200" b="0">
                <a:solidFill>
                  <a:srgbClr val="5B6372"/>
                </a:solidFill>
                <a:latin typeface="Arial"/>
              </a:rPr>
              <a:t>IoTFlow — A monitoring dashboard plus an alert-driven n8n workflow with an AI summary and a downlink command</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03 · PRACTICAL RECAP</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What the Labs Proved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Any asset can be digitised</a:t>
            </a:r>
          </a:p>
          <a:p>
            <a:pPr algn="l">
              <a:spcAft>
                <a:spcPts val="300"/>
              </a:spcAft>
            </a:pPr>
            <a:r>
              <a:rPr sz="1200" b="0">
                <a:solidFill>
                  <a:srgbClr val="5B6372"/>
                </a:solidFill>
                <a:latin typeface="Arial"/>
              </a:rPr>
              <a:t>A token and a few lines of code put a physical thing on the network.</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Data arrives in seconds</a:t>
            </a:r>
          </a:p>
          <a:p>
            <a:pPr algn="l">
              <a:spcAft>
                <a:spcPts val="300"/>
              </a:spcAft>
            </a:pPr>
            <a:r>
              <a:rPr sz="1200" b="0">
                <a:solidFill>
                  <a:srgbClr val="5B6372"/>
                </a:solidFill>
                <a:latin typeface="Arial"/>
              </a:rPr>
              <a:t>The dashboard updated live as each reading was posted.</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Control closes the loop</a:t>
            </a:r>
          </a:p>
          <a:p>
            <a:pPr algn="l">
              <a:spcAft>
                <a:spcPts val="300"/>
              </a:spcAft>
            </a:pPr>
            <a:r>
              <a:rPr sz="1200" b="0">
                <a:solidFill>
                  <a:srgbClr val="5B6372"/>
                </a:solidFill>
                <a:latin typeface="Arial"/>
              </a:rPr>
              <a:t>A command from the dashboard changed the device state remotely.</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Insight can be automatic</a:t>
            </a:r>
          </a:p>
          <a:p>
            <a:pPr algn="l">
              <a:spcAft>
                <a:spcPts val="300"/>
              </a:spcAft>
            </a:pPr>
            <a:r>
              <a:rPr sz="1200" b="0">
                <a:solidFill>
                  <a:srgbClr val="5B6372"/>
                </a:solidFill>
                <a:latin typeface="Arial"/>
              </a:rPr>
              <a:t>A threshold fired a workflow that notified, logged and recommended an action.</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RECAP</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Recap — IoT Technology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An IoT platform ingests telemetry, stores it, visualises it and triggers actions — with no servers to run.</a:t>
            </a:r>
          </a:p>
          <a:p>
            <a:pPr>
              <a:spcAft>
                <a:spcPts val="1000"/>
              </a:spcAft>
            </a:pPr>
            <a:r>
              <a:rPr sz="1700" b="0">
                <a:solidFill>
                  <a:srgbClr val="161B26"/>
                </a:solidFill>
                <a:latin typeface="Arial"/>
              </a:rPr>
              <a:t>•  Uplink carries sensor readings to the cloud; downlink carries commands back to the device.</a:t>
            </a:r>
          </a:p>
          <a:p>
            <a:pPr>
              <a:spcAft>
                <a:spcPts val="1000"/>
              </a:spcAft>
            </a:pPr>
            <a:r>
              <a:rPr sz="1700" b="0">
                <a:solidFill>
                  <a:srgbClr val="161B26"/>
                </a:solidFill>
                <a:latin typeface="Arial"/>
              </a:rPr>
              <a:t>•  Dashboards make performance visible; alert rules make problems timely.</a:t>
            </a:r>
          </a:p>
          <a:p>
            <a:pPr>
              <a:spcAft>
                <a:spcPts val="1000"/>
              </a:spcAft>
            </a:pPr>
            <a:r>
              <a:rPr sz="1700" b="0">
                <a:solidFill>
                  <a:srgbClr val="161B26"/>
                </a:solidFill>
                <a:latin typeface="Arial"/>
              </a:rPr>
              <a:t>•  Automations and AI turn a stream of readings into a recommended business action.</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04</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IoT Adoption</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Adoption challenges · IoT security · Edge computing · Cost-benefit analysis</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04</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LO4 · A4, K3 · 60 min</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Key Concepts — IoT Adoption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Barriers to adoption</a:t>
            </a:r>
          </a:p>
          <a:p>
            <a:pPr algn="l">
              <a:spcAft>
                <a:spcPts val="300"/>
              </a:spcAft>
            </a:pPr>
            <a:r>
              <a:rPr sz="1100" b="0">
                <a:solidFill>
                  <a:srgbClr val="5B6372"/>
                </a:solidFill>
                <a:latin typeface="Arial"/>
              </a:rPr>
              <a:t>Data privacy, security, cost, skills gaps, weak standards and interoperability with legacy systems.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Why IoT security differs</a:t>
            </a:r>
          </a:p>
          <a:p>
            <a:pPr algn="l">
              <a:spcAft>
                <a:spcPts val="300"/>
              </a:spcAft>
            </a:pPr>
            <a:r>
              <a:rPr sz="1100" b="0">
                <a:solidFill>
                  <a:srgbClr val="5B6372"/>
                </a:solidFill>
                <a:latin typeface="Arial"/>
              </a:rPr>
              <a:t>Constrained devices, long unattended lifetimes and physical consequences to a breach.</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Mirai botnet</a:t>
            </a:r>
          </a:p>
          <a:p>
            <a:pPr algn="l">
              <a:spcAft>
                <a:spcPts val="300"/>
              </a:spcAft>
            </a:pPr>
            <a:r>
              <a:rPr sz="1100" b="0">
                <a:solidFill>
                  <a:srgbClr val="5B6372"/>
                </a:solidFill>
                <a:latin typeface="Arial"/>
              </a:rPr>
              <a:t>Default credentials on cameras and routers built a botnet that took down much of the US east coast.</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Edge computing</a:t>
            </a:r>
          </a:p>
          <a:p>
            <a:pPr algn="l">
              <a:spcAft>
                <a:spcPts val="300"/>
              </a:spcAft>
            </a:pPr>
            <a:r>
              <a:rPr sz="1100" b="0">
                <a:solidFill>
                  <a:srgbClr val="5B6372"/>
                </a:solidFill>
                <a:latin typeface="Arial"/>
              </a:rPr>
              <a:t>Processing near the source cuts latency, bandwidth and cost, and keeps sensitive data local.</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Falling hardware cost</a:t>
            </a:r>
          </a:p>
          <a:p>
            <a:pPr algn="l">
              <a:spcAft>
                <a:spcPts val="300"/>
              </a:spcAft>
            </a:pPr>
            <a:r>
              <a:rPr sz="1100" b="0">
                <a:solidFill>
                  <a:srgbClr val="5B6372"/>
                </a:solidFill>
                <a:latin typeface="Arial"/>
              </a:rPr>
              <a:t>Sensor, gateway and connectivity prices keep dropping, improving the business case each year.</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Cost-benefit analysis</a:t>
            </a:r>
          </a:p>
          <a:p>
            <a:pPr algn="l">
              <a:spcAft>
                <a:spcPts val="300"/>
              </a:spcAft>
            </a:pPr>
            <a:r>
              <a:rPr sz="1100" b="0">
                <a:solidFill>
                  <a:srgbClr val="5B6372"/>
                </a:solidFill>
                <a:latin typeface="Arial"/>
              </a:rPr>
              <a:t>Weigh hardware, connectivity, platform and integration against savings, uptime and new revenue.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TOP BARRIERS TO IoT ADOPTION</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Why Organisations Hold Back</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Data privacy</a:t>
            </a:r>
          </a:p>
          <a:p>
            <a:pPr algn="l">
              <a:spcAft>
                <a:spcPts val="300"/>
              </a:spcAft>
            </a:pPr>
            <a:r>
              <a:rPr sz="1100" b="0">
                <a:solidFill>
                  <a:srgbClr val="5B6372"/>
                </a:solidFill>
                <a:latin typeface="Arial"/>
              </a:rPr>
              <a:t>Who owns the data, where does it live, and what does the law require?</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Security</a:t>
            </a:r>
          </a:p>
          <a:p>
            <a:pPr algn="l">
              <a:spcAft>
                <a:spcPts val="300"/>
              </a:spcAft>
            </a:pPr>
            <a:r>
              <a:rPr sz="1100" b="0">
                <a:solidFill>
                  <a:srgbClr val="5B6372"/>
                </a:solidFill>
                <a:latin typeface="Arial"/>
              </a:rPr>
              <a:t>Connected devices widen the attack surface into the physical world.</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Cost of implementation</a:t>
            </a:r>
          </a:p>
          <a:p>
            <a:pPr algn="l">
              <a:spcAft>
                <a:spcPts val="300"/>
              </a:spcAft>
            </a:pPr>
            <a:r>
              <a:rPr sz="1100" b="0">
                <a:solidFill>
                  <a:srgbClr val="5B6372"/>
                </a:solidFill>
                <a:latin typeface="Arial"/>
              </a:rPr>
              <a:t>Hardware, integration and change management, not just the sensors.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Knowledge gap</a:t>
            </a:r>
          </a:p>
          <a:p>
            <a:pPr algn="l">
              <a:spcAft>
                <a:spcPts val="300"/>
              </a:spcAft>
            </a:pPr>
            <a:r>
              <a:rPr sz="1100" b="0">
                <a:solidFill>
                  <a:srgbClr val="5B6372"/>
                </a:solidFill>
                <a:latin typeface="Arial"/>
              </a:rPr>
              <a:t>Teams do not know which solutions exist or how to evaluate them.</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Legacy &amp; interoperability</a:t>
            </a:r>
          </a:p>
          <a:p>
            <a:pPr algn="l">
              <a:spcAft>
                <a:spcPts val="300"/>
              </a:spcAft>
            </a:pPr>
            <a:r>
              <a:rPr sz="1100" b="0">
                <a:solidFill>
                  <a:srgbClr val="5B6372"/>
                </a:solidFill>
                <a:latin typeface="Arial"/>
              </a:rPr>
              <a:t>Existing systems do not speak the same protocols.</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Unproven benefit</a:t>
            </a:r>
          </a:p>
          <a:p>
            <a:pPr algn="l">
              <a:spcAft>
                <a:spcPts val="300"/>
              </a:spcAft>
            </a:pPr>
            <a:r>
              <a:rPr sz="1100" b="0">
                <a:solidFill>
                  <a:srgbClr val="5B6372"/>
                </a:solidFill>
                <a:latin typeface="Arial"/>
              </a:rPr>
              <a:t>Uncertainty that IoT will actually deliver what was promised.</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K3 · RISK FACTORS</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IoT Security — Why It Is Different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F59E0B"/>
                </a:solidFill>
                <a:latin typeface="Arial"/>
              </a:rPr>
              <a:t>Constrained devices</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Microcontrollers, not servers</a:t>
            </a:r>
          </a:p>
          <a:p>
            <a:pPr>
              <a:spcAft>
                <a:spcPts val="900"/>
              </a:spcAft>
            </a:pPr>
            <a:r>
              <a:rPr sz="1400" b="0">
                <a:solidFill>
                  <a:srgbClr val="161B26"/>
                </a:solidFill>
                <a:latin typeface="Arial"/>
              </a:rPr>
              <a:t>•  Often battery powered</a:t>
            </a:r>
          </a:p>
          <a:p>
            <a:pPr>
              <a:spcAft>
                <a:spcPts val="900"/>
              </a:spcAft>
            </a:pPr>
            <a:r>
              <a:rPr sz="1400" b="0">
                <a:solidFill>
                  <a:srgbClr val="161B26"/>
                </a:solidFill>
                <a:latin typeface="Arial"/>
              </a:rPr>
              <a:t>•  May not support TLS/SSL</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Unattended &amp; long-lived</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Run for years without supervision</a:t>
            </a:r>
          </a:p>
          <a:p>
            <a:pPr>
              <a:spcAft>
                <a:spcPts val="900"/>
              </a:spcAft>
            </a:pPr>
            <a:r>
              <a:rPr sz="1400" b="0">
                <a:solidFill>
                  <a:srgbClr val="161B26"/>
                </a:solidFill>
                <a:latin typeface="Arial"/>
              </a:rPr>
              <a:t>•  Patching is inconvenient</a:t>
            </a:r>
          </a:p>
          <a:p>
            <a:pPr>
              <a:spcAft>
                <a:spcPts val="900"/>
              </a:spcAft>
            </a:pPr>
            <a:r>
              <a:rPr sz="1400" b="0">
                <a:solidFill>
                  <a:srgbClr val="161B26"/>
                </a:solidFill>
                <a:latin typeface="Arial"/>
              </a:rPr>
              <a:t>•  Rogue devices go unnoticed</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Physical consequences</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IT breach leaks data</a:t>
            </a:r>
          </a:p>
          <a:p>
            <a:pPr>
              <a:spcAft>
                <a:spcPts val="900"/>
              </a:spcAft>
            </a:pPr>
            <a:r>
              <a:rPr sz="1400" b="0">
                <a:solidFill>
                  <a:srgbClr val="161B26"/>
                </a:solidFill>
                <a:latin typeface="Arial"/>
              </a:rPr>
              <a:t>•  IoT breach can cause harm</a:t>
            </a:r>
          </a:p>
          <a:p>
            <a:pPr>
              <a:spcAft>
                <a:spcPts val="900"/>
              </a:spcAft>
            </a:pPr>
            <a:r>
              <a:rPr sz="1400" b="0">
                <a:solidFill>
                  <a:srgbClr val="161B26"/>
                </a:solidFill>
                <a:latin typeface="Arial"/>
              </a:rPr>
              <a:t>•  Safety-critical systems at risk</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TOPIC 04 · SECURITY</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IoT Security Is a Top Concern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5989320"/>
            <a:ext cx="10634472" cy="411480"/>
          </a:xfrm>
          <a:prstGeom prst="rect">
            <a:avLst/>
          </a:prstGeom>
          <a:noFill/>
        </p:spPr>
        <p:txBody>
          <a:bodyPr wrap="square" anchor="t">
            <a:spAutoFit/>
          </a:bodyPr>
          <a:lstStyle/>
          <a:p>
            <a:pPr algn="ctr">
              <a:spcAft>
                <a:spcPts val="400"/>
              </a:spcAft>
            </a:pPr>
            <a:r>
              <a:rPr sz="1200" b="0">
                <a:solidFill>
                  <a:srgbClr val="5B6372"/>
                </a:solidFill>
                <a:latin typeface="Arial"/>
              </a:rPr>
              <a:t>Security and data privacy are consistently the biggest barriers to IoT adoption.</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F59E0B"/>
                </a:solidFill>
                <a:latin typeface="Arial"/>
              </a:rPr>
              <a:t>CASE STUDY · WHY DEVICE SECURITY MATTERS</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The Mirai botnet, 12 October 2016.</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Default credentials on cameras and routers were harvested into a botnet whose DDoS attack took much of the US east coast offline — an unsecured device is everyone's problem.</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THE SOLUTION STACK</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The Four Stages of an IoT Solution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2425446"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2425446"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15059"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15059"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2132838" cy="1325880"/>
          </a:xfrm>
          <a:prstGeom prst="rect">
            <a:avLst/>
          </a:prstGeom>
          <a:noFill/>
        </p:spPr>
        <p:txBody>
          <a:bodyPr wrap="square" anchor="t">
            <a:spAutoFit/>
          </a:bodyPr>
          <a:lstStyle/>
          <a:p>
            <a:pPr algn="ctr">
              <a:spcAft>
                <a:spcPts val="400"/>
              </a:spcAft>
            </a:pPr>
            <a:r>
              <a:rPr sz="1400" b="0">
                <a:solidFill>
                  <a:srgbClr val="161B26"/>
                </a:solidFill>
                <a:latin typeface="Arial"/>
              </a:rPr>
              <a:t>SENSE — devices and sensors capture the physical state</a:t>
            </a:r>
          </a:p>
        </p:txBody>
      </p:sp>
      <p:sp>
        <p:nvSpPr>
          <p:cNvPr id="12" name="TextBox 11"/>
          <p:cNvSpPr txBox="1"/>
          <p:nvPr/>
        </p:nvSpPr>
        <p:spPr>
          <a:xfrm>
            <a:off x="3166110"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3" name="Rectangle 12"/>
          <p:cNvSpPr/>
          <p:nvPr/>
        </p:nvSpPr>
        <p:spPr>
          <a:xfrm>
            <a:off x="3513582" y="2331720"/>
            <a:ext cx="2425446"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13582" y="2331720"/>
            <a:ext cx="2425446"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351401"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51401"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3659886" y="3749040"/>
            <a:ext cx="2132838" cy="1325880"/>
          </a:xfrm>
          <a:prstGeom prst="rect">
            <a:avLst/>
          </a:prstGeom>
          <a:noFill/>
        </p:spPr>
        <p:txBody>
          <a:bodyPr wrap="square" anchor="t">
            <a:spAutoFit/>
          </a:bodyPr>
          <a:lstStyle/>
          <a:p>
            <a:pPr algn="ctr">
              <a:spcAft>
                <a:spcPts val="400"/>
              </a:spcAft>
            </a:pPr>
            <a:r>
              <a:rPr sz="1400" b="0">
                <a:solidFill>
                  <a:srgbClr val="161B26"/>
                </a:solidFill>
                <a:latin typeface="Arial"/>
              </a:rPr>
              <a:t>CONNECT — gateways and networks carry the data</a:t>
            </a:r>
          </a:p>
        </p:txBody>
      </p:sp>
      <p:sp>
        <p:nvSpPr>
          <p:cNvPr id="18" name="TextBox 17"/>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9" name="Rectangle 18"/>
          <p:cNvSpPr/>
          <p:nvPr/>
        </p:nvSpPr>
        <p:spPr>
          <a:xfrm>
            <a:off x="6249924" y="2331720"/>
            <a:ext cx="2425446"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49924" y="2331720"/>
            <a:ext cx="2425446"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087743"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0877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6396228" y="3749040"/>
            <a:ext cx="2132838" cy="1325880"/>
          </a:xfrm>
          <a:prstGeom prst="rect">
            <a:avLst/>
          </a:prstGeom>
          <a:noFill/>
        </p:spPr>
        <p:txBody>
          <a:bodyPr wrap="square" anchor="t">
            <a:spAutoFit/>
          </a:bodyPr>
          <a:lstStyle/>
          <a:p>
            <a:pPr algn="ctr">
              <a:spcAft>
                <a:spcPts val="400"/>
              </a:spcAft>
            </a:pPr>
            <a:r>
              <a:rPr sz="1400" b="0">
                <a:solidFill>
                  <a:srgbClr val="161B26"/>
                </a:solidFill>
                <a:latin typeface="Arial"/>
              </a:rPr>
              <a:t>PROCESS — cloud or edge analyses and stores it</a:t>
            </a:r>
          </a:p>
        </p:txBody>
      </p:sp>
      <p:sp>
        <p:nvSpPr>
          <p:cNvPr id="24" name="TextBox 23"/>
          <p:cNvSpPr txBox="1"/>
          <p:nvPr/>
        </p:nvSpPr>
        <p:spPr>
          <a:xfrm>
            <a:off x="8638794"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25" name="Rectangle 24"/>
          <p:cNvSpPr/>
          <p:nvPr/>
        </p:nvSpPr>
        <p:spPr>
          <a:xfrm>
            <a:off x="8986266" y="2331720"/>
            <a:ext cx="2425446"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86266" y="2331720"/>
            <a:ext cx="2425446"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824085"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824085"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9132570" y="3749040"/>
            <a:ext cx="2132838" cy="1325880"/>
          </a:xfrm>
          <a:prstGeom prst="rect">
            <a:avLst/>
          </a:prstGeom>
          <a:noFill/>
        </p:spPr>
        <p:txBody>
          <a:bodyPr wrap="square" anchor="t">
            <a:spAutoFit/>
          </a:bodyPr>
          <a:lstStyle/>
          <a:p>
            <a:pPr algn="ctr">
              <a:spcAft>
                <a:spcPts val="400"/>
              </a:spcAft>
            </a:pPr>
            <a:r>
              <a:rPr sz="1400" b="0">
                <a:solidFill>
                  <a:srgbClr val="161B26"/>
                </a:solidFill>
                <a:latin typeface="Arial"/>
              </a:rPr>
              <a:t>ACT — dashboards, alerts and automations drive the decision</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K3 · WHERE SHOULD THE PROCESSING HAPPEN?</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Edge vs Cloud Processing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Near the data</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Central</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161B26"/>
                </a:solidFill>
                <a:latin typeface="Arial"/>
              </a:rPr>
              <a:t>•  Edge computing</a:t>
            </a:r>
          </a:p>
          <a:p>
            <a:pPr>
              <a:spcAft>
                <a:spcPts val="1000"/>
              </a:spcAft>
            </a:pPr>
            <a:r>
              <a:rPr sz="1400" b="0">
                <a:solidFill>
                  <a:srgbClr val="5B6372"/>
                </a:solidFill>
                <a:latin typeface="Arial"/>
              </a:rPr>
              <a:t>–  Process at or near the device</a:t>
            </a:r>
          </a:p>
          <a:p>
            <a:pPr>
              <a:spcAft>
                <a:spcPts val="1000"/>
              </a:spcAft>
            </a:pPr>
            <a:r>
              <a:rPr sz="1400" b="0">
                <a:solidFill>
                  <a:srgbClr val="5B6372"/>
                </a:solidFill>
                <a:latin typeface="Arial"/>
              </a:rPr>
              <a:t>–  Lower latency — acts immediately</a:t>
            </a:r>
          </a:p>
          <a:p>
            <a:pPr>
              <a:spcAft>
                <a:spcPts val="1000"/>
              </a:spcAft>
            </a:pPr>
            <a:r>
              <a:rPr sz="1400" b="0">
                <a:solidFill>
                  <a:srgbClr val="5B6372"/>
                </a:solidFill>
                <a:latin typeface="Arial"/>
              </a:rPr>
              <a:t>–  Less bandwidth and lower cost</a:t>
            </a:r>
          </a:p>
          <a:p>
            <a:pPr>
              <a:spcAft>
                <a:spcPts val="1000"/>
              </a:spcAft>
            </a:pPr>
            <a:r>
              <a:rPr sz="1400" b="0">
                <a:solidFill>
                  <a:srgbClr val="5B6372"/>
                </a:solidFill>
                <a:latin typeface="Arial"/>
              </a:rPr>
              <a:t>–  Sensitive data stays local</a:t>
            </a:r>
          </a:p>
          <a:p>
            <a:pPr>
              <a:spcAft>
                <a:spcPts val="1000"/>
              </a:spcAft>
            </a:pPr>
            <a:r>
              <a:rPr sz="1400" b="0">
                <a:solidFill>
                  <a:srgbClr val="5B6372"/>
                </a:solidFill>
                <a:latin typeface="Arial"/>
              </a:rPr>
              <a:t>–  Limited compute and storage</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161B26"/>
                </a:solidFill>
                <a:latin typeface="Arial"/>
              </a:rPr>
              <a:t>•  Cloud computing</a:t>
            </a:r>
          </a:p>
          <a:p>
            <a:pPr>
              <a:spcAft>
                <a:spcPts val="1000"/>
              </a:spcAft>
            </a:pPr>
            <a:r>
              <a:rPr sz="1400" b="0">
                <a:solidFill>
                  <a:srgbClr val="5B6372"/>
                </a:solidFill>
                <a:latin typeface="Arial"/>
              </a:rPr>
              <a:t>–  Process in the data centre</a:t>
            </a:r>
          </a:p>
          <a:p>
            <a:pPr>
              <a:spcAft>
                <a:spcPts val="1000"/>
              </a:spcAft>
            </a:pPr>
            <a:r>
              <a:rPr sz="1400" b="0">
                <a:solidFill>
                  <a:srgbClr val="5B6372"/>
                </a:solidFill>
                <a:latin typeface="Arial"/>
              </a:rPr>
              <a:t>–  Unlimited compute and history</a:t>
            </a:r>
          </a:p>
          <a:p>
            <a:pPr>
              <a:spcAft>
                <a:spcPts val="1000"/>
              </a:spcAft>
            </a:pPr>
            <a:r>
              <a:rPr sz="1400" b="0">
                <a:solidFill>
                  <a:srgbClr val="5B6372"/>
                </a:solidFill>
                <a:latin typeface="Arial"/>
              </a:rPr>
              <a:t>–  Easier to update and scale</a:t>
            </a:r>
          </a:p>
          <a:p>
            <a:pPr>
              <a:spcAft>
                <a:spcPts val="1000"/>
              </a:spcAft>
            </a:pPr>
            <a:r>
              <a:rPr sz="1400" b="0">
                <a:solidFill>
                  <a:srgbClr val="5B6372"/>
                </a:solidFill>
                <a:latin typeface="Arial"/>
              </a:rPr>
              <a:t>–  Best for analytics and AI</a:t>
            </a:r>
          </a:p>
          <a:p>
            <a:pPr>
              <a:spcAft>
                <a:spcPts val="1000"/>
              </a:spcAft>
            </a:pPr>
            <a:r>
              <a:rPr sz="1400" b="0">
                <a:solidFill>
                  <a:srgbClr val="5B6372"/>
                </a:solidFill>
                <a:latin typeface="Arial"/>
              </a:rPr>
              <a:t>–  Needs connectivity and bandwidth</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A4 · BUILDING THE BUSINESS CASE</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Cost-Benefit Analysis of IoT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Hardware</a:t>
            </a:r>
          </a:p>
          <a:p>
            <a:pPr algn="l">
              <a:spcAft>
                <a:spcPts val="300"/>
              </a:spcAft>
            </a:pPr>
            <a:r>
              <a:rPr sz="1100" b="0">
                <a:solidFill>
                  <a:srgbClr val="5B6372"/>
                </a:solidFill>
                <a:latin typeface="Arial"/>
              </a:rPr>
              <a:t>Sensors, actuators, gateways — prices have fallen steadily year on year.</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Connectivity</a:t>
            </a:r>
          </a:p>
          <a:p>
            <a:pPr algn="l">
              <a:spcAft>
                <a:spcPts val="300"/>
              </a:spcAft>
            </a:pPr>
            <a:r>
              <a:rPr sz="1100" b="0">
                <a:solidFill>
                  <a:srgbClr val="5B6372"/>
                </a:solidFill>
                <a:latin typeface="Arial"/>
              </a:rPr>
              <a:t>SIM, LoRa or WiFi; recurring per-device cost that scales with the fleet.</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Platform</a:t>
            </a:r>
          </a:p>
          <a:p>
            <a:pPr algn="l">
              <a:spcAft>
                <a:spcPts val="300"/>
              </a:spcAft>
            </a:pPr>
            <a:r>
              <a:rPr sz="1100" b="0">
                <a:solidFill>
                  <a:srgbClr val="5B6372"/>
                </a:solidFill>
                <a:latin typeface="Arial"/>
              </a:rPr>
              <a:t>Subscription by device count or data volume; low-budget options exist.</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Integration</a:t>
            </a:r>
          </a:p>
          <a:p>
            <a:pPr algn="l">
              <a:spcAft>
                <a:spcPts val="300"/>
              </a:spcAft>
            </a:pPr>
            <a:r>
              <a:rPr sz="1100" b="0">
                <a:solidFill>
                  <a:srgbClr val="5B6372"/>
                </a:solidFill>
                <a:latin typeface="Arial"/>
              </a:rPr>
              <a:t>Often the largest line — connecting IoT data into existing business systems.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Benefits</a:t>
            </a:r>
          </a:p>
          <a:p>
            <a:pPr algn="l">
              <a:spcAft>
                <a:spcPts val="300"/>
              </a:spcAft>
            </a:pPr>
            <a:r>
              <a:rPr sz="1100" b="0">
                <a:solidFill>
                  <a:srgbClr val="5B6372"/>
                </a:solidFill>
                <a:latin typeface="Arial"/>
              </a:rPr>
              <a:t>Labour saved, downtime avoided, energy and wastage reduced, new revenue enabled.</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Payback</a:t>
            </a:r>
          </a:p>
          <a:p>
            <a:pPr algn="l">
              <a:spcAft>
                <a:spcPts val="300"/>
              </a:spcAft>
            </a:pPr>
            <a:r>
              <a:rPr sz="1100" b="0">
                <a:solidFill>
                  <a:srgbClr val="5B6372"/>
                </a:solidFill>
                <a:latin typeface="Arial"/>
              </a:rPr>
              <a:t>Compare total cost against annual benefit; pilot first to validate the assumptions.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TOPIC 04 · ACTIVITY</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Discussion — Cost-Benefit Analysis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2286000" cy="4572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2286000" cy="365760"/>
          </a:xfrm>
          <a:prstGeom prst="rect">
            <a:avLst/>
          </a:prstGeom>
          <a:noFill/>
        </p:spPr>
        <p:txBody>
          <a:bodyPr wrap="square" anchor="t">
            <a:spAutoFit/>
          </a:bodyPr>
          <a:lstStyle/>
          <a:p>
            <a:pPr algn="ctr">
              <a:spcAft>
                <a:spcPts val="400"/>
              </a:spcAft>
            </a:pPr>
            <a:r>
              <a:rPr sz="1300" b="1">
                <a:solidFill>
                  <a:srgbClr val="FFFFFF"/>
                </a:solidFill>
                <a:latin typeface="Arial"/>
              </a:rPr>
              <a:t>DISCUSSION · 20 MIN</a:t>
            </a:r>
          </a:p>
        </p:txBody>
      </p:sp>
      <p:sp>
        <p:nvSpPr>
          <p:cNvPr id="9" name="TextBox 8"/>
          <p:cNvSpPr txBox="1"/>
          <p:nvPr/>
        </p:nvSpPr>
        <p:spPr>
          <a:xfrm>
            <a:off x="777240" y="2377440"/>
            <a:ext cx="10698480" cy="868680"/>
          </a:xfrm>
          <a:prstGeom prst="rect">
            <a:avLst/>
          </a:prstGeom>
          <a:noFill/>
        </p:spPr>
        <p:txBody>
          <a:bodyPr wrap="square" anchor="t">
            <a:spAutoFit/>
          </a:bodyPr>
          <a:lstStyle/>
          <a:p>
            <a:pPr algn="l">
              <a:spcAft>
                <a:spcPts val="400"/>
              </a:spcAft>
            </a:pPr>
            <a:r>
              <a:rPr sz="1700" b="0">
                <a:solidFill>
                  <a:srgbClr val="161B26"/>
                </a:solidFill>
                <a:latin typeface="Arial"/>
              </a:rPr>
              <a:t>Take the opportunity you identified in Topic 2 and build a first-pass feasibility and cost-benefit case for it, including the security and privacy risks.</a:t>
            </a:r>
          </a:p>
        </p:txBody>
      </p:sp>
      <p:sp>
        <p:nvSpPr>
          <p:cNvPr id="10" name="Rectangle 9"/>
          <p:cNvSpPr/>
          <p:nvPr/>
        </p:nvSpPr>
        <p:spPr>
          <a:xfrm>
            <a:off x="777240" y="3429000"/>
            <a:ext cx="2475738"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3429000"/>
            <a:ext cx="2475738"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759077" y="3685032"/>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759077" y="3685032"/>
            <a:ext cx="512064" cy="512064"/>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923544" y="4325112"/>
            <a:ext cx="2183130" cy="777240"/>
          </a:xfrm>
          <a:prstGeom prst="rect">
            <a:avLst/>
          </a:prstGeom>
          <a:noFill/>
        </p:spPr>
        <p:txBody>
          <a:bodyPr wrap="square" anchor="t">
            <a:spAutoFit/>
          </a:bodyPr>
          <a:lstStyle/>
          <a:p>
            <a:pPr algn="ctr">
              <a:spcAft>
                <a:spcPts val="400"/>
              </a:spcAft>
            </a:pPr>
            <a:r>
              <a:rPr sz="1100" b="0">
                <a:solidFill>
                  <a:srgbClr val="161B26"/>
                </a:solidFill>
                <a:latin typeface="Arial"/>
              </a:rPr>
              <a:t>Costs: devices, connectivity, platform subscription, integration, installation, maintenance.</a:t>
            </a:r>
          </a:p>
        </p:txBody>
      </p:sp>
      <p:sp>
        <p:nvSpPr>
          <p:cNvPr id="15" name="Rectangle 14"/>
          <p:cNvSpPr/>
          <p:nvPr/>
        </p:nvSpPr>
        <p:spPr>
          <a:xfrm>
            <a:off x="3509010" y="3429000"/>
            <a:ext cx="2475738"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09010" y="3429000"/>
            <a:ext cx="247573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4490847" y="3685032"/>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90847" y="3685032"/>
            <a:ext cx="512064" cy="512064"/>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3655314" y="4325112"/>
            <a:ext cx="2183130" cy="777240"/>
          </a:xfrm>
          <a:prstGeom prst="rect">
            <a:avLst/>
          </a:prstGeom>
          <a:noFill/>
        </p:spPr>
        <p:txBody>
          <a:bodyPr wrap="square" anchor="t">
            <a:spAutoFit/>
          </a:bodyPr>
          <a:lstStyle/>
          <a:p>
            <a:pPr algn="ctr">
              <a:spcAft>
                <a:spcPts val="400"/>
              </a:spcAft>
            </a:pPr>
            <a:r>
              <a:rPr sz="1100" b="0">
                <a:solidFill>
                  <a:srgbClr val="161B26"/>
                </a:solidFill>
                <a:latin typeface="Arial"/>
              </a:rPr>
              <a:t>Benefits: labour saved, downtime avoided, energy or wastage reduced, new revenue enabled.</a:t>
            </a:r>
          </a:p>
        </p:txBody>
      </p:sp>
      <p:sp>
        <p:nvSpPr>
          <p:cNvPr id="20" name="Rectangle 19"/>
          <p:cNvSpPr/>
          <p:nvPr/>
        </p:nvSpPr>
        <p:spPr>
          <a:xfrm>
            <a:off x="6240780" y="3429000"/>
            <a:ext cx="2475738"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40780" y="3429000"/>
            <a:ext cx="2475738"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222617" y="3685032"/>
            <a:ext cx="512064" cy="51206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22617" y="3685032"/>
            <a:ext cx="512064" cy="512064"/>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6387084" y="4325112"/>
            <a:ext cx="2183130" cy="777240"/>
          </a:xfrm>
          <a:prstGeom prst="rect">
            <a:avLst/>
          </a:prstGeom>
          <a:noFill/>
        </p:spPr>
        <p:txBody>
          <a:bodyPr wrap="square" anchor="t">
            <a:spAutoFit/>
          </a:bodyPr>
          <a:lstStyle/>
          <a:p>
            <a:pPr algn="ctr">
              <a:spcAft>
                <a:spcPts val="400"/>
              </a:spcAft>
            </a:pPr>
            <a:r>
              <a:rPr sz="1100" b="0">
                <a:solidFill>
                  <a:srgbClr val="161B26"/>
                </a:solidFill>
                <a:latin typeface="Arial"/>
              </a:rPr>
              <a:t>Risks: data privacy, device security, interoperability with legacy systems, skills gaps.</a:t>
            </a:r>
          </a:p>
        </p:txBody>
      </p:sp>
      <p:sp>
        <p:nvSpPr>
          <p:cNvPr id="25" name="Rectangle 24"/>
          <p:cNvSpPr/>
          <p:nvPr/>
        </p:nvSpPr>
        <p:spPr>
          <a:xfrm>
            <a:off x="8972550" y="3429000"/>
            <a:ext cx="2475738"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72550" y="3429000"/>
            <a:ext cx="2475738"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954387" y="3685032"/>
            <a:ext cx="512064" cy="51206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954387" y="3685032"/>
            <a:ext cx="512064" cy="512064"/>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9118854" y="4325112"/>
            <a:ext cx="2183130" cy="777240"/>
          </a:xfrm>
          <a:prstGeom prst="rect">
            <a:avLst/>
          </a:prstGeom>
          <a:noFill/>
        </p:spPr>
        <p:txBody>
          <a:bodyPr wrap="square" anchor="t">
            <a:spAutoFit/>
          </a:bodyPr>
          <a:lstStyle/>
          <a:p>
            <a:pPr algn="ctr">
              <a:spcAft>
                <a:spcPts val="400"/>
              </a:spcAft>
            </a:pPr>
            <a:r>
              <a:rPr sz="1100" b="0">
                <a:solidFill>
                  <a:srgbClr val="161B26"/>
                </a:solidFill>
                <a:latin typeface="Arial"/>
              </a:rPr>
              <a:t>Roughly how long before the benefits exceed the costs — and what would break that estimate?</a:t>
            </a:r>
          </a:p>
        </p:txBody>
      </p:sp>
      <p:sp>
        <p:nvSpPr>
          <p:cNvPr id="30" name="Rectangle 29"/>
          <p:cNvSpPr/>
          <p:nvPr/>
        </p:nvSpPr>
        <p:spPr>
          <a:xfrm>
            <a:off x="777240" y="5440680"/>
            <a:ext cx="10671048" cy="566928"/>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5840" y="5440680"/>
            <a:ext cx="10241280" cy="566928"/>
          </a:xfrm>
          <a:prstGeom prst="rect">
            <a:avLst/>
          </a:prstGeom>
          <a:noFill/>
        </p:spPr>
        <p:txBody>
          <a:bodyPr wrap="square" anchor="ctr">
            <a:spAutoFit/>
          </a:bodyPr>
          <a:lstStyle/>
          <a:p>
            <a:pPr algn="l">
              <a:spcAft>
                <a:spcPts val="400"/>
              </a:spcAft>
            </a:pPr>
            <a:r>
              <a:rPr sz="1000" b="1">
                <a:solidFill>
                  <a:srgbClr val="127A3E"/>
                </a:solidFill>
                <a:latin typeface="Arial"/>
              </a:rPr>
              <a:t>YOUR OUTPUT   </a:t>
            </a:r>
            <a:r>
              <a:rPr sz="1200" b="0">
                <a:solidFill>
                  <a:srgbClr val="161B26"/>
                </a:solidFill>
                <a:latin typeface="Arial"/>
              </a:rPr>
              <a:t>A cost-benefit summary with an estimated payback period and the top three risks.</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RECAP</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Recap — IoT Adoption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Privacy, security, cost, skills and legacy interoperability are the main adoption barriers.</a:t>
            </a:r>
          </a:p>
          <a:p>
            <a:pPr>
              <a:spcAft>
                <a:spcPts val="1000"/>
              </a:spcAft>
            </a:pPr>
            <a:r>
              <a:rPr sz="1700" b="0">
                <a:solidFill>
                  <a:srgbClr val="161B26"/>
                </a:solidFill>
                <a:latin typeface="Arial"/>
              </a:rPr>
              <a:t>•  IoT security differs from IT security: constrained, unattended devices with physical consequences.</a:t>
            </a:r>
          </a:p>
          <a:p>
            <a:pPr>
              <a:spcAft>
                <a:spcPts val="1000"/>
              </a:spcAft>
            </a:pPr>
            <a:r>
              <a:rPr sz="1700" b="0">
                <a:solidFill>
                  <a:srgbClr val="161B26"/>
                </a:solidFill>
                <a:latin typeface="Arial"/>
              </a:rPr>
              <a:t>•  Edge processing cuts latency, bandwidth and privacy exposure; the cloud gives scale and analytics.</a:t>
            </a:r>
          </a:p>
          <a:p>
            <a:pPr>
              <a:spcAft>
                <a:spcPts val="1000"/>
              </a:spcAft>
            </a:pPr>
            <a:r>
              <a:rPr sz="1700" b="0">
                <a:solidFill>
                  <a:srgbClr val="161B26"/>
                </a:solidFill>
                <a:latin typeface="Arial"/>
              </a:rPr>
              <a:t>•  A credible cost-benefit case counts integration and running cost, not just the hardware.</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05</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IoT Implementation</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Success factors · Design thinking · A 7-step action plan</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05</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LO5 · A5, K4 · 60 min</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Key Concepts — IoT Implementation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Lead with business value</a:t>
            </a:r>
          </a:p>
          <a:p>
            <a:pPr algn="l">
              <a:spcAft>
                <a:spcPts val="300"/>
              </a:spcAft>
            </a:pPr>
            <a:r>
              <a:rPr sz="1100" b="0">
                <a:solidFill>
                  <a:srgbClr val="5B6372"/>
                </a:solidFill>
                <a:latin typeface="Arial"/>
              </a:rPr>
              <a:t>Start from the business outcome IoT delivers, not from the technology itself.</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Strategic alignment</a:t>
            </a:r>
          </a:p>
          <a:p>
            <a:pPr algn="l">
              <a:spcAft>
                <a:spcPts val="300"/>
              </a:spcAft>
            </a:pPr>
            <a:r>
              <a:rPr sz="1100" b="0">
                <a:solidFill>
                  <a:srgbClr val="5B6372"/>
                </a:solidFill>
                <a:latin typeface="Arial"/>
              </a:rPr>
              <a:t>The initiative must serve the business strategy and respect technology constraints.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Business process focus</a:t>
            </a:r>
          </a:p>
          <a:p>
            <a:pPr algn="l">
              <a:spcAft>
                <a:spcPts val="300"/>
              </a:spcAft>
            </a:pPr>
            <a:r>
              <a:rPr sz="1100" b="0">
                <a:solidFill>
                  <a:srgbClr val="5B6372"/>
                </a:solidFill>
                <a:latin typeface="Arial"/>
              </a:rPr>
              <a:t>Integrate IoT into existing workflows so the new way is clearly better than today.</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Operating model &amp; capability</a:t>
            </a:r>
          </a:p>
          <a:p>
            <a:pPr algn="l">
              <a:spcAft>
                <a:spcPts val="300"/>
              </a:spcAft>
            </a:pPr>
            <a:r>
              <a:rPr sz="1100" b="0">
                <a:solidFill>
                  <a:srgbClr val="5B6372"/>
                </a:solidFill>
                <a:latin typeface="Arial"/>
              </a:rPr>
              <a:t>Value networks and new skills are needed; give people a common IoT language.</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Security by design</a:t>
            </a:r>
          </a:p>
          <a:p>
            <a:pPr algn="l">
              <a:spcAft>
                <a:spcPts val="300"/>
              </a:spcAft>
            </a:pPr>
            <a:r>
              <a:rPr sz="1100" b="0">
                <a:solidFill>
                  <a:srgbClr val="5B6372"/>
                </a:solidFill>
                <a:latin typeface="Arial"/>
              </a:rPr>
              <a:t>Build end-to-end security in from the start — it is a selection criterion, not an add-on.</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Design thinking</a:t>
            </a:r>
          </a:p>
          <a:p>
            <a:pPr algn="l">
              <a:spcAft>
                <a:spcPts val="300"/>
              </a:spcAft>
            </a:pPr>
            <a:r>
              <a:rPr sz="1100" b="0">
                <a:solidFill>
                  <a:srgbClr val="5B6372"/>
                </a:solidFill>
                <a:latin typeface="Arial"/>
              </a:rPr>
              <a:t>Empathise, Define, Ideate, Prototype, Test — start small, prove value, then scale.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85</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K4 · WHAT SEPARATES SUCCESS FROM FAILURE</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Six Success Factors for IoT Implementation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Business benefits</a:t>
            </a:r>
          </a:p>
          <a:p>
            <a:pPr algn="l">
              <a:spcAft>
                <a:spcPts val="300"/>
              </a:spcAft>
            </a:pPr>
            <a:r>
              <a:rPr sz="1100" b="0">
                <a:solidFill>
                  <a:srgbClr val="5B6372"/>
                </a:solidFill>
                <a:latin typeface="Arial"/>
              </a:rPr>
              <a:t>Focus on the value IoT delivers, not on what the technology can do.</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Strategic alignment</a:t>
            </a:r>
          </a:p>
          <a:p>
            <a:pPr algn="l">
              <a:spcAft>
                <a:spcPts val="300"/>
              </a:spcAft>
            </a:pPr>
            <a:r>
              <a:rPr sz="1100" b="0">
                <a:solidFill>
                  <a:srgbClr val="5B6372"/>
                </a:solidFill>
                <a:latin typeface="Arial"/>
              </a:rPr>
              <a:t>Align with the business strategy and respect technology constraints.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Business process focus</a:t>
            </a:r>
          </a:p>
          <a:p>
            <a:pPr algn="l">
              <a:spcAft>
                <a:spcPts val="300"/>
              </a:spcAft>
            </a:pPr>
            <a:r>
              <a:rPr sz="1100" b="0">
                <a:solidFill>
                  <a:srgbClr val="5B6372"/>
                </a:solidFill>
                <a:latin typeface="Arial"/>
              </a:rPr>
              <a:t>Integrate into existing workflows so the new way is clearly better.</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Operating model changes</a:t>
            </a:r>
          </a:p>
          <a:p>
            <a:pPr algn="l">
              <a:spcAft>
                <a:spcPts val="300"/>
              </a:spcAft>
            </a:pPr>
            <a:r>
              <a:rPr sz="1100" b="0">
                <a:solidFill>
                  <a:srgbClr val="5B6372"/>
                </a:solidFill>
                <a:latin typeface="Arial"/>
              </a:rPr>
              <a:t>Build the value network — end-to-end IoT needs close collaboration.</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Capability uplift</a:t>
            </a:r>
          </a:p>
          <a:p>
            <a:pPr algn="l">
              <a:spcAft>
                <a:spcPts val="300"/>
              </a:spcAft>
            </a:pPr>
            <a:r>
              <a:rPr sz="1100" b="0">
                <a:solidFill>
                  <a:srgbClr val="5B6372"/>
                </a:solidFill>
                <a:latin typeface="Arial"/>
              </a:rPr>
              <a:t>Teach people IoT and Industry 4.0 so everyone shares a common language.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End-to-end security</a:t>
            </a:r>
          </a:p>
          <a:p>
            <a:pPr algn="l">
              <a:spcAft>
                <a:spcPts val="300"/>
              </a:spcAft>
            </a:pPr>
            <a:r>
              <a:rPr sz="1100" b="0">
                <a:solidFill>
                  <a:srgbClr val="5B6372"/>
                </a:solidFill>
                <a:latin typeface="Arial"/>
              </a:rPr>
              <a:t>Security by design becomes a criterion when choosing technology.</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86</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A5 · A METHOD FOR INNOVATION</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Design Thinking — the Stanford d.school Model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187817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1424" y="2715768"/>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142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EMPATHISE — understand the user's real experience</a:t>
            </a:r>
          </a:p>
        </p:txBody>
      </p:sp>
      <p:sp>
        <p:nvSpPr>
          <p:cNvPr id="12" name="TextBox 11"/>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13" name="Rectangle 12"/>
          <p:cNvSpPr/>
          <p:nvPr/>
        </p:nvSpPr>
        <p:spPr>
          <a:xfrm>
            <a:off x="2966313"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66313" y="2331720"/>
            <a:ext cx="187817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30497" y="2715768"/>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30497"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3112617"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DEFINE — state the problem from their point of view</a:t>
            </a:r>
          </a:p>
        </p:txBody>
      </p:sp>
      <p:sp>
        <p:nvSpPr>
          <p:cNvPr id="18" name="TextBox 17"/>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19" name="Rectangle 18"/>
          <p:cNvSpPr/>
          <p:nvPr/>
        </p:nvSpPr>
        <p:spPr>
          <a:xfrm>
            <a:off x="5155386"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55386" y="2331720"/>
            <a:ext cx="187817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19570" y="2715768"/>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1957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5301690"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IDEATE — generate many diverse possible solutions</a:t>
            </a:r>
          </a:p>
        </p:txBody>
      </p:sp>
      <p:sp>
        <p:nvSpPr>
          <p:cNvPr id="24" name="TextBox 23"/>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25" name="Rectangle 24"/>
          <p:cNvSpPr/>
          <p:nvPr/>
        </p:nvSpPr>
        <p:spPr>
          <a:xfrm>
            <a:off x="7344459"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4459" y="2331720"/>
            <a:ext cx="187817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8643" y="2715768"/>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86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7490763"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PROTOTYPE — make it tangible enough to interact with</a:t>
            </a:r>
          </a:p>
        </p:txBody>
      </p:sp>
      <p:sp>
        <p:nvSpPr>
          <p:cNvPr id="30" name="TextBox 29"/>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31" name="Rectangle 30"/>
          <p:cNvSpPr/>
          <p:nvPr/>
        </p:nvSpPr>
        <p:spPr>
          <a:xfrm>
            <a:off x="9533532"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33532" y="2331720"/>
            <a:ext cx="187817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97716" y="2715768"/>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9771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9679836"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TEST — observe, gather feedback and refine</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87</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THE 7-STEP ACTION PLAN</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Applying Design Thinking to Your IoT Project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96596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731520"/>
          </a:xfrm>
          <a:prstGeom prst="rect">
            <a:avLst/>
          </a:prstGeom>
          <a:noFill/>
        </p:spPr>
        <p:txBody>
          <a:bodyPr wrap="square" anchor="ctr">
            <a:spAutoFit/>
          </a:bodyPr>
          <a:lstStyle/>
          <a:p>
            <a:pPr algn="l">
              <a:spcAft>
                <a:spcPts val="300"/>
              </a:spcAft>
            </a:pPr>
            <a:r>
              <a:rPr sz="1500" b="1">
                <a:solidFill>
                  <a:srgbClr val="161B26"/>
                </a:solidFill>
                <a:latin typeface="Arial"/>
              </a:rPr>
              <a:t>1 · Set business focus</a:t>
            </a:r>
          </a:p>
          <a:p>
            <a:pPr algn="l">
              <a:spcAft>
                <a:spcPts val="300"/>
              </a:spcAft>
            </a:pPr>
            <a:r>
              <a:rPr sz="1100" b="0">
                <a:solidFill>
                  <a:srgbClr val="5B6372"/>
                </a:solidFill>
                <a:latin typeface="Arial"/>
              </a:rPr>
              <a:t>Commit at top-management level and state the strategic goal IoT must serve.</a:t>
            </a:r>
          </a:p>
        </p:txBody>
      </p:sp>
      <p:sp>
        <p:nvSpPr>
          <p:cNvPr id="12" name="Rectangle 11"/>
          <p:cNvSpPr/>
          <p:nvPr/>
        </p:nvSpPr>
        <p:spPr>
          <a:xfrm>
            <a:off x="6231636" y="1783080"/>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196596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731520"/>
          </a:xfrm>
          <a:prstGeom prst="rect">
            <a:avLst/>
          </a:prstGeom>
          <a:noFill/>
        </p:spPr>
        <p:txBody>
          <a:bodyPr wrap="square" anchor="ctr">
            <a:spAutoFit/>
          </a:bodyPr>
          <a:lstStyle/>
          <a:p>
            <a:pPr algn="l">
              <a:spcAft>
                <a:spcPts val="300"/>
              </a:spcAft>
            </a:pPr>
            <a:r>
              <a:rPr sz="1500" b="1">
                <a:solidFill>
                  <a:srgbClr val="161B26"/>
                </a:solidFill>
                <a:latin typeface="Arial"/>
              </a:rPr>
              <a:t>2 · Introduce IoT capability</a:t>
            </a:r>
          </a:p>
          <a:p>
            <a:pPr algn="l">
              <a:spcAft>
                <a:spcPts val="300"/>
              </a:spcAft>
            </a:pPr>
            <a:r>
              <a:rPr sz="1100" b="0">
                <a:solidFill>
                  <a:srgbClr val="5B6372"/>
                </a:solidFill>
                <a:latin typeface="Arial"/>
              </a:rPr>
              <a:t>Build the team's understanding of what IoT can realistically do.</a:t>
            </a:r>
          </a:p>
        </p:txBody>
      </p:sp>
      <p:sp>
        <p:nvSpPr>
          <p:cNvPr id="17" name="Rectangle 16"/>
          <p:cNvSpPr/>
          <p:nvPr/>
        </p:nvSpPr>
        <p:spPr>
          <a:xfrm>
            <a:off x="777240" y="2935224"/>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2935224"/>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118104"/>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063240"/>
            <a:ext cx="3973068" cy="731520"/>
          </a:xfrm>
          <a:prstGeom prst="rect">
            <a:avLst/>
          </a:prstGeom>
          <a:noFill/>
        </p:spPr>
        <p:txBody>
          <a:bodyPr wrap="square" anchor="ctr">
            <a:spAutoFit/>
          </a:bodyPr>
          <a:lstStyle/>
          <a:p>
            <a:pPr algn="l">
              <a:spcAft>
                <a:spcPts val="300"/>
              </a:spcAft>
            </a:pPr>
            <a:r>
              <a:rPr sz="1500" b="1">
                <a:solidFill>
                  <a:srgbClr val="161B26"/>
                </a:solidFill>
                <a:latin typeface="Arial"/>
              </a:rPr>
              <a:t>3 · Empathise with the user</a:t>
            </a:r>
          </a:p>
          <a:p>
            <a:pPr algn="l">
              <a:spcAft>
                <a:spcPts val="300"/>
              </a:spcAft>
            </a:pPr>
            <a:r>
              <a:rPr sz="1100" b="0">
                <a:solidFill>
                  <a:srgbClr val="5B6372"/>
                </a:solidFill>
                <a:latin typeface="Arial"/>
              </a:rPr>
              <a:t>Identify the pains and gains of the customer or operator affected.</a:t>
            </a:r>
          </a:p>
        </p:txBody>
      </p:sp>
      <p:sp>
        <p:nvSpPr>
          <p:cNvPr id="22" name="Rectangle 21"/>
          <p:cNvSpPr/>
          <p:nvPr/>
        </p:nvSpPr>
        <p:spPr>
          <a:xfrm>
            <a:off x="6231636" y="2935224"/>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2935224"/>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118104"/>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063240"/>
            <a:ext cx="3973068" cy="731520"/>
          </a:xfrm>
          <a:prstGeom prst="rect">
            <a:avLst/>
          </a:prstGeom>
          <a:noFill/>
        </p:spPr>
        <p:txBody>
          <a:bodyPr wrap="square" anchor="ctr">
            <a:spAutoFit/>
          </a:bodyPr>
          <a:lstStyle/>
          <a:p>
            <a:pPr algn="l">
              <a:spcAft>
                <a:spcPts val="300"/>
              </a:spcAft>
            </a:pPr>
            <a:r>
              <a:rPr sz="1500" b="1">
                <a:solidFill>
                  <a:srgbClr val="161B26"/>
                </a:solidFill>
                <a:latin typeface="Arial"/>
              </a:rPr>
              <a:t>4 · Ideate and select</a:t>
            </a:r>
          </a:p>
          <a:p>
            <a:pPr algn="l">
              <a:spcAft>
                <a:spcPts val="300"/>
              </a:spcAft>
            </a:pPr>
            <a:r>
              <a:rPr sz="1100" b="0">
                <a:solidFill>
                  <a:srgbClr val="5B6372"/>
                </a:solidFill>
                <a:latin typeface="Arial"/>
              </a:rPr>
              <a:t>Generate options, then select on brand values and business ambition.</a:t>
            </a:r>
          </a:p>
        </p:txBody>
      </p:sp>
      <p:sp>
        <p:nvSpPr>
          <p:cNvPr id="27" name="Rectangle 26"/>
          <p:cNvSpPr/>
          <p:nvPr/>
        </p:nvSpPr>
        <p:spPr>
          <a:xfrm>
            <a:off x="777240" y="4087368"/>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087368"/>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427024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215384"/>
            <a:ext cx="3973068" cy="731520"/>
          </a:xfrm>
          <a:prstGeom prst="rect">
            <a:avLst/>
          </a:prstGeom>
          <a:noFill/>
        </p:spPr>
        <p:txBody>
          <a:bodyPr wrap="square" anchor="ctr">
            <a:spAutoFit/>
          </a:bodyPr>
          <a:lstStyle/>
          <a:p>
            <a:pPr algn="l">
              <a:spcAft>
                <a:spcPts val="300"/>
              </a:spcAft>
            </a:pPr>
            <a:r>
              <a:rPr sz="1500" b="1">
                <a:solidFill>
                  <a:srgbClr val="161B26"/>
                </a:solidFill>
                <a:latin typeface="Arial"/>
              </a:rPr>
              <a:t>5 · Prototype a pilot</a:t>
            </a:r>
          </a:p>
          <a:p>
            <a:pPr algn="l">
              <a:spcAft>
                <a:spcPts val="300"/>
              </a:spcAft>
            </a:pPr>
            <a:r>
              <a:rPr sz="1100" b="0">
                <a:solidFill>
                  <a:srgbClr val="5B6372"/>
                </a:solidFill>
                <a:latin typeface="Arial"/>
              </a:rPr>
              <a:t>Smallest deployment that proves value — one asset, one site, one metric.</a:t>
            </a:r>
          </a:p>
        </p:txBody>
      </p:sp>
      <p:sp>
        <p:nvSpPr>
          <p:cNvPr id="32" name="Rectangle 31"/>
          <p:cNvSpPr/>
          <p:nvPr/>
        </p:nvSpPr>
        <p:spPr>
          <a:xfrm>
            <a:off x="6231636" y="4087368"/>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087368"/>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427024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215384"/>
            <a:ext cx="3973068" cy="731520"/>
          </a:xfrm>
          <a:prstGeom prst="rect">
            <a:avLst/>
          </a:prstGeom>
          <a:noFill/>
        </p:spPr>
        <p:txBody>
          <a:bodyPr wrap="square" anchor="ctr">
            <a:spAutoFit/>
          </a:bodyPr>
          <a:lstStyle/>
          <a:p>
            <a:pPr algn="l">
              <a:spcAft>
                <a:spcPts val="300"/>
              </a:spcAft>
            </a:pPr>
            <a:r>
              <a:rPr sz="1500" b="1">
                <a:solidFill>
                  <a:srgbClr val="161B26"/>
                </a:solidFill>
                <a:latin typeface="Arial"/>
              </a:rPr>
              <a:t>6 · Identify implications</a:t>
            </a:r>
          </a:p>
          <a:p>
            <a:pPr algn="l">
              <a:spcAft>
                <a:spcPts val="300"/>
              </a:spcAft>
            </a:pPr>
            <a:r>
              <a:rPr sz="1100" b="0">
                <a:solidFill>
                  <a:srgbClr val="5B6372"/>
                </a:solidFill>
                <a:latin typeface="Arial"/>
              </a:rPr>
              <a:t>Develop and validate the business case, including risk and security.</a:t>
            </a:r>
          </a:p>
        </p:txBody>
      </p:sp>
      <p:sp>
        <p:nvSpPr>
          <p:cNvPr id="37" name="Rectangle 36"/>
          <p:cNvSpPr/>
          <p:nvPr/>
        </p:nvSpPr>
        <p:spPr>
          <a:xfrm>
            <a:off x="777240" y="5239512"/>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7240" y="5239512"/>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1033272" y="5422392"/>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33272"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7</a:t>
            </a:r>
          </a:p>
        </p:txBody>
      </p:sp>
      <p:sp>
        <p:nvSpPr>
          <p:cNvPr id="41" name="TextBox 40"/>
          <p:cNvSpPr txBox="1"/>
          <p:nvPr/>
        </p:nvSpPr>
        <p:spPr>
          <a:xfrm>
            <a:off x="1764792" y="5367528"/>
            <a:ext cx="3973068" cy="731520"/>
          </a:xfrm>
          <a:prstGeom prst="rect">
            <a:avLst/>
          </a:prstGeom>
          <a:noFill/>
        </p:spPr>
        <p:txBody>
          <a:bodyPr wrap="square" anchor="ctr">
            <a:spAutoFit/>
          </a:bodyPr>
          <a:lstStyle/>
          <a:p>
            <a:pPr algn="l">
              <a:spcAft>
                <a:spcPts val="300"/>
              </a:spcAft>
            </a:pPr>
            <a:r>
              <a:rPr sz="1500" b="1">
                <a:solidFill>
                  <a:srgbClr val="161B26"/>
                </a:solidFill>
                <a:latin typeface="Arial"/>
              </a:rPr>
              <a:t>7 · Pitch to decision makers</a:t>
            </a:r>
          </a:p>
          <a:p>
            <a:pPr algn="l">
              <a:spcAft>
                <a:spcPts val="300"/>
              </a:spcAft>
            </a:pPr>
            <a:r>
              <a:rPr sz="1100" b="0">
                <a:solidFill>
                  <a:srgbClr val="5B6372"/>
                </a:solidFill>
                <a:latin typeface="Arial"/>
              </a:rPr>
              <a:t>Win the coalition and the funding needed to scale beyond the pilot.</a:t>
            </a:r>
          </a:p>
        </p:txBody>
      </p:sp>
      <p:sp>
        <p:nvSpPr>
          <p:cNvPr id="42" name="Rectangle 41"/>
          <p:cNvSpPr/>
          <p:nvPr/>
        </p:nvSpPr>
        <p:spPr>
          <a:xfrm>
            <a:off x="6231636" y="5239512"/>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231636"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6487668" y="5422392"/>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487668"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8</a:t>
            </a:r>
          </a:p>
        </p:txBody>
      </p:sp>
      <p:sp>
        <p:nvSpPr>
          <p:cNvPr id="46" name="TextBox 45"/>
          <p:cNvSpPr txBox="1"/>
          <p:nvPr/>
        </p:nvSpPr>
        <p:spPr>
          <a:xfrm>
            <a:off x="7219188" y="5367528"/>
            <a:ext cx="3973068" cy="731520"/>
          </a:xfrm>
          <a:prstGeom prst="rect">
            <a:avLst/>
          </a:prstGeom>
          <a:noFill/>
        </p:spPr>
        <p:txBody>
          <a:bodyPr wrap="square" anchor="ctr">
            <a:spAutoFit/>
          </a:bodyPr>
          <a:lstStyle/>
          <a:p>
            <a:pPr algn="l">
              <a:spcAft>
                <a:spcPts val="300"/>
              </a:spcAft>
            </a:pPr>
            <a:r>
              <a:rPr sz="1500" b="1">
                <a:solidFill>
                  <a:srgbClr val="161B26"/>
                </a:solidFill>
                <a:latin typeface="Arial"/>
              </a:rPr>
              <a:t>Then scale</a:t>
            </a:r>
          </a:p>
          <a:p>
            <a:pPr algn="l">
              <a:spcAft>
                <a:spcPts val="300"/>
              </a:spcAft>
            </a:pPr>
            <a:r>
              <a:rPr sz="1100" b="0">
                <a:solidFill>
                  <a:srgbClr val="5B6372"/>
                </a:solidFill>
                <a:latin typeface="Arial"/>
              </a:rPr>
              <a:t>Roll out on evidence from the pilot, not on optimism.</a:t>
            </a:r>
          </a:p>
        </p:txBody>
      </p:sp>
      <p:sp>
        <p:nvSpPr>
          <p:cNvPr id="47" name="TextBox 4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48" name="TextBox 4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9" name="TextBox 4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88</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TOPIC 05 · ACTIVITY</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Discussion — Your Implementation Action Plan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2286000" cy="4572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2286000" cy="365760"/>
          </a:xfrm>
          <a:prstGeom prst="rect">
            <a:avLst/>
          </a:prstGeom>
          <a:noFill/>
        </p:spPr>
        <p:txBody>
          <a:bodyPr wrap="square" anchor="t">
            <a:spAutoFit/>
          </a:bodyPr>
          <a:lstStyle/>
          <a:p>
            <a:pPr algn="ctr">
              <a:spcAft>
                <a:spcPts val="400"/>
              </a:spcAft>
            </a:pPr>
            <a:r>
              <a:rPr sz="1300" b="1">
                <a:solidFill>
                  <a:srgbClr val="FFFFFF"/>
                </a:solidFill>
                <a:latin typeface="Arial"/>
              </a:rPr>
              <a:t>DISCUSSION · 20 MIN</a:t>
            </a:r>
          </a:p>
        </p:txBody>
      </p:sp>
      <p:sp>
        <p:nvSpPr>
          <p:cNvPr id="9" name="TextBox 8"/>
          <p:cNvSpPr txBox="1"/>
          <p:nvPr/>
        </p:nvSpPr>
        <p:spPr>
          <a:xfrm>
            <a:off x="777240" y="2377440"/>
            <a:ext cx="10698480" cy="868680"/>
          </a:xfrm>
          <a:prstGeom prst="rect">
            <a:avLst/>
          </a:prstGeom>
          <a:noFill/>
        </p:spPr>
        <p:txBody>
          <a:bodyPr wrap="square" anchor="t">
            <a:spAutoFit/>
          </a:bodyPr>
          <a:lstStyle/>
          <a:p>
            <a:pPr algn="l">
              <a:spcAft>
                <a:spcPts val="400"/>
              </a:spcAft>
            </a:pPr>
            <a:r>
              <a:rPr sz="1700" b="0">
                <a:solidFill>
                  <a:srgbClr val="161B26"/>
                </a:solidFill>
                <a:latin typeface="Arial"/>
              </a:rPr>
              <a:t>Apply design thinking and the success factors to turn your opportunity into a staged action plan you could actually pitch to management.</a:t>
            </a:r>
          </a:p>
        </p:txBody>
      </p:sp>
      <p:sp>
        <p:nvSpPr>
          <p:cNvPr id="10" name="Rectangle 9"/>
          <p:cNvSpPr/>
          <p:nvPr/>
        </p:nvSpPr>
        <p:spPr>
          <a:xfrm>
            <a:off x="777240" y="3429000"/>
            <a:ext cx="2475738"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3429000"/>
            <a:ext cx="2475738"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759077" y="3685032"/>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759077" y="3685032"/>
            <a:ext cx="512064" cy="512064"/>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923544" y="4325112"/>
            <a:ext cx="2183130" cy="777240"/>
          </a:xfrm>
          <a:prstGeom prst="rect">
            <a:avLst/>
          </a:prstGeom>
          <a:noFill/>
        </p:spPr>
        <p:txBody>
          <a:bodyPr wrap="square" anchor="t">
            <a:spAutoFit/>
          </a:bodyPr>
          <a:lstStyle/>
          <a:p>
            <a:pPr algn="ctr">
              <a:spcAft>
                <a:spcPts val="400"/>
              </a:spcAft>
            </a:pPr>
            <a:r>
              <a:rPr sz="1100" b="0">
                <a:solidFill>
                  <a:srgbClr val="161B26"/>
                </a:solidFill>
                <a:latin typeface="Arial"/>
              </a:rPr>
              <a:t>Empathise &amp; Define: whose problem is this, and how would you state it in one sentence?</a:t>
            </a:r>
          </a:p>
        </p:txBody>
      </p:sp>
      <p:sp>
        <p:nvSpPr>
          <p:cNvPr id="15" name="Rectangle 14"/>
          <p:cNvSpPr/>
          <p:nvPr/>
        </p:nvSpPr>
        <p:spPr>
          <a:xfrm>
            <a:off x="3509010" y="3429000"/>
            <a:ext cx="2475738"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09010" y="3429000"/>
            <a:ext cx="247573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4490847" y="3685032"/>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90847" y="3685032"/>
            <a:ext cx="512064" cy="512064"/>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3655314" y="4325112"/>
            <a:ext cx="2183130" cy="777240"/>
          </a:xfrm>
          <a:prstGeom prst="rect">
            <a:avLst/>
          </a:prstGeom>
          <a:noFill/>
        </p:spPr>
        <p:txBody>
          <a:bodyPr wrap="square" anchor="t">
            <a:spAutoFit/>
          </a:bodyPr>
          <a:lstStyle/>
          <a:p>
            <a:pPr algn="ctr">
              <a:spcAft>
                <a:spcPts val="400"/>
              </a:spcAft>
            </a:pPr>
            <a:r>
              <a:rPr sz="1100" b="0">
                <a:solidFill>
                  <a:srgbClr val="161B26"/>
                </a:solidFill>
                <a:latin typeface="Arial"/>
              </a:rPr>
              <a:t>Ideate &amp; Prototype: what is the smallest pilot that proves the value — one device, one site?</a:t>
            </a:r>
          </a:p>
        </p:txBody>
      </p:sp>
      <p:sp>
        <p:nvSpPr>
          <p:cNvPr id="20" name="Rectangle 19"/>
          <p:cNvSpPr/>
          <p:nvPr/>
        </p:nvSpPr>
        <p:spPr>
          <a:xfrm>
            <a:off x="6240780" y="3429000"/>
            <a:ext cx="2475738"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40780" y="3429000"/>
            <a:ext cx="2475738"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222617" y="3685032"/>
            <a:ext cx="512064" cy="51206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22617" y="3685032"/>
            <a:ext cx="512064" cy="512064"/>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6387084" y="4325112"/>
            <a:ext cx="2183130" cy="777240"/>
          </a:xfrm>
          <a:prstGeom prst="rect">
            <a:avLst/>
          </a:prstGeom>
          <a:noFill/>
        </p:spPr>
        <p:txBody>
          <a:bodyPr wrap="square" anchor="t">
            <a:spAutoFit/>
          </a:bodyPr>
          <a:lstStyle/>
          <a:p>
            <a:pPr algn="ctr">
              <a:spcAft>
                <a:spcPts val="400"/>
              </a:spcAft>
            </a:pPr>
            <a:r>
              <a:rPr sz="1100" b="0">
                <a:solidFill>
                  <a:srgbClr val="161B26"/>
                </a:solidFill>
                <a:latin typeface="Arial"/>
              </a:rPr>
              <a:t>Test &amp; scale: what measurable result would justify rolling it out further?</a:t>
            </a:r>
          </a:p>
        </p:txBody>
      </p:sp>
      <p:sp>
        <p:nvSpPr>
          <p:cNvPr id="25" name="Rectangle 24"/>
          <p:cNvSpPr/>
          <p:nvPr/>
        </p:nvSpPr>
        <p:spPr>
          <a:xfrm>
            <a:off x="8972550" y="3429000"/>
            <a:ext cx="2475738"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72550" y="3429000"/>
            <a:ext cx="2475738"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954387" y="3685032"/>
            <a:ext cx="512064" cy="51206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954387" y="3685032"/>
            <a:ext cx="512064" cy="512064"/>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9118854" y="4325112"/>
            <a:ext cx="2183130" cy="777240"/>
          </a:xfrm>
          <a:prstGeom prst="rect">
            <a:avLst/>
          </a:prstGeom>
          <a:noFill/>
        </p:spPr>
        <p:txBody>
          <a:bodyPr wrap="square" anchor="t">
            <a:spAutoFit/>
          </a:bodyPr>
          <a:lstStyle/>
          <a:p>
            <a:pPr algn="ctr">
              <a:spcAft>
                <a:spcPts val="400"/>
              </a:spcAft>
            </a:pPr>
            <a:r>
              <a:rPr sz="1100" b="0">
                <a:solidFill>
                  <a:srgbClr val="161B26"/>
                </a:solidFill>
                <a:latin typeface="Arial"/>
              </a:rPr>
              <a:t>Which success factor is weakest in your organisation today, and how will you address it?</a:t>
            </a:r>
          </a:p>
        </p:txBody>
      </p:sp>
      <p:sp>
        <p:nvSpPr>
          <p:cNvPr id="30" name="Rectangle 29"/>
          <p:cNvSpPr/>
          <p:nvPr/>
        </p:nvSpPr>
        <p:spPr>
          <a:xfrm>
            <a:off x="777240" y="5440680"/>
            <a:ext cx="10671048" cy="566928"/>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5840" y="5440680"/>
            <a:ext cx="10241280" cy="566928"/>
          </a:xfrm>
          <a:prstGeom prst="rect">
            <a:avLst/>
          </a:prstGeom>
          <a:noFill/>
        </p:spPr>
        <p:txBody>
          <a:bodyPr wrap="square" anchor="ctr">
            <a:spAutoFit/>
          </a:bodyPr>
          <a:lstStyle/>
          <a:p>
            <a:pPr algn="l">
              <a:spcAft>
                <a:spcPts val="400"/>
              </a:spcAft>
            </a:pPr>
            <a:r>
              <a:rPr sz="1000" b="1">
                <a:solidFill>
                  <a:srgbClr val="127A3E"/>
                </a:solidFill>
                <a:latin typeface="Arial"/>
              </a:rPr>
              <a:t>YOUR OUTPUT   </a:t>
            </a:r>
            <a:r>
              <a:rPr sz="1200" b="0">
                <a:solidFill>
                  <a:srgbClr val="161B26"/>
                </a:solidFill>
                <a:latin typeface="Arial"/>
              </a:rPr>
              <a:t>A staged action plan: pilot scope, success measure, owner, and the case for scaling.</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89</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RECAP</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Recap — IoT Implementation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Lead with business value and align the initiative with the business strategy.</a:t>
            </a:r>
          </a:p>
          <a:p>
            <a:pPr>
              <a:spcAft>
                <a:spcPts val="1000"/>
              </a:spcAft>
            </a:pPr>
            <a:r>
              <a:rPr sz="1700" b="0">
                <a:solidFill>
                  <a:srgbClr val="161B26"/>
                </a:solidFill>
                <a:latin typeface="Arial"/>
              </a:rPr>
              <a:t>•  Integrate IoT into existing processes; build capability and the value network around it.</a:t>
            </a:r>
          </a:p>
          <a:p>
            <a:pPr>
              <a:spcAft>
                <a:spcPts val="1000"/>
              </a:spcAft>
            </a:pPr>
            <a:r>
              <a:rPr sz="1700" b="0">
                <a:solidFill>
                  <a:srgbClr val="161B26"/>
                </a:solidFill>
                <a:latin typeface="Arial"/>
              </a:rPr>
              <a:t>•  Design security in from the start — it is a selection criterion, not an afterthought.</a:t>
            </a:r>
          </a:p>
          <a:p>
            <a:pPr>
              <a:spcAft>
                <a:spcPts val="1000"/>
              </a:spcAft>
            </a:pPr>
            <a:r>
              <a:rPr sz="1700" b="0">
                <a:solidFill>
                  <a:srgbClr val="161B26"/>
                </a:solidFill>
                <a:latin typeface="Arial"/>
              </a:rPr>
              <a:t>•  Use design thinking: empathise, define, ideate, prototype, test — pilot before you scale.</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90</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WRAP-UP</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Course Summary &amp; Next Steps</a:t>
            </a:r>
          </a:p>
        </p:txBody>
      </p:sp>
      <p:sp>
        <p:nvSpPr>
          <p:cNvPr id="7" name="TextBox 6"/>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91</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LEARNING OUTCOMES</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What You Achieved Today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85074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85074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501091"/>
          </a:xfrm>
          <a:prstGeom prst="rect">
            <a:avLst/>
          </a:prstGeom>
          <a:noFill/>
        </p:spPr>
        <p:txBody>
          <a:bodyPr wrap="square" anchor="ctr">
            <a:spAutoFit/>
          </a:bodyPr>
          <a:lstStyle/>
          <a:p>
            <a:pPr algn="l">
              <a:spcAft>
                <a:spcPts val="300"/>
              </a:spcAft>
            </a:pPr>
            <a:r>
              <a:rPr sz="1600" b="1">
                <a:solidFill>
                  <a:srgbClr val="161B26"/>
                </a:solidFill>
                <a:latin typeface="Arial"/>
              </a:rPr>
              <a:t>LO1 · Business models</a:t>
            </a:r>
          </a:p>
          <a:p>
            <a:pPr algn="l">
              <a:spcAft>
                <a:spcPts val="300"/>
              </a:spcAft>
            </a:pPr>
            <a:r>
              <a:rPr sz="1200" b="0">
                <a:solidFill>
                  <a:srgbClr val="5B6372"/>
                </a:solidFill>
                <a:latin typeface="Arial"/>
              </a:rPr>
              <a:t>Compared your current business model against IoT-enabled models.</a:t>
            </a:r>
          </a:p>
        </p:txBody>
      </p:sp>
      <p:sp>
        <p:nvSpPr>
          <p:cNvPr id="12" name="Rectangle 11"/>
          <p:cNvSpPr/>
          <p:nvPr/>
        </p:nvSpPr>
        <p:spPr>
          <a:xfrm>
            <a:off x="777240" y="270479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704795"/>
            <a:ext cx="91440" cy="68397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277246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27724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2832811"/>
            <a:ext cx="9427464" cy="501091"/>
          </a:xfrm>
          <a:prstGeom prst="rect">
            <a:avLst/>
          </a:prstGeom>
          <a:noFill/>
        </p:spPr>
        <p:txBody>
          <a:bodyPr wrap="square" anchor="ctr">
            <a:spAutoFit/>
          </a:bodyPr>
          <a:lstStyle/>
          <a:p>
            <a:pPr algn="l">
              <a:spcAft>
                <a:spcPts val="300"/>
              </a:spcAft>
            </a:pPr>
            <a:r>
              <a:rPr sz="1600" b="1">
                <a:solidFill>
                  <a:srgbClr val="161B26"/>
                </a:solidFill>
                <a:latin typeface="Arial"/>
              </a:rPr>
              <a:t>LO2 · Opportunities</a:t>
            </a:r>
          </a:p>
          <a:p>
            <a:pPr algn="l">
              <a:spcAft>
                <a:spcPts val="300"/>
              </a:spcAft>
            </a:pPr>
            <a:r>
              <a:rPr sz="1200" b="0">
                <a:solidFill>
                  <a:srgbClr val="5B6372"/>
                </a:solidFill>
                <a:latin typeface="Arial"/>
              </a:rPr>
              <a:t>Explored IoT use cases across six industries and found one of your own.</a:t>
            </a:r>
          </a:p>
        </p:txBody>
      </p:sp>
      <p:sp>
        <p:nvSpPr>
          <p:cNvPr id="17" name="Rectangle 16"/>
          <p:cNvSpPr/>
          <p:nvPr/>
        </p:nvSpPr>
        <p:spPr>
          <a:xfrm>
            <a:off x="777240" y="362651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626510"/>
            <a:ext cx="91440" cy="683971"/>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5"/>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754526"/>
            <a:ext cx="9427464" cy="501091"/>
          </a:xfrm>
          <a:prstGeom prst="rect">
            <a:avLst/>
          </a:prstGeom>
          <a:noFill/>
        </p:spPr>
        <p:txBody>
          <a:bodyPr wrap="square" anchor="ctr">
            <a:spAutoFit/>
          </a:bodyPr>
          <a:lstStyle/>
          <a:p>
            <a:pPr algn="l">
              <a:spcAft>
                <a:spcPts val="300"/>
              </a:spcAft>
            </a:pPr>
            <a:r>
              <a:rPr sz="1600" b="1">
                <a:solidFill>
                  <a:srgbClr val="161B26"/>
                </a:solidFill>
                <a:latin typeface="Arial"/>
              </a:rPr>
              <a:t>LO3 · How IoT works</a:t>
            </a:r>
          </a:p>
          <a:p>
            <a:pPr algn="l">
              <a:spcAft>
                <a:spcPts val="300"/>
              </a:spcAft>
            </a:pPr>
            <a:r>
              <a:rPr sz="1200" b="0">
                <a:solidFill>
                  <a:srgbClr val="5B6372"/>
                </a:solidFill>
                <a:latin typeface="Arial"/>
              </a:rPr>
              <a:t>Registered a device, posted data, controlled it remotely and built a dashboard.</a:t>
            </a:r>
          </a:p>
        </p:txBody>
      </p:sp>
      <p:sp>
        <p:nvSpPr>
          <p:cNvPr id="22" name="Rectangle 21"/>
          <p:cNvSpPr/>
          <p:nvPr/>
        </p:nvSpPr>
        <p:spPr>
          <a:xfrm>
            <a:off x="777240" y="454822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4548225"/>
            <a:ext cx="91440" cy="683971"/>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461589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461589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4676241"/>
            <a:ext cx="9427464" cy="501091"/>
          </a:xfrm>
          <a:prstGeom prst="rect">
            <a:avLst/>
          </a:prstGeom>
          <a:noFill/>
        </p:spPr>
        <p:txBody>
          <a:bodyPr wrap="square" anchor="ctr">
            <a:spAutoFit/>
          </a:bodyPr>
          <a:lstStyle/>
          <a:p>
            <a:pPr algn="l">
              <a:spcAft>
                <a:spcPts val="300"/>
              </a:spcAft>
            </a:pPr>
            <a:r>
              <a:rPr sz="1600" b="1">
                <a:solidFill>
                  <a:srgbClr val="161B26"/>
                </a:solidFill>
                <a:latin typeface="Arial"/>
              </a:rPr>
              <a:t>LO4 · Costs &amp; benefits</a:t>
            </a:r>
          </a:p>
          <a:p>
            <a:pPr algn="l">
              <a:spcAft>
                <a:spcPts val="300"/>
              </a:spcAft>
            </a:pPr>
            <a:r>
              <a:rPr sz="1200" b="0">
                <a:solidFill>
                  <a:srgbClr val="5B6372"/>
                </a:solidFill>
                <a:latin typeface="Arial"/>
              </a:rPr>
              <a:t>Weighed adoption barriers, security risk and the cost-benefit case.</a:t>
            </a:r>
          </a:p>
        </p:txBody>
      </p:sp>
      <p:sp>
        <p:nvSpPr>
          <p:cNvPr id="27" name="Rectangle 26"/>
          <p:cNvSpPr/>
          <p:nvPr/>
        </p:nvSpPr>
        <p:spPr>
          <a:xfrm>
            <a:off x="777240" y="546994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46994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53760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53760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5597956"/>
            <a:ext cx="9427464" cy="501091"/>
          </a:xfrm>
          <a:prstGeom prst="rect">
            <a:avLst/>
          </a:prstGeom>
          <a:noFill/>
        </p:spPr>
        <p:txBody>
          <a:bodyPr wrap="square" anchor="ctr">
            <a:spAutoFit/>
          </a:bodyPr>
          <a:lstStyle/>
          <a:p>
            <a:pPr algn="l">
              <a:spcAft>
                <a:spcPts val="300"/>
              </a:spcAft>
            </a:pPr>
            <a:r>
              <a:rPr sz="1600" b="1">
                <a:solidFill>
                  <a:srgbClr val="161B26"/>
                </a:solidFill>
                <a:latin typeface="Arial"/>
              </a:rPr>
              <a:t>LO5 · Implementation</a:t>
            </a:r>
          </a:p>
          <a:p>
            <a:pPr algn="l">
              <a:spcAft>
                <a:spcPts val="300"/>
              </a:spcAft>
            </a:pPr>
            <a:r>
              <a:rPr sz="1200" b="0">
                <a:solidFill>
                  <a:srgbClr val="5B6372"/>
                </a:solidFill>
                <a:latin typeface="Arial"/>
              </a:rPr>
              <a:t>Applied design thinking and the success factors to a staged action plan.</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92</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AFTER TODAY</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Your Next Steps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Keep your IoTFlow project</a:t>
            </a:r>
          </a:p>
          <a:p>
            <a:pPr algn="l">
              <a:spcAft>
                <a:spcPts val="300"/>
              </a:spcAft>
            </a:pPr>
            <a:r>
              <a:rPr sz="1200" b="0">
                <a:solidFill>
                  <a:srgbClr val="5B6372"/>
                </a:solidFill>
                <a:latin typeface="Arial"/>
              </a:rPr>
              <a:t>Your devices, dashboard and automations stay available after the course.</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Run the pilot you designed</a:t>
            </a:r>
          </a:p>
          <a:p>
            <a:pPr algn="l">
              <a:spcAft>
                <a:spcPts val="300"/>
              </a:spcAft>
            </a:pPr>
            <a:r>
              <a:rPr sz="1200" b="0">
                <a:solidFill>
                  <a:srgbClr val="5B6372"/>
                </a:solidFill>
                <a:latin typeface="Arial"/>
              </a:rPr>
              <a:t>Start with one asset and one metric — prove the value before scaling.</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Revisit the Learner Guide</a:t>
            </a:r>
          </a:p>
          <a:p>
            <a:pPr algn="l">
              <a:spcAft>
                <a:spcPts val="300"/>
              </a:spcAft>
            </a:pPr>
            <a:r>
              <a:rPr sz="1200" b="0">
                <a:solidFill>
                  <a:srgbClr val="5B6372"/>
                </a:solidFill>
                <a:latin typeface="Arial"/>
              </a:rPr>
              <a:t>Every lab's step-by-step instructions are there for you to repeat.</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Explore the tutorials</a:t>
            </a:r>
          </a:p>
          <a:p>
            <a:pPr algn="l">
              <a:spcAft>
                <a:spcPts val="300"/>
              </a:spcAft>
            </a:pPr>
            <a:r>
              <a:rPr sz="1200" b="0">
                <a:solidFill>
                  <a:srgbClr val="5B6372"/>
                </a:solidFill>
                <a:latin typeface="Arial"/>
              </a:rPr>
              <a:t>More platform walkthroughs at https://iot.tertiaryinfotech.com/tutorials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93</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CONTINUE YOUR LEARNING</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Recommended Courses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WSQ - Internet of Things (IoT) Fundamental for Beginners</a:t>
            </a:r>
          </a:p>
          <a:p>
            <a:pPr>
              <a:spcAft>
                <a:spcPts val="1000"/>
              </a:spcAft>
            </a:pPr>
            <a:r>
              <a:rPr sz="2000" b="0">
                <a:solidFill>
                  <a:srgbClr val="161B26"/>
                </a:solidFill>
                <a:latin typeface="Arial"/>
              </a:rPr>
              <a:t>•  WSQ - Mastering Raspberry Pi: Hands-On Practical Applications for Beginners</a:t>
            </a:r>
          </a:p>
          <a:p>
            <a:pPr>
              <a:spcAft>
                <a:spcPts val="1000"/>
              </a:spcAft>
            </a:pPr>
            <a:r>
              <a:rPr sz="2000" b="0">
                <a:solidFill>
                  <a:srgbClr val="161B26"/>
                </a:solidFill>
                <a:latin typeface="Arial"/>
              </a:rPr>
              <a:t>•  WSQ - Practical Electronics Design with Arduino Microcontroller</a:t>
            </a:r>
          </a:p>
          <a:p>
            <a:pPr>
              <a:spcAft>
                <a:spcPts val="1000"/>
              </a:spcAft>
            </a:pPr>
            <a:r>
              <a:rPr sz="2000" b="0">
                <a:solidFill>
                  <a:srgbClr val="161B26"/>
                </a:solidFill>
                <a:latin typeface="Arial"/>
              </a:rPr>
              <a:t>•  WSQ - Hands-On Guide to IoT Development with Microcontrollers</a:t>
            </a:r>
          </a:p>
          <a:p>
            <a:pPr>
              <a:spcAft>
                <a:spcPts val="1000"/>
              </a:spcAft>
            </a:pPr>
            <a:r>
              <a:rPr sz="2000" b="0">
                <a:solidFill>
                  <a:srgbClr val="161B26"/>
                </a:solidFill>
                <a:latin typeface="Arial"/>
              </a:rPr>
              <a:t>•  Browse the full catalogue at www.tertiarycourses.com.sg</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94</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SUMMARY</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Summary &amp; Q&amp;A</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IoT connects physical assets so the business can measure what used to be invisible.</a:t>
            </a:r>
          </a:p>
          <a:p>
            <a:pPr>
              <a:spcAft>
                <a:spcPts val="1000"/>
              </a:spcAft>
            </a:pPr>
            <a:r>
              <a:rPr sz="2000" b="0">
                <a:solidFill>
                  <a:srgbClr val="161B26"/>
                </a:solidFill>
                <a:latin typeface="Arial"/>
              </a:rPr>
              <a:t>•  The opportunity is a business model change, not just a technology deployment.</a:t>
            </a:r>
          </a:p>
          <a:p>
            <a:pPr>
              <a:spcAft>
                <a:spcPts val="1000"/>
              </a:spcAft>
            </a:pPr>
            <a:r>
              <a:rPr sz="2000" b="0">
                <a:solidFill>
                  <a:srgbClr val="161B26"/>
                </a:solidFill>
                <a:latin typeface="Arial"/>
              </a:rPr>
              <a:t>•  Adoption succeeds when value, process integration, capability and security are addressed together.</a:t>
            </a:r>
          </a:p>
          <a:p>
            <a:pPr>
              <a:spcAft>
                <a:spcPts val="1000"/>
              </a:spcAft>
            </a:pPr>
            <a:r>
              <a:rPr sz="2000" b="0">
                <a:solidFill>
                  <a:srgbClr val="161B26"/>
                </a:solidFill>
                <a:latin typeface="Arial"/>
              </a:rPr>
              <a:t>•  Any questions before the assessment?</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95</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ASSESSMENT · 90 MINUTES TOTAL</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Final Assessment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WA (Q&amp;A) — 75 min</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Short-answer questions</a:t>
            </a:r>
          </a:p>
          <a:p>
            <a:pPr>
              <a:spcAft>
                <a:spcPts val="900"/>
              </a:spcAft>
            </a:pPr>
            <a:r>
              <a:rPr sz="1400" b="0">
                <a:solidFill>
                  <a:srgbClr val="161B26"/>
                </a:solidFill>
                <a:latin typeface="Arial"/>
              </a:rPr>
              <a:t>•  Assesses abilities A1–A5</a:t>
            </a:r>
          </a:p>
          <a:p>
            <a:pPr>
              <a:spcAft>
                <a:spcPts val="900"/>
              </a:spcAft>
            </a:pPr>
            <a:r>
              <a:rPr sz="1400" b="0">
                <a:solidFill>
                  <a:srgbClr val="161B26"/>
                </a:solidFill>
                <a:latin typeface="Arial"/>
              </a:rPr>
              <a:t>•  15 minutes per ability</a:t>
            </a:r>
          </a:p>
          <a:p>
            <a:pPr>
              <a:spcAft>
                <a:spcPts val="900"/>
              </a:spcAft>
            </a:pPr>
            <a:r>
              <a:rPr sz="1400" b="0">
                <a:solidFill>
                  <a:srgbClr val="161B26"/>
                </a:solidFill>
                <a:latin typeface="Arial"/>
              </a:rPr>
              <a:t>•  Open book</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OQ — 15 min</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Oral questioning</a:t>
            </a:r>
          </a:p>
          <a:p>
            <a:pPr>
              <a:spcAft>
                <a:spcPts val="900"/>
              </a:spcAft>
            </a:pPr>
            <a:r>
              <a:rPr sz="1400" b="0">
                <a:solidFill>
                  <a:srgbClr val="161B26"/>
                </a:solidFill>
                <a:latin typeface="Arial"/>
              </a:rPr>
              <a:t>•  Assesses knowledge K1–K4</a:t>
            </a:r>
          </a:p>
          <a:p>
            <a:pPr>
              <a:spcAft>
                <a:spcPts val="900"/>
              </a:spcAft>
            </a:pPr>
            <a:r>
              <a:rPr sz="1400" b="0">
                <a:solidFill>
                  <a:srgbClr val="161B26"/>
                </a:solidFill>
                <a:latin typeface="Arial"/>
              </a:rPr>
              <a:t>•  1:1 with the assessor</a:t>
            </a:r>
          </a:p>
          <a:p>
            <a:pPr>
              <a:spcAft>
                <a:spcPts val="900"/>
              </a:spcAft>
            </a:pPr>
            <a:r>
              <a:rPr sz="1400" b="0">
                <a:solidFill>
                  <a:srgbClr val="161B26"/>
                </a:solidFill>
                <a:latin typeface="Arial"/>
              </a:rPr>
              <a:t>•  Open book</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Before you begin</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Take the Assessment digital attendance</a:t>
            </a:r>
          </a:p>
          <a:p>
            <a:pPr>
              <a:spcAft>
                <a:spcPts val="900"/>
              </a:spcAft>
            </a:pPr>
            <a:r>
              <a:rPr sz="1400" b="0">
                <a:solidFill>
                  <a:srgbClr val="161B26"/>
                </a:solidFill>
                <a:latin typeface="Arial"/>
              </a:rPr>
              <a:t>•  Complete the TRAQOM survey</a:t>
            </a:r>
          </a:p>
          <a:p>
            <a:pPr>
              <a:spcAft>
                <a:spcPts val="900"/>
              </a:spcAft>
            </a:pPr>
            <a:r>
              <a:rPr sz="1400" b="0">
                <a:solidFill>
                  <a:srgbClr val="161B26"/>
                </a:solidFill>
                <a:latin typeface="Arial"/>
              </a:rPr>
              <a:t>•  Slides + Learner Guide allowed</a:t>
            </a:r>
          </a:p>
          <a:p>
            <a:pPr>
              <a:spcAft>
                <a:spcPts val="900"/>
              </a:spcAft>
            </a:pPr>
            <a:r>
              <a:rPr sz="1400" b="0">
                <a:solidFill>
                  <a:srgbClr val="161B26"/>
                </a:solidFill>
                <a:latin typeface="Arial"/>
              </a:rPr>
              <a:t>•  Submit as directed by your assessor</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96</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ON ASSESSMENT DAY</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Assessment Flow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1424"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142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TRAQOM survey — scan the QR code on the LMS</a:t>
            </a:r>
          </a:p>
        </p:txBody>
      </p:sp>
      <p:sp>
        <p:nvSpPr>
          <p:cNvPr id="12" name="TextBox 11"/>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3" name="Rectangle 12"/>
          <p:cNvSpPr/>
          <p:nvPr/>
        </p:nvSpPr>
        <p:spPr>
          <a:xfrm>
            <a:off x="2966313"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66313"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30497"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30497"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3112617"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Assessment digital attendance — scan the SSG QR</a:t>
            </a:r>
          </a:p>
        </p:txBody>
      </p:sp>
      <p:sp>
        <p:nvSpPr>
          <p:cNvPr id="18" name="TextBox 17"/>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9" name="Rectangle 18"/>
          <p:cNvSpPr/>
          <p:nvPr/>
        </p:nvSpPr>
        <p:spPr>
          <a:xfrm>
            <a:off x="5155386"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55386"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19570"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1957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5301690"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Sit the WA (Q&amp;A) — 75 min, open book</a:t>
            </a:r>
          </a:p>
        </p:txBody>
      </p:sp>
      <p:sp>
        <p:nvSpPr>
          <p:cNvPr id="24" name="TextBox 23"/>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25" name="Rectangle 24"/>
          <p:cNvSpPr/>
          <p:nvPr/>
        </p:nvSpPr>
        <p:spPr>
          <a:xfrm>
            <a:off x="7344459"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4459"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8643"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86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7490763"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Oral Questioning — 15 min, 1:1 with the assessor</a:t>
            </a:r>
          </a:p>
        </p:txBody>
      </p:sp>
      <p:sp>
        <p:nvSpPr>
          <p:cNvPr id="30" name="TextBox 29"/>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31" name="Rectangle 30"/>
          <p:cNvSpPr/>
          <p:nvPr/>
        </p:nvSpPr>
        <p:spPr>
          <a:xfrm>
            <a:off x="9533532"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33532"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97716"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9771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9679836"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Sign the Assessment Summary Record</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97</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TRAQOM · SSG DIGITAL ATTENDANCE</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Digital Attendance &amp; TRAQOM Survey (Mandatory)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Assessment attendance</a:t>
            </a:r>
          </a:p>
          <a:p>
            <a:pPr algn="l">
              <a:spcAft>
                <a:spcPts val="300"/>
              </a:spcAft>
            </a:pPr>
            <a:r>
              <a:rPr sz="1200" b="0">
                <a:solidFill>
                  <a:srgbClr val="5B6372"/>
                </a:solidFill>
                <a:latin typeface="Arial"/>
              </a:rPr>
              <a:t>Take the Assessment digital attendance before you begin — scan the SSG QR code.</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Cert &amp; TRAQOM survey</a:t>
            </a:r>
          </a:p>
          <a:p>
            <a:pPr algn="l">
              <a:spcAft>
                <a:spcPts val="300"/>
              </a:spcAft>
            </a:pPr>
            <a:r>
              <a:rPr sz="1200" b="0">
                <a:solidFill>
                  <a:srgbClr val="5B6372"/>
                </a:solidFill>
                <a:latin typeface="Arial"/>
              </a:rPr>
              <a:t>Complete the mandatory survey at https://lms-tms.tertiaryinfotech.com/</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Your certificate</a:t>
            </a:r>
          </a:p>
          <a:p>
            <a:pPr algn="l">
              <a:spcAft>
                <a:spcPts val="300"/>
              </a:spcAft>
            </a:pPr>
            <a:r>
              <a:rPr sz="1200" b="0">
                <a:solidFill>
                  <a:srgbClr val="5B6372"/>
                </a:solidFill>
                <a:latin typeface="Arial"/>
              </a:rPr>
              <a:t>Your certificate is issued through the LMS once you are assessed Competent.</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75% minimum</a:t>
            </a:r>
          </a:p>
          <a:p>
            <a:pPr algn="l">
              <a:spcAft>
                <a:spcPts val="300"/>
              </a:spcAft>
            </a:pPr>
            <a:r>
              <a:rPr sz="1200" b="0">
                <a:solidFill>
                  <a:srgbClr val="5B6372"/>
                </a:solidFill>
                <a:latin typeface="Arial"/>
              </a:rPr>
              <a:t>At least 75% attendance is required to be eligible for assessment and funding.</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98</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WE'RE HERE TO HELP — DURING AND AFTER THE CLASS</a:t>
            </a:r>
          </a:p>
        </p:txBody>
      </p:sp>
      <p:sp>
        <p:nvSpPr>
          <p:cNvPr id="5" name="TextBox 4"/>
          <p:cNvSpPr txBox="1"/>
          <p:nvPr/>
        </p:nvSpPr>
        <p:spPr>
          <a:xfrm>
            <a:off x="777240" y="822960"/>
            <a:ext cx="10881360" cy="822960"/>
          </a:xfrm>
          <a:prstGeom prst="rect">
            <a:avLst/>
          </a:prstGeom>
          <a:noFill/>
        </p:spPr>
        <p:txBody>
          <a:bodyPr wrap="square" anchor="ctr">
            <a:spAutoFit/>
          </a:bodyPr>
          <a:lstStyle/>
          <a:p>
            <a:pPr algn="l">
              <a:spcAft>
                <a:spcPts val="400"/>
              </a:spcAft>
            </a:pPr>
            <a:r>
              <a:rPr sz="2900" b="1">
                <a:solidFill>
                  <a:srgbClr val="161B26"/>
                </a:solidFill>
                <a:latin typeface="Arial"/>
              </a:rPr>
              <a:t>Support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Email</a:t>
            </a:r>
          </a:p>
          <a:p>
            <a:pPr algn="l">
              <a:spcAft>
                <a:spcPts val="300"/>
              </a:spcAft>
            </a:pPr>
            <a:r>
              <a:rPr sz="1300" b="0">
                <a:solidFill>
                  <a:srgbClr val="5B6372"/>
                </a:solidFill>
                <a:latin typeface="Arial"/>
              </a:rPr>
              <a:t>enquiry@tertiaryinfotech.com</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Telephone</a:t>
            </a:r>
          </a:p>
          <a:p>
            <a:pPr algn="l">
              <a:spcAft>
                <a:spcPts val="300"/>
              </a:spcAft>
            </a:pPr>
            <a:r>
              <a:rPr sz="1300" b="0">
                <a:solidFill>
                  <a:srgbClr val="5B6372"/>
                </a:solidFill>
                <a:latin typeface="Arial"/>
              </a:rPr>
              <a:t>+65 6100 0613</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Website</a:t>
            </a:r>
          </a:p>
          <a:p>
            <a:pPr algn="l">
              <a:spcAft>
                <a:spcPts val="300"/>
              </a:spcAft>
            </a:pPr>
            <a:r>
              <a:rPr sz="1300" b="0">
                <a:solidFill>
                  <a:srgbClr val="5B6372"/>
                </a:solidFill>
                <a:latin typeface="Arial"/>
              </a:rPr>
              <a:t>www.tertiarycourses.com.sg</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LMS / TMS portal</a:t>
            </a:r>
          </a:p>
          <a:p>
            <a:pPr algn="l">
              <a:spcAft>
                <a:spcPts val="300"/>
              </a:spcAft>
            </a:pPr>
            <a:r>
              <a:rPr sz="1300" b="0">
                <a:solidFill>
                  <a:srgbClr val="5B6372"/>
                </a:solidFill>
                <a:latin typeface="Arial"/>
              </a:rPr>
              <a:t>https://lms-tms.tertiaryinfotech.com</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99</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0B981"/>
                </a:solidFill>
                <a:latin typeface="Arial"/>
              </a:rPr>
              <a:t>SEE YOU AT THE NEXT COURSE</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Thank You!</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You can now explore, evaluate and implement business innovation opportunities with IoT.</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Business Innovation with IoT  ·  TGS-2026064711</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