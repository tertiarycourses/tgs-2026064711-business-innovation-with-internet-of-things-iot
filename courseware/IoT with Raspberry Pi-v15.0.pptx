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2416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269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2708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413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269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2708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413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29316" y="822960"/>
            <a:ext cx="292608" cy="2926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9800" y="1280160"/>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IoT · IoTFlow</a:t>
            </a:r>
          </a:p>
        </p:txBody>
      </p:sp>
      <p:sp>
        <p:nvSpPr>
          <p:cNvPr id="17" name="TextBox 1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8" name="TextBox 1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IoT with Raspberry Pi</a:t>
            </a:r>
          </a:p>
        </p:txBody>
      </p:sp>
      <p:sp>
        <p:nvSpPr>
          <p:cNvPr id="19" name="Rectangle 1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TGS-2020505433</a:t>
            </a:r>
          </a:p>
          <a:p>
            <a:pPr algn="l">
              <a:spcAft>
                <a:spcPts val="600"/>
              </a:spcAft>
            </a:pPr>
            <a:r>
              <a:rPr sz="1400" b="0">
                <a:solidFill>
                  <a:srgbClr val="5B6372"/>
                </a:solidFill>
                <a:latin typeface="Arial"/>
              </a:rPr>
              <a:t>Conducted by Tertiary Infotech Academy Pte Ltd  ·  UEN 201200696W</a:t>
            </a:r>
          </a:p>
        </p:txBody>
      </p:sp>
      <p:sp>
        <p:nvSpPr>
          <p:cNvPr id="21" name="TextBox 2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v15.0  ·  8 August 2026</a:t>
            </a:r>
          </a:p>
        </p:txBody>
      </p:sp>
      <p:sp>
        <p:nvSpPr>
          <p:cNvPr id="22" name="TextBox 2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on both training days.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Internet of Things, embedded systems and cloud-connected devices.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IoT, Raspberry Pi, microcontrollers, AI and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Raspberry Pi, electronics or programming — beginners are very welcome.</a:t>
            </a:r>
          </a:p>
          <a:p>
            <a:pPr>
              <a:spcAft>
                <a:spcPts val="1000"/>
              </a:spcAft>
            </a:pPr>
            <a:r>
              <a:rPr sz="2000" b="0">
                <a:solidFill>
                  <a:srgbClr val="161B26"/>
                </a:solidFill>
                <a:latin typeface="Arial"/>
              </a:rPr>
              <a:t>•  One thing you would like to measure, monitor or control by the end of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IoT with Raspberry Pi</a:t>
            </a:r>
          </a:p>
          <a:p>
            <a:pPr algn="l">
              <a:spcAft>
                <a:spcPts val="200"/>
              </a:spcAft>
            </a:pPr>
            <a:r>
              <a:rPr sz="900" b="0">
                <a:solidFill>
                  <a:srgbClr val="5B6372"/>
                </a:solidFill>
                <a:latin typeface="Arial"/>
              </a:rPr>
              <a:t>TGS-2020505433</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IoT with Raspberry Pi.</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Internet of Things Management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EVS-TEM-4002-1.1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Sector</a:t>
            </a:r>
          </a:p>
          <a:p>
            <a:pPr algn="l">
              <a:spcAft>
                <a:spcPts val="300"/>
              </a:spcAft>
            </a:pPr>
            <a:r>
              <a:rPr sz="1200" b="0">
                <a:solidFill>
                  <a:srgbClr val="5B6372"/>
                </a:solidFill>
                <a:latin typeface="Arial"/>
              </a:rPr>
              <a:t>Environmental Services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Manage the deployment of IoT solutions to monitor and control equipment and the environment, and to drive process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A1</a:t>
            </a:r>
          </a:p>
          <a:p>
            <a:pPr algn="l">
              <a:spcAft>
                <a:spcPts val="300"/>
              </a:spcAft>
            </a:pPr>
            <a:r>
              <a:rPr sz="1200" b="0">
                <a:solidFill>
                  <a:srgbClr val="5B6372"/>
                </a:solidFill>
                <a:latin typeface="Arial"/>
              </a:rPr>
              <a:t>Analyse relevant data to recommend control actions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A2</a:t>
            </a:r>
          </a:p>
          <a:p>
            <a:pPr algn="l">
              <a:spcAft>
                <a:spcPts val="300"/>
              </a:spcAft>
            </a:pPr>
            <a:r>
              <a:rPr sz="1200" b="0">
                <a:solidFill>
                  <a:srgbClr val="5B6372"/>
                </a:solidFill>
                <a:latin typeface="Arial"/>
              </a:rPr>
              <a:t>Identify areas for implementing IoT solutions for process improvement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A3</a:t>
            </a:r>
          </a:p>
          <a:p>
            <a:pPr algn="l">
              <a:spcAft>
                <a:spcPts val="300"/>
              </a:spcAft>
            </a:pPr>
            <a:r>
              <a:rPr sz="1200" b="0">
                <a:solidFill>
                  <a:srgbClr val="5B6372"/>
                </a:solidFill>
                <a:latin typeface="Arial"/>
              </a:rPr>
              <a:t>Use relevant tool to analyse and record performance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A4</a:t>
            </a:r>
          </a:p>
          <a:p>
            <a:pPr algn="l">
              <a:spcAft>
                <a:spcPts val="300"/>
              </a:spcAft>
            </a:pPr>
            <a:r>
              <a:rPr sz="1200" b="0">
                <a:solidFill>
                  <a:srgbClr val="5B6372"/>
                </a:solidFill>
                <a:latin typeface="Arial"/>
              </a:rPr>
              <a:t>Monitor the effectiveness of IoT solutions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the Written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100" b="0">
                <a:solidFill>
                  <a:srgbClr val="5B6372"/>
                </a:solidFill>
                <a:latin typeface="Arial"/>
              </a:rPr>
              <a:t>IoT concept and technical knowledge of IoT implementation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100" b="0">
                <a:solidFill>
                  <a:srgbClr val="5B6372"/>
                </a:solidFill>
                <a:latin typeface="Arial"/>
              </a:rPr>
              <a:t>Connectivity in devices using sensors, smart devices and other technologies for data collection and communication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100" b="0">
                <a:solidFill>
                  <a:srgbClr val="5B6372"/>
                </a:solidFill>
                <a:latin typeface="Arial"/>
              </a:rPr>
              <a:t>Equipment automation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100" b="0">
                <a:solidFill>
                  <a:srgbClr val="5B6372"/>
                </a:solidFill>
                <a:latin typeface="Arial"/>
              </a:rPr>
              <a:t>Building and/or Environment automation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K5–K7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Knowledge — Assessed by the Written Assessment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100" b="0">
                <a:solidFill>
                  <a:srgbClr val="5B6372"/>
                </a:solidFill>
                <a:latin typeface="Arial"/>
              </a:rPr>
              <a:t>Advanced process control</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K6</a:t>
            </a:r>
          </a:p>
          <a:p>
            <a:pPr algn="l">
              <a:spcAft>
                <a:spcPts val="300"/>
              </a:spcAft>
            </a:pPr>
            <a:r>
              <a:rPr sz="1100" b="0">
                <a:solidFill>
                  <a:srgbClr val="5B6372"/>
                </a:solidFill>
                <a:latin typeface="Arial"/>
              </a:rPr>
              <a:t>Security and privacy applications for IoT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K7</a:t>
            </a:r>
          </a:p>
          <a:p>
            <a:pPr algn="l">
              <a:spcAft>
                <a:spcPts val="300"/>
              </a:spcAft>
            </a:pPr>
            <a:r>
              <a:rPr sz="1100" b="0">
                <a:solidFill>
                  <a:srgbClr val="5B6372"/>
                </a:solidFill>
                <a:latin typeface="Arial"/>
              </a:rPr>
              <a:t>IoT guidelines and communication standards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DAY 1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outline &amp; TSC briefing</a:t>
            </a:r>
          </a:p>
          <a:p>
            <a:pPr>
              <a:spcAft>
                <a:spcPts val="1000"/>
              </a:spcAft>
            </a:pPr>
            <a:r>
              <a:rPr sz="1400" b="0">
                <a:solidFill>
                  <a:srgbClr val="5B6372"/>
                </a:solidFill>
                <a:latin typeface="Arial"/>
              </a:rPr>
              <a:t>–  Topic 1: Overview of IoT  (LO1)</a:t>
            </a:r>
          </a:p>
          <a:p>
            <a:pPr>
              <a:spcAft>
                <a:spcPts val="1000"/>
              </a:spcAft>
            </a:pPr>
            <a:r>
              <a:rPr sz="1400" b="0">
                <a:solidFill>
                  <a:srgbClr val="5B6372"/>
                </a:solidFill>
                <a:latin typeface="Arial"/>
              </a:rPr>
              <a:t>–  Discussion — Analyse an IoT Use Case</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Topic 2: Collect &amp; Post Data to Cloud  (LO2)</a:t>
            </a:r>
          </a:p>
          <a:p>
            <a:pPr>
              <a:spcAft>
                <a:spcPts val="1000"/>
              </a:spcAft>
            </a:pPr>
            <a:r>
              <a:rPr sz="1400" b="0">
                <a:solidFill>
                  <a:srgbClr val="5B6372"/>
                </a:solidFill>
                <a:latin typeface="Arial"/>
              </a:rPr>
              <a:t>–  Lab 1: Register Your Raspberry Pi</a:t>
            </a:r>
          </a:p>
          <a:p>
            <a:pPr>
              <a:spcAft>
                <a:spcPts val="1000"/>
              </a:spcAft>
            </a:pPr>
            <a:r>
              <a:rPr sz="1400" b="0">
                <a:solidFill>
                  <a:srgbClr val="5B6372"/>
                </a:solidFill>
                <a:latin typeface="Arial"/>
              </a:rPr>
              <a:t>–  Lab 2: Collect &amp; Post Environmental Data</a:t>
            </a:r>
          </a:p>
          <a:p>
            <a:pPr>
              <a:spcAft>
                <a:spcPts val="1000"/>
              </a:spcAft>
            </a:pPr>
            <a:r>
              <a:rPr sz="1400" b="0">
                <a:solidFill>
                  <a:srgbClr val="5B6372"/>
                </a:solidFill>
                <a:latin typeface="Arial"/>
              </a:rPr>
              <a:t>–  Day 1 recap and Q&amp;A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DAY 2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Data Analytics &amp; Visualization  (LO3)</a:t>
            </a:r>
          </a:p>
          <a:p>
            <a:pPr>
              <a:spcAft>
                <a:spcPts val="1000"/>
              </a:spcAft>
            </a:pPr>
            <a:r>
              <a:rPr sz="1400" b="0">
                <a:solidFill>
                  <a:srgbClr val="5B6372"/>
                </a:solidFill>
                <a:latin typeface="Arial"/>
              </a:rPr>
              <a:t>–  Lab 3: Analyse &amp; Visualise Your IoT Data</a:t>
            </a:r>
          </a:p>
          <a:p>
            <a:pPr>
              <a:spcAft>
                <a:spcPts val="1000"/>
              </a:spcAft>
            </a:pPr>
            <a:r>
              <a:rPr sz="1400" b="0">
                <a:solidFill>
                  <a:srgbClr val="5B6372"/>
                </a:solidFill>
                <a:latin typeface="Arial"/>
              </a:rPr>
              <a:t>–  Discussion — Design Your Dashboard</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Topic 4: Monitor Data &amp; Trigger Control  (LO4)</a:t>
            </a:r>
          </a:p>
          <a:p>
            <a:pPr>
              <a:spcAft>
                <a:spcPts val="1000"/>
              </a:spcAft>
            </a:pPr>
            <a:r>
              <a:rPr sz="1400" b="0">
                <a:solidFill>
                  <a:srgbClr val="5B6372"/>
                </a:solidFill>
                <a:latin typeface="Arial"/>
              </a:rPr>
              <a:t>–  Lab 4: Monitor Data and Trigger Control</a:t>
            </a:r>
          </a:p>
          <a:p>
            <a:pPr>
              <a:spcAft>
                <a:spcPts val="1000"/>
              </a:spcAft>
            </a:pPr>
            <a:r>
              <a:rPr sz="1400" b="0">
                <a:solidFill>
                  <a:srgbClr val="5B6372"/>
                </a:solidFill>
                <a:latin typeface="Arial"/>
              </a:rPr>
              <a:t>–  TRAQOM Survey · Assessment attendance</a:t>
            </a:r>
          </a:p>
          <a:p>
            <a:pPr>
              <a:spcAft>
                <a:spcPts val="1000"/>
              </a:spcAft>
            </a:pPr>
            <a:r>
              <a:rPr sz="1400" b="0">
                <a:solidFill>
                  <a:srgbClr val="5B6372"/>
                </a:solidFill>
                <a:latin typeface="Arial"/>
              </a:rPr>
              <a:t>–  Final Assessment — WA (60 min) + PP (60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LO1 · Analyse IoT technologies</a:t>
            </a:r>
          </a:p>
          <a:p>
            <a:pPr algn="l">
              <a:spcAft>
                <a:spcPts val="300"/>
              </a:spcAft>
            </a:pPr>
            <a:r>
              <a:rPr sz="1300" b="0">
                <a:solidFill>
                  <a:srgbClr val="5B6372"/>
                </a:solidFill>
                <a:latin typeface="Arial"/>
              </a:rPr>
              <a:t>Analyse the uses and functions of IoT technologies. (A1, K1)</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LO2 · Collect and post data</a:t>
            </a:r>
          </a:p>
          <a:p>
            <a:pPr algn="l">
              <a:spcAft>
                <a:spcPts val="300"/>
              </a:spcAft>
            </a:pPr>
            <a:r>
              <a:rPr sz="1300" b="0">
                <a:solidFill>
                  <a:srgbClr val="5B6372"/>
                </a:solidFill>
                <a:latin typeface="Arial"/>
              </a:rPr>
              <a:t>Collect environment data with Raspberry Pi and post it to cloud computing. (A2, K2, K3)</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LO3 · Analyse and visualise</a:t>
            </a:r>
          </a:p>
          <a:p>
            <a:pPr algn="l">
              <a:spcAft>
                <a:spcPts val="300"/>
              </a:spcAft>
            </a:pPr>
            <a:r>
              <a:rPr sz="1300" b="0">
                <a:solidFill>
                  <a:srgbClr val="5B6372"/>
                </a:solidFill>
                <a:latin typeface="Arial"/>
              </a:rPr>
              <a:t>Use cloud computing to analyse and visualise IoT data. (A3, K4, K5)</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LO4 · Monitor and control</a:t>
            </a:r>
          </a:p>
          <a:p>
            <a:pPr algn="l">
              <a:spcAft>
                <a:spcPts val="300"/>
              </a:spcAft>
            </a:pPr>
            <a:r>
              <a:rPr sz="1300" b="0">
                <a:solidFill>
                  <a:srgbClr val="5B6372"/>
                </a:solidFill>
                <a:latin typeface="Arial"/>
              </a:rPr>
              <a:t>Monitor data and trigger control on devices. (A4, K6, K7)</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TWO DAYS · FOUR HANDS-ON LABS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1 — Overview of IoT</a:t>
            </a:r>
          </a:p>
          <a:p>
            <a:pPr algn="l">
              <a:spcAft>
                <a:spcPts val="300"/>
              </a:spcAft>
            </a:pPr>
            <a:r>
              <a:rPr sz="1300" b="0">
                <a:solidFill>
                  <a:srgbClr val="5B6372"/>
                </a:solidFill>
                <a:latin typeface="Arial"/>
              </a:rPr>
              <a:t>Industry 4.0, what IoT is, sensors and actuators, wireless technologies, use cases.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2 — Collect &amp; Post Data</a:t>
            </a:r>
          </a:p>
          <a:p>
            <a:pPr algn="l">
              <a:spcAft>
                <a:spcPts val="300"/>
              </a:spcAft>
            </a:pPr>
            <a:r>
              <a:rPr sz="1300" b="0">
                <a:solidFill>
                  <a:srgbClr val="5B6372"/>
                </a:solidFill>
                <a:latin typeface="Arial"/>
              </a:rPr>
              <a:t>Cloud platforms, Raspberry Pi as gateway, device tokens, HTTP REST and MQTT uplink.</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3 — Analytics &amp; Visualization</a:t>
            </a:r>
          </a:p>
          <a:p>
            <a:pPr algn="l">
              <a:spcAft>
                <a:spcPts val="300"/>
              </a:spcAft>
            </a:pPr>
            <a:r>
              <a:rPr sz="1300" b="0">
                <a:solidFill>
                  <a:srgbClr val="5B6372"/>
                </a:solidFill>
                <a:latin typeface="Arial"/>
              </a:rPr>
              <a:t>Dashboards, widgets, telemetry history, trends and alert rules.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4 — Monitor &amp; Trigger Control</a:t>
            </a:r>
          </a:p>
          <a:p>
            <a:pPr algn="l">
              <a:spcAft>
                <a:spcPts val="300"/>
              </a:spcAft>
            </a:pPr>
            <a:r>
              <a:rPr sz="1300" b="0">
                <a:solidFill>
                  <a:srgbClr val="5B6372"/>
                </a:solidFill>
                <a:latin typeface="Arial"/>
              </a:rPr>
              <a:t>Downlink control, virtual pins, n8n automation, effectiveness and IoT security.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  ·  https://iot.tertiaryinfotech.com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 · 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Register your Raspberry Pi</a:t>
            </a:r>
          </a:p>
          <a:p>
            <a:pPr>
              <a:spcAft>
                <a:spcPts val="900"/>
              </a:spcAft>
            </a:pPr>
            <a:r>
              <a:rPr sz="1400" b="0">
                <a:solidFill>
                  <a:srgbClr val="161B26"/>
                </a:solidFill>
                <a:latin typeface="Arial"/>
              </a:rPr>
              <a:t>•  Collect and post sensor data</a:t>
            </a:r>
          </a:p>
          <a:p>
            <a:pPr>
              <a:spcAft>
                <a:spcPts val="900"/>
              </a:spcAft>
            </a:pPr>
            <a:r>
              <a:rPr sz="1400" b="0">
                <a:solidFill>
                  <a:srgbClr val="161B26"/>
                </a:solidFill>
                <a:latin typeface="Arial"/>
              </a:rPr>
              <a:t>•  HTTP REST and MQTT uplink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 · 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live dashboard</a:t>
            </a:r>
          </a:p>
          <a:p>
            <a:pPr>
              <a:spcAft>
                <a:spcPts val="900"/>
              </a:spcAft>
            </a:pPr>
            <a:r>
              <a:rPr sz="1400" b="0">
                <a:solidFill>
                  <a:srgbClr val="161B26"/>
                </a:solidFill>
                <a:latin typeface="Arial"/>
              </a:rPr>
              <a:t>•  Analyse telemetry history</a:t>
            </a:r>
          </a:p>
          <a:p>
            <a:pPr>
              <a:spcAft>
                <a:spcPts val="900"/>
              </a:spcAft>
            </a:pPr>
            <a:r>
              <a:rPr sz="1400" b="0">
                <a:solidFill>
                  <a:srgbClr val="161B26"/>
                </a:solidFill>
                <a:latin typeface="Arial"/>
              </a:rPr>
              <a:t>•  Create alert rules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Day 2 · Lab 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Remote control over virtual pins</a:t>
            </a:r>
          </a:p>
          <a:p>
            <a:pPr>
              <a:spcAft>
                <a:spcPts val="900"/>
              </a:spcAft>
            </a:pPr>
            <a:r>
              <a:rPr sz="1400" b="0">
                <a:solidFill>
                  <a:srgbClr val="161B26"/>
                </a:solidFill>
                <a:latin typeface="Arial"/>
              </a:rPr>
              <a:t>•  n8n automation and AI</a:t>
            </a:r>
          </a:p>
          <a:p>
            <a:pPr>
              <a:spcAft>
                <a:spcPts val="900"/>
              </a:spcAft>
            </a:pPr>
            <a:r>
              <a:rPr sz="1400" b="0">
                <a:solidFill>
                  <a:srgbClr val="161B26"/>
                </a:solidFill>
                <a:latin typeface="Arial"/>
              </a:rPr>
              <a:t>•  Close the monitor-act loop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120 MINUTES TOTAL · END OF DAY 2</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60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 60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working IoT solution</a:t>
            </a:r>
          </a:p>
          <a:p>
            <a:pPr>
              <a:spcAft>
                <a:spcPts val="900"/>
              </a:spcAft>
            </a:pPr>
            <a:r>
              <a:rPr sz="1400" b="0">
                <a:solidFill>
                  <a:srgbClr val="161B26"/>
                </a:solidFill>
                <a:latin typeface="Arial"/>
              </a:rPr>
              <a:t>•  Assesses abilities A1–A4</a:t>
            </a:r>
          </a:p>
          <a:p>
            <a:pPr>
              <a:spcAft>
                <a:spcPts val="900"/>
              </a:spcAft>
            </a:pPr>
            <a:r>
              <a:rPr sz="1400" b="0">
                <a:solidFill>
                  <a:srgbClr val="161B26"/>
                </a:solidFill>
                <a:latin typeface="Arial"/>
              </a:rPr>
              <a:t>•  Open book, done individually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60 min, open book</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60 min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Foundations and Collecting Data — From Sensor to Cloud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 1: Overview of IoT  ·  Topic 2: Collect and Post Environmental Data to Cloud</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Internet of Things (IoT)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Industry 4.0 · What IoT is · Sensors &amp; actuators · Wireless technologies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 are in the 4th Industrial Revolution.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Steam, electricity, computers — and now cyber-physical systems where physical assets report their own state in real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A1, K1 · Day 1 AM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Industry 4.0</a:t>
            </a:r>
          </a:p>
          <a:p>
            <a:pPr algn="l">
              <a:spcAft>
                <a:spcPts val="300"/>
              </a:spcAft>
            </a:pPr>
            <a:r>
              <a:rPr sz="1100" b="0">
                <a:solidFill>
                  <a:srgbClr val="5B6372"/>
                </a:solidFill>
                <a:latin typeface="Arial"/>
              </a:rPr>
              <a:t>Steam, electricity, computers and now cyber-physical systems — assets report their own state in real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IoT is</a:t>
            </a:r>
          </a:p>
          <a:p>
            <a:pPr algn="l">
              <a:spcAft>
                <a:spcPts val="300"/>
              </a:spcAft>
            </a:pPr>
            <a:r>
              <a:rPr sz="1100" b="0">
                <a:solidFill>
                  <a:srgbClr val="5B6372"/>
                </a:solidFill>
                <a:latin typeface="Arial"/>
              </a:rPr>
              <a:t>A network of physical objects embedded with sensors and connectivity that collect and exchange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four building blocks</a:t>
            </a:r>
          </a:p>
          <a:p>
            <a:pPr algn="l">
              <a:spcAft>
                <a:spcPts val="300"/>
              </a:spcAft>
            </a:pPr>
            <a:r>
              <a:rPr sz="1100" b="0">
                <a:solidFill>
                  <a:srgbClr val="5B6372"/>
                </a:solidFill>
                <a:latin typeface="Arial"/>
              </a:rPr>
              <a:t>Sensors/devices capture data, connectivity moves it, cloud processes it, a UI acts on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Sensors and actuators</a:t>
            </a:r>
          </a:p>
          <a:p>
            <a:pPr algn="l">
              <a:spcAft>
                <a:spcPts val="300"/>
              </a:spcAft>
            </a:pPr>
            <a:r>
              <a:rPr sz="1100" b="0">
                <a:solidFill>
                  <a:srgbClr val="5B6372"/>
                </a:solidFill>
                <a:latin typeface="Arial"/>
              </a:rPr>
              <a:t>Sensors turn a physical phenomenon into a signal; actuators turn a decision back into physical action.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Wireless technologies</a:t>
            </a:r>
          </a:p>
          <a:p>
            <a:pPr algn="l">
              <a:spcAft>
                <a:spcPts val="300"/>
              </a:spcAft>
            </a:pPr>
            <a:r>
              <a:rPr sz="1100" b="0">
                <a:solidFill>
                  <a:srgbClr val="5B6372"/>
                </a:solidFill>
                <a:latin typeface="Arial"/>
              </a:rPr>
              <a:t>WiFi, BLE, Zigbee, LoRaWAN, NB-IoT and 5G trade range against power, bandwidth and cost.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Types of IoT</a:t>
            </a:r>
          </a:p>
          <a:p>
            <a:pPr algn="l">
              <a:spcAft>
                <a:spcPts val="300"/>
              </a:spcAft>
            </a:pPr>
            <a:r>
              <a:rPr sz="1100" b="0">
                <a:solidFill>
                  <a:srgbClr val="5B6372"/>
                </a:solidFill>
                <a:latin typeface="Arial"/>
              </a:rPr>
              <a:t>Consumer, commercial, industrial (IIoT) and infrastructure IoT each serve a different context.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Fourth Industrial Revolution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dustry40.png"/>
          <p:cNvPicPr>
            <a:picLocks noChangeAspect="1"/>
          </p:cNvPicPr>
          <p:nvPr/>
        </p:nvPicPr>
        <p:blipFill>
          <a:blip r:embed="rId2"/>
          <a:stretch>
            <a:fillRect/>
          </a:stretch>
        </p:blipFill>
        <p:spPr>
          <a:xfrm>
            <a:off x="777240" y="1982799"/>
            <a:ext cx="10634472" cy="36696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Industry 4.0 — cyber-physical systems, IoT, cloud computing and cognitive computing.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STEAM TO SENSORS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 Industrial Revolutions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1.0  STEAM
Mechanisation</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2.0  ELECTRICITY
Mass production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3.0  COMPUTERS
Automation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4.0  CYBER-PHYSICAL
IoT, AI and the cloud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TECHNOLOGY LANDSCAPE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Technologies Driving Industry 4.0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Industrial IoT (IIoT)</a:t>
            </a:r>
          </a:p>
          <a:p>
            <a:pPr algn="l">
              <a:spcAft>
                <a:spcPts val="300"/>
              </a:spcAft>
            </a:pPr>
            <a:r>
              <a:rPr sz="1100" b="0">
                <a:solidFill>
                  <a:srgbClr val="5B6372"/>
                </a:solidFill>
                <a:latin typeface="Arial"/>
              </a:rPr>
              <a:t>Connected machines and sensors on the factory or plant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Big data &amp; analytics</a:t>
            </a:r>
          </a:p>
          <a:p>
            <a:pPr algn="l">
              <a:spcAft>
                <a:spcPts val="300"/>
              </a:spcAft>
            </a:pPr>
            <a:r>
              <a:rPr sz="1100" b="0">
                <a:solidFill>
                  <a:srgbClr val="5B6372"/>
                </a:solidFill>
                <a:latin typeface="Arial"/>
              </a:rPr>
              <a:t>Turning high-volume machine data into operational decisions.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computing</a:t>
            </a:r>
          </a:p>
          <a:p>
            <a:pPr algn="l">
              <a:spcAft>
                <a:spcPts val="300"/>
              </a:spcAft>
            </a:pPr>
            <a:r>
              <a:rPr sz="1100" b="0">
                <a:solidFill>
                  <a:srgbClr val="5B6372"/>
                </a:solidFill>
                <a:latin typeface="Arial"/>
              </a:rPr>
              <a:t>Storage, compute and availability without running your own servers.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Cybersecurity</a:t>
            </a:r>
          </a:p>
          <a:p>
            <a:pPr algn="l">
              <a:spcAft>
                <a:spcPts val="300"/>
              </a:spcAft>
            </a:pPr>
            <a:r>
              <a:rPr sz="1100" b="0">
                <a:solidFill>
                  <a:srgbClr val="5B6372"/>
                </a:solidFill>
                <a:latin typeface="Arial"/>
              </a:rPr>
              <a:t>Protecting devices, data and the physical processes they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Autonomous robots</a:t>
            </a:r>
          </a:p>
          <a:p>
            <a:pPr algn="l">
              <a:spcAft>
                <a:spcPts val="300"/>
              </a:spcAft>
            </a:pPr>
            <a:r>
              <a:rPr sz="1100" b="0">
                <a:solidFill>
                  <a:srgbClr val="5B6372"/>
                </a:solidFill>
                <a:latin typeface="Arial"/>
              </a:rPr>
              <a:t>Machines that sense their environment and act without an operator.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twin</a:t>
            </a:r>
          </a:p>
          <a:p>
            <a:pPr algn="l">
              <a:spcAft>
                <a:spcPts val="300"/>
              </a:spcAft>
            </a:pPr>
            <a:r>
              <a:rPr sz="1100" b="0">
                <a:solidFill>
                  <a:srgbClr val="5B6372"/>
                </a:solidFill>
                <a:latin typeface="Arial"/>
              </a:rPr>
              <a:t>A live simulation of a physical asset, fed by its own telemetry.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DEFINITION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the Internet of Things?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definition.png"/>
          <p:cNvPicPr>
            <a:picLocks noChangeAspect="1"/>
          </p:cNvPicPr>
          <p:nvPr/>
        </p:nvPicPr>
        <p:blipFill>
          <a:blip r:embed="rId2"/>
          <a:stretch>
            <a:fillRect/>
          </a:stretch>
        </p:blipFill>
        <p:spPr>
          <a:xfrm>
            <a:off x="2132076" y="1737360"/>
            <a:ext cx="79248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connects everyday objects to the internet so they can send and receive data.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Components of an IoT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components.png"/>
          <p:cNvPicPr>
            <a:picLocks noChangeAspect="1"/>
          </p:cNvPicPr>
          <p:nvPr/>
        </p:nvPicPr>
        <p:blipFill>
          <a:blip r:embed="rId2"/>
          <a:stretch>
            <a:fillRect/>
          </a:stretch>
        </p:blipFill>
        <p:spPr>
          <a:xfrm>
            <a:off x="777240" y="1803599"/>
            <a:ext cx="10634472" cy="40280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'thing' is any object with embedded electronics that transfers data over a network.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Scale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80360"/>
            <a:ext cx="2087118" cy="1051560"/>
          </a:xfrm>
          <a:prstGeom prst="rect">
            <a:avLst/>
          </a:prstGeom>
          <a:noFill/>
        </p:spPr>
        <p:txBody>
          <a:bodyPr wrap="square" anchor="ctr">
            <a:spAutoFit/>
          </a:bodyPr>
          <a:lstStyle/>
          <a:p>
            <a:pPr algn="ctr">
              <a:spcAft>
                <a:spcPts val="400"/>
              </a:spcAft>
            </a:pPr>
            <a:r>
              <a:rPr sz="4400" b="1">
                <a:solidFill>
                  <a:srgbClr val="1F6FEB"/>
                </a:solidFill>
                <a:latin typeface="Arial"/>
              </a:rPr>
              <a:t>$9T</a:t>
            </a:r>
          </a:p>
        </p:txBody>
      </p:sp>
      <p:sp>
        <p:nvSpPr>
          <p:cNvPr id="10" name="TextBox 9"/>
          <p:cNvSpPr txBox="1"/>
          <p:nvPr/>
        </p:nvSpPr>
        <p:spPr>
          <a:xfrm>
            <a:off x="996696"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Estimated IoT market value</a:t>
            </a:r>
          </a:p>
        </p:txBody>
      </p:sp>
      <p:sp>
        <p:nvSpPr>
          <p:cNvPr id="11" name="Rectangle 10"/>
          <p:cNvSpPr/>
          <p:nvPr/>
        </p:nvSpPr>
        <p:spPr>
          <a:xfrm>
            <a:off x="3504438"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21945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7318" y="2880360"/>
            <a:ext cx="2087118" cy="1051560"/>
          </a:xfrm>
          <a:prstGeom prst="rect">
            <a:avLst/>
          </a:prstGeom>
          <a:noFill/>
        </p:spPr>
        <p:txBody>
          <a:bodyPr wrap="square" anchor="ctr">
            <a:spAutoFit/>
          </a:bodyPr>
          <a:lstStyle/>
          <a:p>
            <a:pPr algn="ctr">
              <a:spcAft>
                <a:spcPts val="400"/>
              </a:spcAft>
            </a:pPr>
            <a:r>
              <a:rPr sz="4400" b="1">
                <a:solidFill>
                  <a:srgbClr val="10B981"/>
                </a:solidFill>
                <a:latin typeface="Arial"/>
              </a:rPr>
              <a:t>50B+</a:t>
            </a:r>
          </a:p>
        </p:txBody>
      </p:sp>
      <p:sp>
        <p:nvSpPr>
          <p:cNvPr id="14" name="TextBox 13"/>
          <p:cNvSpPr txBox="1"/>
          <p:nvPr/>
        </p:nvSpPr>
        <p:spPr>
          <a:xfrm>
            <a:off x="3723894"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Connected devices worldwide</a:t>
            </a:r>
          </a:p>
        </p:txBody>
      </p:sp>
      <p:sp>
        <p:nvSpPr>
          <p:cNvPr id="15" name="Rectangle 14"/>
          <p:cNvSpPr/>
          <p:nvPr/>
        </p:nvSpPr>
        <p:spPr>
          <a:xfrm>
            <a:off x="6231636"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21945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2880360"/>
            <a:ext cx="2087118" cy="1051560"/>
          </a:xfrm>
          <a:prstGeom prst="rect">
            <a:avLst/>
          </a:prstGeom>
          <a:noFill/>
        </p:spPr>
        <p:txBody>
          <a:bodyPr wrap="square" anchor="ctr">
            <a:spAutoFit/>
          </a:bodyPr>
          <a:lstStyle/>
          <a:p>
            <a:pPr algn="ctr">
              <a:spcAft>
                <a:spcPts val="400"/>
              </a:spcAft>
            </a:pPr>
            <a:r>
              <a:rPr sz="4400" b="1">
                <a:solidFill>
                  <a:srgbClr val="7C3AED"/>
                </a:solidFill>
                <a:latin typeface="Arial"/>
              </a:rPr>
              <a:t>4th</a:t>
            </a:r>
          </a:p>
        </p:txBody>
      </p:sp>
      <p:sp>
        <p:nvSpPr>
          <p:cNvPr id="18" name="TextBox 17"/>
          <p:cNvSpPr txBox="1"/>
          <p:nvPr/>
        </p:nvSpPr>
        <p:spPr>
          <a:xfrm>
            <a:off x="6451092"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Industrial revolution underway</a:t>
            </a:r>
          </a:p>
        </p:txBody>
      </p:sp>
      <p:sp>
        <p:nvSpPr>
          <p:cNvPr id="19" name="Rectangle 18"/>
          <p:cNvSpPr/>
          <p:nvPr/>
        </p:nvSpPr>
        <p:spPr>
          <a:xfrm>
            <a:off x="8958834"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21945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1714" y="2880360"/>
            <a:ext cx="2087118" cy="1051560"/>
          </a:xfrm>
          <a:prstGeom prst="rect">
            <a:avLst/>
          </a:prstGeom>
          <a:noFill/>
        </p:spPr>
        <p:txBody>
          <a:bodyPr wrap="square" anchor="ctr">
            <a:spAutoFit/>
          </a:bodyPr>
          <a:lstStyle/>
          <a:p>
            <a:pPr algn="ctr">
              <a:spcAft>
                <a:spcPts val="400"/>
              </a:spcAft>
            </a:pPr>
            <a:r>
              <a:rPr sz="4400" b="1">
                <a:solidFill>
                  <a:srgbClr val="F59E0B"/>
                </a:solidFill>
                <a:latin typeface="Arial"/>
              </a:rPr>
              <a:t>5G</a:t>
            </a:r>
          </a:p>
        </p:txBody>
      </p:sp>
      <p:sp>
        <p:nvSpPr>
          <p:cNvPr id="22" name="TextBox 21"/>
          <p:cNvSpPr txBox="1"/>
          <p:nvPr/>
        </p:nvSpPr>
        <p:spPr>
          <a:xfrm>
            <a:off x="9178290"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The accelerator to mass adoption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DRIVING FORCES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Driving Forces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riving-forces.png"/>
          <p:cNvPicPr>
            <a:picLocks noChangeAspect="1"/>
          </p:cNvPicPr>
          <p:nvPr/>
        </p:nvPicPr>
        <p:blipFill>
          <a:blip r:embed="rId2"/>
          <a:stretch>
            <a:fillRect/>
          </a:stretch>
        </p:blipFill>
        <p:spPr>
          <a:xfrm>
            <a:off x="2974086" y="1737360"/>
            <a:ext cx="624078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Low-cost sensors and long-range wireless made IoT viable; 5G is driving mass adoption.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IoT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 — The Four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SENSORS &amp; DEVICES capture data from the physical world</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CONNECTIVITY carries it over WiFi, cellular, LoRa or MQTT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processes and analyses the data</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USER INTERFACE shows insight and sends commands back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iot-works.png"/>
          <p:cNvPicPr>
            <a:picLocks noChangeAspect="1"/>
          </p:cNvPicPr>
          <p:nvPr/>
        </p:nvPicPr>
        <p:blipFill>
          <a:blip r:embed="rId2"/>
          <a:stretch>
            <a:fillRect/>
          </a:stretch>
        </p:blipFill>
        <p:spPr>
          <a:xfrm>
            <a:off x="1641133" y="1737360"/>
            <a:ext cx="8906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Sensors and devices talk to the cloud; software processes the data and acts, or shows it to a user.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SENSING THE PHYSICAL WORLD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a Sensor?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Definition</a:t>
            </a:r>
          </a:p>
          <a:p>
            <a:pPr algn="l">
              <a:spcAft>
                <a:spcPts val="300"/>
              </a:spcAft>
            </a:pPr>
            <a:r>
              <a:rPr sz="1100" b="0">
                <a:solidFill>
                  <a:srgbClr val="5B6372"/>
                </a:solidFill>
                <a:latin typeface="Arial"/>
              </a:rPr>
              <a:t>A device that detects an event or change in its environment and turns it into a signal.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Temperature</a:t>
            </a:r>
          </a:p>
          <a:p>
            <a:pPr algn="l">
              <a:spcAft>
                <a:spcPts val="300"/>
              </a:spcAft>
            </a:pPr>
            <a:r>
              <a:rPr sz="1100" b="0">
                <a:solidFill>
                  <a:srgbClr val="5B6372"/>
                </a:solidFill>
                <a:latin typeface="Arial"/>
              </a:rPr>
              <a:t>Thermocouples, thermistors, RTDs and semiconductor sensors — the most measured quantity.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Humidity &amp; pressure</a:t>
            </a:r>
          </a:p>
          <a:p>
            <a:pPr algn="l">
              <a:spcAft>
                <a:spcPts val="300"/>
              </a:spcAft>
            </a:pPr>
            <a:r>
              <a:rPr sz="1100" b="0">
                <a:solidFill>
                  <a:srgbClr val="5B6372"/>
                </a:solidFill>
                <a:latin typeface="Arial"/>
              </a:rPr>
              <a:t>Environmental monitoring for comfort, process control and weather sensing.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Proximity &amp; motion</a:t>
            </a:r>
          </a:p>
          <a:p>
            <a:pPr algn="l">
              <a:spcAft>
                <a:spcPts val="300"/>
              </a:spcAft>
            </a:pPr>
            <a:r>
              <a:rPr sz="1100" b="0">
                <a:solidFill>
                  <a:srgbClr val="5B6372"/>
                </a:solidFill>
                <a:latin typeface="Arial"/>
              </a:rPr>
              <a:t>Detect the presence, absence or movement of an object without contact.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Gas &amp; chemical</a:t>
            </a:r>
          </a:p>
          <a:p>
            <a:pPr algn="l">
              <a:spcAft>
                <a:spcPts val="300"/>
              </a:spcAft>
            </a:pPr>
            <a:r>
              <a:rPr sz="1100" b="0">
                <a:solidFill>
                  <a:srgbClr val="5B6372"/>
                </a:solidFill>
                <a:latin typeface="Arial"/>
              </a:rPr>
              <a:t>Air quality, CO₂ and hazardous-gas detection in cities and industrial plants.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Light &amp; IR</a:t>
            </a:r>
          </a:p>
          <a:p>
            <a:pPr algn="l">
              <a:spcAft>
                <a:spcPts val="300"/>
              </a:spcAft>
            </a:pPr>
            <a:r>
              <a:rPr sz="1100" b="0">
                <a:solidFill>
                  <a:srgbClr val="5B6372"/>
                </a:solidFill>
                <a:latin typeface="Arial"/>
              </a:rPr>
              <a:t>Ambient light sensing, obstacle detection and remote-control technology.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SENSORS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nsors-overview.png"/>
          <p:cNvPicPr>
            <a:picLocks noChangeAspect="1"/>
          </p:cNvPicPr>
          <p:nvPr/>
        </p:nvPicPr>
        <p:blipFill>
          <a:blip r:embed="rId2"/>
          <a:stretch>
            <a:fillRect/>
          </a:stretch>
        </p:blipFill>
        <p:spPr>
          <a:xfrm>
            <a:off x="3061507" y="1737360"/>
            <a:ext cx="60659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Low-cost sensors are what made large-scale IoT deployment economically viable.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SENSORS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More Sensors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nsors-more.png"/>
          <p:cNvPicPr>
            <a:picLocks noChangeAspect="1"/>
          </p:cNvPicPr>
          <p:nvPr/>
        </p:nvPicPr>
        <p:blipFill>
          <a:blip r:embed="rId2"/>
          <a:stretch>
            <a:fillRect/>
          </a:stretch>
        </p:blipFill>
        <p:spPr>
          <a:xfrm>
            <a:off x="2396236" y="1737360"/>
            <a:ext cx="739648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Every physical quantity a business cares about has a low-cost sensor for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ACTUATORS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Actuators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ctuator.png"/>
          <p:cNvPicPr>
            <a:picLocks noChangeAspect="1"/>
          </p:cNvPicPr>
          <p:nvPr/>
        </p:nvPicPr>
        <p:blipFill>
          <a:blip r:embed="rId2"/>
          <a:stretch>
            <a:fillRect/>
          </a:stretch>
        </p:blipFill>
        <p:spPr>
          <a:xfrm>
            <a:off x="976453" y="1737360"/>
            <a:ext cx="102360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Actuators turn a decision in the cloud back into a physical action.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PHYSICAL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Actuators and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Sensors — sense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Temperature &amp; humidity</a:t>
            </a:r>
          </a:p>
          <a:p>
            <a:pPr>
              <a:spcAft>
                <a:spcPts val="900"/>
              </a:spcAft>
            </a:pPr>
            <a:r>
              <a:rPr sz="1400" b="0">
                <a:solidFill>
                  <a:srgbClr val="161B26"/>
                </a:solidFill>
                <a:latin typeface="Arial"/>
              </a:rPr>
              <a:t>•  Motion, presence, vibration</a:t>
            </a:r>
          </a:p>
          <a:p>
            <a:pPr>
              <a:spcAft>
                <a:spcPts val="900"/>
              </a:spcAft>
            </a:pPr>
            <a:r>
              <a:rPr sz="1400" b="0">
                <a:solidFill>
                  <a:srgbClr val="161B26"/>
                </a:solidFill>
                <a:latin typeface="Arial"/>
              </a:rPr>
              <a:t>•  Light, gas, air quality</a:t>
            </a:r>
          </a:p>
          <a:p>
            <a:pPr>
              <a:spcAft>
                <a:spcPts val="900"/>
              </a:spcAft>
            </a:pPr>
            <a:r>
              <a:rPr sz="1400" b="0">
                <a:solidFill>
                  <a:srgbClr val="161B26"/>
                </a:solidFill>
                <a:latin typeface="Arial"/>
              </a:rPr>
              <a:t>•  GPS location, current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Actuators — act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Relays and switches</a:t>
            </a:r>
          </a:p>
          <a:p>
            <a:pPr>
              <a:spcAft>
                <a:spcPts val="900"/>
              </a:spcAft>
            </a:pPr>
            <a:r>
              <a:rPr sz="1400" b="0">
                <a:solidFill>
                  <a:srgbClr val="161B26"/>
                </a:solidFill>
                <a:latin typeface="Arial"/>
              </a:rPr>
              <a:t>•  Motors and servos</a:t>
            </a:r>
          </a:p>
          <a:p>
            <a:pPr>
              <a:spcAft>
                <a:spcPts val="900"/>
              </a:spcAft>
            </a:pPr>
            <a:r>
              <a:rPr sz="1400" b="0">
                <a:solidFill>
                  <a:srgbClr val="161B26"/>
                </a:solidFill>
                <a:latin typeface="Arial"/>
              </a:rPr>
              <a:t>•  Valves and pumps</a:t>
            </a:r>
          </a:p>
          <a:p>
            <a:pPr>
              <a:spcAft>
                <a:spcPts val="900"/>
              </a:spcAft>
            </a:pPr>
            <a:r>
              <a:rPr sz="1400" b="0">
                <a:solidFill>
                  <a:srgbClr val="161B26"/>
                </a:solidFill>
                <a:latin typeface="Arial"/>
              </a:rPr>
              <a:t>•  Alarms and displays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Gateways — connect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Aggregate nearby devices</a:t>
            </a:r>
          </a:p>
          <a:p>
            <a:pPr>
              <a:spcAft>
                <a:spcPts val="900"/>
              </a:spcAft>
            </a:pPr>
            <a:r>
              <a:rPr sz="1400" b="0">
                <a:solidFill>
                  <a:srgbClr val="161B26"/>
                </a:solidFill>
                <a:latin typeface="Arial"/>
              </a:rPr>
              <a:t>•  Translate protocols</a:t>
            </a:r>
          </a:p>
          <a:p>
            <a:pPr>
              <a:spcAft>
                <a:spcPts val="900"/>
              </a:spcAft>
            </a:pPr>
            <a:r>
              <a:rPr sz="1400" b="0">
                <a:solidFill>
                  <a:srgbClr val="161B26"/>
                </a:solidFill>
                <a:latin typeface="Arial"/>
              </a:rPr>
              <a:t>•  Buffer when offline</a:t>
            </a:r>
          </a:p>
          <a:p>
            <a:pPr>
              <a:spcAft>
                <a:spcPts val="900"/>
              </a:spcAft>
            </a:pPr>
            <a:r>
              <a:rPr sz="1400" b="0">
                <a:solidFill>
                  <a:srgbClr val="161B26"/>
                </a:solidFill>
                <a:latin typeface="Arial"/>
              </a:rPr>
              <a:t>•  Add edge processing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CONNECTIVITY CHOICES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WiFi</a:t>
            </a:r>
          </a:p>
          <a:p>
            <a:pPr algn="l">
              <a:spcAft>
                <a:spcPts val="300"/>
              </a:spcAft>
            </a:pPr>
            <a:r>
              <a:rPr sz="1100" b="0">
                <a:solidFill>
                  <a:srgbClr val="5B6372"/>
                </a:solidFill>
                <a:latin typeface="Arial"/>
              </a:rPr>
              <a:t>High bandwidth, short range, mains power — best indoors where power is available.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Bluetooth / BLE</a:t>
            </a:r>
          </a:p>
          <a:p>
            <a:pPr algn="l">
              <a:spcAft>
                <a:spcPts val="300"/>
              </a:spcAft>
            </a:pPr>
            <a:r>
              <a:rPr sz="1100" b="0">
                <a:solidFill>
                  <a:srgbClr val="5B6372"/>
                </a:solidFill>
                <a:latin typeface="Arial"/>
              </a:rPr>
              <a:t>Very low power, very short range — wearables and personal devices.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Zigbee / Z-Wave</a:t>
            </a:r>
          </a:p>
          <a:p>
            <a:pPr algn="l">
              <a:spcAft>
                <a:spcPts val="300"/>
              </a:spcAft>
            </a:pPr>
            <a:r>
              <a:rPr sz="1100" b="0">
                <a:solidFill>
                  <a:srgbClr val="5B6372"/>
                </a:solidFill>
                <a:latin typeface="Arial"/>
              </a:rPr>
              <a:t>Low-power mesh — smart buildings and home automation.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Cellular (4G/5G)</a:t>
            </a:r>
          </a:p>
          <a:p>
            <a:pPr algn="l">
              <a:spcAft>
                <a:spcPts val="300"/>
              </a:spcAft>
            </a:pPr>
            <a:r>
              <a:rPr sz="1100" b="0">
                <a:solidFill>
                  <a:srgbClr val="5B6372"/>
                </a:solidFill>
                <a:latin typeface="Arial"/>
              </a:rPr>
              <a:t>Wide coverage with a subscription cost — vehicles, logistics and remote assets.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LoRaWAN / Sigfox</a:t>
            </a:r>
          </a:p>
          <a:p>
            <a:pPr algn="l">
              <a:spcAft>
                <a:spcPts val="300"/>
              </a:spcAft>
            </a:pPr>
            <a:r>
              <a:rPr sz="1100" b="0">
                <a:solidFill>
                  <a:srgbClr val="5B6372"/>
                </a:solidFill>
                <a:latin typeface="Arial"/>
              </a:rPr>
              <a:t>Long range, very low power, tiny payloads — agriculture, metering, city-scale sensing.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NB-IoT</a:t>
            </a:r>
          </a:p>
          <a:p>
            <a:pPr algn="l">
              <a:spcAft>
                <a:spcPts val="300"/>
              </a:spcAft>
            </a:pPr>
            <a:r>
              <a:rPr sz="1100" b="0">
                <a:solidFill>
                  <a:srgbClr val="5B6372"/>
                </a:solidFill>
                <a:latin typeface="Arial"/>
              </a:rPr>
              <a:t>Licensed low-power wide-area networking with carrier-grade reliability.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tech.png"/>
          <p:cNvPicPr>
            <a:picLocks noChangeAspect="1"/>
          </p:cNvPicPr>
          <p:nvPr/>
        </p:nvPicPr>
        <p:blipFill>
          <a:blip r:embed="rId2"/>
          <a:stretch>
            <a:fillRect/>
          </a:stretch>
        </p:blipFill>
        <p:spPr>
          <a:xfrm>
            <a:off x="2426358" y="1737360"/>
            <a:ext cx="733623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Range, power consumption, bandwidth and cost determine which technology fits a use 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Comparing Wireless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comparison.png"/>
          <p:cNvPicPr>
            <a:picLocks noChangeAspect="1"/>
          </p:cNvPicPr>
          <p:nvPr/>
        </p:nvPicPr>
        <p:blipFill>
          <a:blip r:embed="rId2"/>
          <a:stretch>
            <a:fillRect/>
          </a:stretch>
        </p:blipFill>
        <p:spPr>
          <a:xfrm>
            <a:off x="3023167" y="1737360"/>
            <a:ext cx="61426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There is no single best option — every choice trades range against power, bandwidth and cost.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FOUR CATEGORIES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Types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Consumer IoT</a:t>
            </a:r>
          </a:p>
          <a:p>
            <a:pPr algn="l">
              <a:spcAft>
                <a:spcPts val="300"/>
              </a:spcAft>
            </a:pPr>
            <a:r>
              <a:rPr sz="1200" b="0">
                <a:solidFill>
                  <a:srgbClr val="5B6372"/>
                </a:solidFill>
                <a:latin typeface="Arial"/>
              </a:rPr>
              <a:t>Everyday use — home appliances, voice assistants, smart lighting and wearables.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Commercial IoT</a:t>
            </a:r>
          </a:p>
          <a:p>
            <a:pPr algn="l">
              <a:spcAft>
                <a:spcPts val="300"/>
              </a:spcAft>
            </a:pPr>
            <a:r>
              <a:rPr sz="1200" b="0">
                <a:solidFill>
                  <a:srgbClr val="5B6372"/>
                </a:solidFill>
                <a:latin typeface="Arial"/>
              </a:rPr>
              <a:t>Healthcare and transport — smart pacemakers, monitoring systems, connected cars.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Industrial IoT (IIoT)</a:t>
            </a:r>
          </a:p>
          <a:p>
            <a:pPr algn="l">
              <a:spcAft>
                <a:spcPts val="300"/>
              </a:spcAft>
            </a:pPr>
            <a:r>
              <a:rPr sz="1200" b="0">
                <a:solidFill>
                  <a:srgbClr val="5B6372"/>
                </a:solidFill>
                <a:latin typeface="Arial"/>
              </a:rPr>
              <a:t>Manufacturing and energy — digital control systems and industrial big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Infrastructure IoT</a:t>
            </a:r>
          </a:p>
          <a:p>
            <a:pPr algn="l">
              <a:spcAft>
                <a:spcPts val="300"/>
              </a:spcAft>
            </a:pPr>
            <a:r>
              <a:rPr sz="1200" b="0">
                <a:solidFill>
                  <a:srgbClr val="5B6372"/>
                </a:solidFill>
                <a:latin typeface="Arial"/>
              </a:rPr>
              <a:t>Smart cities — infrastructure sensors and city management systems.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IIoT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vs Industrial IoT (IIoT)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vs-iiot.png"/>
          <p:cNvPicPr>
            <a:picLocks noChangeAspect="1"/>
          </p:cNvPicPr>
          <p:nvPr/>
        </p:nvPicPr>
        <p:blipFill>
          <a:blip r:embed="rId2"/>
          <a:stretch>
            <a:fillRect/>
          </a:stretch>
        </p:blipFill>
        <p:spPr>
          <a:xfrm>
            <a:off x="2293048" y="1737360"/>
            <a:ext cx="76028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IIoT extends IoT into industrial sectors, where reliability and safety requirements are higher.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APPLICATIONS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Applications Across Industry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pplications.png"/>
          <p:cNvPicPr>
            <a:picLocks noChangeAspect="1"/>
          </p:cNvPicPr>
          <p:nvPr/>
        </p:nvPicPr>
        <p:blipFill>
          <a:blip r:embed="rId2"/>
          <a:stretch>
            <a:fillRect/>
          </a:stretch>
        </p:blipFill>
        <p:spPr>
          <a:xfrm>
            <a:off x="2558034" y="1737360"/>
            <a:ext cx="707288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has found its way into every conceivable field, from agriculture to aerospace.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Healthcare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healthcare.png"/>
          <p:cNvPicPr>
            <a:picLocks noChangeAspect="1"/>
          </p:cNvPicPr>
          <p:nvPr/>
        </p:nvPicPr>
        <p:blipFill>
          <a:blip r:embed="rId2"/>
          <a:stretch>
            <a:fillRect/>
          </a:stretch>
        </p:blipFill>
        <p:spPr>
          <a:xfrm>
            <a:off x="1752881" y="1737360"/>
            <a:ext cx="86831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Asset tracking and patient monitoring: find the nearest wheelchair, watch vitals continuously.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Agriculture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agriculture.png"/>
          <p:cNvPicPr>
            <a:picLocks noChangeAspect="1"/>
          </p:cNvPicPr>
          <p:nvPr/>
        </p:nvPicPr>
        <p:blipFill>
          <a:blip r:embed="rId2"/>
          <a:stretch>
            <a:fillRect/>
          </a:stretch>
        </p:blipFill>
        <p:spPr>
          <a:xfrm>
            <a:off x="2583180" y="1737360"/>
            <a:ext cx="70225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Soil, weather and crop sensing drive precision irrigation and fertiliser decisions.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Smart Home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smart-home.png"/>
          <p:cNvPicPr>
            <a:picLocks noChangeAspect="1"/>
          </p:cNvPicPr>
          <p:nvPr/>
        </p:nvPicPr>
        <p:blipFill>
          <a:blip r:embed="rId2"/>
          <a:stretch>
            <a:fillRect/>
          </a:stretch>
        </p:blipFill>
        <p:spPr>
          <a:xfrm>
            <a:off x="965068" y="1737360"/>
            <a:ext cx="1025881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Smart outlets, thermostats, locks and leak detectors improve efficiency and safety.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Smart City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smart-city.png"/>
          <p:cNvPicPr>
            <a:picLocks noChangeAspect="1"/>
          </p:cNvPicPr>
          <p:nvPr/>
        </p:nvPicPr>
        <p:blipFill>
          <a:blip r:embed="rId2"/>
          <a:stretch>
            <a:fillRect/>
          </a:stretch>
        </p:blipFill>
        <p:spPr>
          <a:xfrm>
            <a:off x="2950447" y="1737360"/>
            <a:ext cx="62880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Air quality, smart lighting, infrastructure monitoring and parking management.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Smart Building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smart-building.png"/>
          <p:cNvPicPr>
            <a:picLocks noChangeAspect="1"/>
          </p:cNvPicPr>
          <p:nvPr/>
        </p:nvPicPr>
        <p:blipFill>
          <a:blip r:embed="rId2"/>
          <a:stretch>
            <a:fillRect/>
          </a:stretch>
        </p:blipFill>
        <p:spPr>
          <a:xfrm>
            <a:off x="2656216" y="1737360"/>
            <a:ext cx="68765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Occupancy, energy and equipment sensing cut utility cost and enable predictive maintenance.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logistics.png"/>
          <p:cNvPicPr>
            <a:picLocks noChangeAspect="1"/>
          </p:cNvPicPr>
          <p:nvPr/>
        </p:nvPicPr>
        <p:blipFill>
          <a:blip r:embed="rId2"/>
          <a:stretch>
            <a:fillRect/>
          </a:stretch>
        </p:blipFill>
        <p:spPr>
          <a:xfrm>
            <a:off x="2629870" y="1737360"/>
            <a:ext cx="692921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Track-and-trace with temperature control — critical for food, flowers and pharmaceuticals.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Manufacturing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manufacturing.png"/>
          <p:cNvPicPr>
            <a:picLocks noChangeAspect="1"/>
          </p:cNvPicPr>
          <p:nvPr/>
        </p:nvPicPr>
        <p:blipFill>
          <a:blip r:embed="rId2"/>
          <a:stretch>
            <a:fillRect/>
          </a:stretch>
        </p:blipFill>
        <p:spPr>
          <a:xfrm>
            <a:off x="783174" y="1737360"/>
            <a:ext cx="1062260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Production-line monitoring enables proactive maintenance before equipment fails.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USE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Retail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retail.png"/>
          <p:cNvPicPr>
            <a:picLocks noChangeAspect="1"/>
          </p:cNvPicPr>
          <p:nvPr/>
        </p:nvPicPr>
        <p:blipFill>
          <a:blip r:embed="rId2"/>
          <a:stretch>
            <a:fillRect/>
          </a:stretch>
        </p:blipFill>
        <p:spPr>
          <a:xfrm>
            <a:off x="777240" y="2100596"/>
            <a:ext cx="10634472" cy="3434048"/>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Smart shelves and beacons manage inventory and personalise the customer experience.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Analyse an IoT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pick one of the IoT use cases covered (healthcare, agriculture, connected vehicles, smart home, smart city, smart building, logistics, manufacturing or retail) and analyse how the data collected leads to a recommended control action.</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is physically being sensed, how often, and by what kind of sensor?</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wireless technology suits that deployment — and why does range or power decide it?</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control action does the data recommend, and who or what carries it out?</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would the organisation lose if that measurement did not exist?</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analysis linking the sensed data to a specific recommended control action.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IoT connects physical objects to the internet so they can collect and exchange data.</a:t>
            </a:r>
          </a:p>
          <a:p>
            <a:pPr>
              <a:spcAft>
                <a:spcPts val="1000"/>
              </a:spcAft>
            </a:pPr>
            <a:r>
              <a:rPr sz="1700" b="0">
                <a:solidFill>
                  <a:srgbClr val="161B26"/>
                </a:solidFill>
                <a:latin typeface="Arial"/>
              </a:rPr>
              <a:t>•  Every IoT system has four blocks: sensors/devices, connectivity, cloud processing and a user interface.</a:t>
            </a:r>
          </a:p>
          <a:p>
            <a:pPr>
              <a:spcAft>
                <a:spcPts val="1000"/>
              </a:spcAft>
            </a:pPr>
            <a:r>
              <a:rPr sz="1700" b="0">
                <a:solidFill>
                  <a:srgbClr val="161B26"/>
                </a:solidFill>
                <a:latin typeface="Arial"/>
              </a:rPr>
              <a:t>•  Sensors turn a physical phenomenon into a signal; actuators turn a decision back into physical action.</a:t>
            </a:r>
          </a:p>
          <a:p>
            <a:pPr>
              <a:spcAft>
                <a:spcPts val="1000"/>
              </a:spcAft>
            </a:pPr>
            <a:r>
              <a:rPr sz="1700" b="0">
                <a:solidFill>
                  <a:srgbClr val="161B26"/>
                </a:solidFill>
                <a:latin typeface="Arial"/>
              </a:rPr>
              <a:t>•  Wireless choice trades range against power, bandwidth and cost — there is no single best option.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  ·  Digital attendance (PM) on your return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Collect and Post Environmental Data to Cloud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platforms · Raspberry Pi · Sensors · Device tokens · HTTP REST &amp; MQTT uplink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A2, K2, K3 · Day 1 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Key Concepts — Collect and Post Environmental Data to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computing for IoT</a:t>
            </a:r>
          </a:p>
          <a:p>
            <a:pPr algn="l">
              <a:spcAft>
                <a:spcPts val="300"/>
              </a:spcAft>
            </a:pPr>
            <a:r>
              <a:rPr sz="1100" b="0">
                <a:solidFill>
                  <a:srgbClr val="5B6372"/>
                </a:solidFill>
                <a:latin typeface="Arial"/>
              </a:rPr>
              <a:t>The cloud gives constrained devices the storage, compute and availability they lack.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IoTFlow</a:t>
            </a:r>
          </a:p>
          <a:p>
            <a:pPr algn="l">
              <a:spcAft>
                <a:spcPts val="300"/>
              </a:spcAft>
            </a:pPr>
            <a:r>
              <a:rPr sz="1100" b="0">
                <a:solidFill>
                  <a:srgbClr val="5B6372"/>
                </a:solidFill>
                <a:latin typeface="Arial"/>
              </a:rPr>
              <a:t>Our platform: projects, devices, tokens, dashboards, alerts and automations in one place.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Raspberry Pi as gateway</a:t>
            </a:r>
          </a:p>
          <a:p>
            <a:pPr algn="l">
              <a:spcAft>
                <a:spcPts val="300"/>
              </a:spcAft>
            </a:pPr>
            <a:r>
              <a:rPr sz="1100" b="0">
                <a:solidFill>
                  <a:srgbClr val="5B6372"/>
                </a:solidFill>
                <a:latin typeface="Arial"/>
              </a:rPr>
              <a:t>A low-cost Linux computer with GPIO, WiFi and Python — it reads sensors and speaks to the cloud.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Reading environmental data</a:t>
            </a:r>
          </a:p>
          <a:p>
            <a:pPr algn="l">
              <a:spcAft>
                <a:spcPts val="300"/>
              </a:spcAft>
            </a:pPr>
            <a:r>
              <a:rPr sz="1100" b="0">
                <a:solidFill>
                  <a:srgbClr val="5B6372"/>
                </a:solidFill>
                <a:latin typeface="Arial"/>
              </a:rPr>
              <a:t>Temperature, humidity and pressure from a Sense HAT, DHT11/DHT22 or a simulated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 tokens</a:t>
            </a:r>
          </a:p>
          <a:p>
            <a:pPr algn="l">
              <a:spcAft>
                <a:spcPts val="300"/>
              </a:spcAft>
            </a:pPr>
            <a:r>
              <a:rPr sz="1100" b="0">
                <a:solidFill>
                  <a:srgbClr val="5B6372"/>
                </a:solidFill>
                <a:latin typeface="Arial"/>
              </a:rPr>
              <a:t>A token authenticates every message a device sends — and is why credential management matters.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HTTP REST &amp; MQTT uplink</a:t>
            </a:r>
          </a:p>
          <a:p>
            <a:pPr algn="l">
              <a:spcAft>
                <a:spcPts val="300"/>
              </a:spcAft>
            </a:pPr>
            <a:r>
              <a:rPr sz="1100" b="0">
                <a:solidFill>
                  <a:srgbClr val="5B6372"/>
                </a:solidFill>
                <a:latin typeface="Arial"/>
              </a:rPr>
              <a:t>POST JSON to a REST endpoint, or publish over MQTT for lightweight real-time streaming.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the cloud</a:t>
            </a:r>
          </a:p>
          <a:p>
            <a:pPr algn="l">
              <a:spcAft>
                <a:spcPts val="300"/>
              </a:spcAft>
            </a:pPr>
            <a:r>
              <a:rPr sz="1100" b="0">
                <a:solidFill>
                  <a:srgbClr val="5B6372"/>
                </a:solidFill>
                <a:latin typeface="Arial"/>
              </a:rPr>
              <a:t>Constrained devices lack the storage, compute and availability the data needs.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Always available</a:t>
            </a:r>
          </a:p>
          <a:p>
            <a:pPr algn="l">
              <a:spcAft>
                <a:spcPts val="300"/>
              </a:spcAft>
            </a:pPr>
            <a:r>
              <a:rPr sz="1100" b="0">
                <a:solidFill>
                  <a:srgbClr val="5B6372"/>
                </a:solidFill>
                <a:latin typeface="Arial"/>
              </a:rPr>
              <a:t>The platform keeps receiving data whether or not your laptop is switched 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Scales with the fleet</a:t>
            </a:r>
          </a:p>
          <a:p>
            <a:pPr algn="l">
              <a:spcAft>
                <a:spcPts val="300"/>
              </a:spcAft>
            </a:pPr>
            <a:r>
              <a:rPr sz="1100" b="0">
                <a:solidFill>
                  <a:srgbClr val="5B6372"/>
                </a:solidFill>
                <a:latin typeface="Arial"/>
              </a:rPr>
              <a:t>One device or a thousand — the same endpoint and the same code.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persistence</a:t>
            </a:r>
          </a:p>
          <a:p>
            <a:pPr algn="l">
              <a:spcAft>
                <a:spcPts val="300"/>
              </a:spcAft>
            </a:pPr>
            <a:r>
              <a:rPr sz="1100" b="0">
                <a:solidFill>
                  <a:srgbClr val="5B6372"/>
                </a:solidFill>
                <a:latin typeface="Arial"/>
              </a:rPr>
              <a:t>History is retained so trends and performance can be analysed later.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Accessible anywhere</a:t>
            </a:r>
          </a:p>
          <a:p>
            <a:pPr algn="l">
              <a:spcAft>
                <a:spcPts val="300"/>
              </a:spcAft>
            </a:pPr>
            <a:r>
              <a:rPr sz="1100" b="0">
                <a:solidFill>
                  <a:srgbClr val="5B6372"/>
                </a:solidFill>
                <a:latin typeface="Arial"/>
              </a:rPr>
              <a:t>A browser or a phone shows the same live data from any location.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Integrations</a:t>
            </a:r>
          </a:p>
          <a:p>
            <a:pPr algn="l">
              <a:spcAft>
                <a:spcPts val="300"/>
              </a:spcAft>
            </a:pPr>
            <a:r>
              <a:rPr sz="1100" b="0">
                <a:solidFill>
                  <a:srgbClr val="5B6372"/>
                </a:solidFill>
                <a:latin typeface="Arial"/>
              </a:rPr>
              <a:t>Webhooks and APIs push events into the systems the business already uses.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ud-computing.png"/>
          <p:cNvPicPr>
            <a:picLocks noChangeAspect="1"/>
          </p:cNvPicPr>
          <p:nvPr/>
        </p:nvPicPr>
        <p:blipFill>
          <a:blip r:embed="rId2"/>
          <a:stretch>
            <a:fillRect/>
          </a:stretch>
        </p:blipFill>
        <p:spPr>
          <a:xfrm>
            <a:off x="3553700" y="1737360"/>
            <a:ext cx="50815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cloud gives constrained devices the storage, compute and availability they lack.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OUR PLATFORM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https://iot.tertiaryinfotech.com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flow-home.png"/>
          <p:cNvPicPr>
            <a:picLocks noChangeAspect="1"/>
          </p:cNvPicPr>
          <p:nvPr/>
        </p:nvPicPr>
        <p:blipFill>
          <a:blip r:embed="rId2"/>
          <a:stretch>
            <a:fillRect/>
          </a:stretch>
        </p:blipFill>
        <p:spPr>
          <a:xfrm>
            <a:off x="2471382" y="1737360"/>
            <a:ext cx="72461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platform you will use for every lab in this course.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https://iot.tertiaryinfotech.com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Our IoT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Projects</a:t>
            </a:r>
          </a:p>
          <a:p>
            <a:pPr algn="l">
              <a:spcAft>
                <a:spcPts val="300"/>
              </a:spcAft>
            </a:pPr>
            <a:r>
              <a:rPr sz="1100" b="0">
                <a:solidFill>
                  <a:srgbClr val="5B6372"/>
                </a:solidFill>
                <a:latin typeface="Arial"/>
              </a:rPr>
              <a:t>A self-contained workspace with its own devices, dashboard, alerts, map and automations.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Devices &amp; tokens</a:t>
            </a:r>
          </a:p>
          <a:p>
            <a:pPr algn="l">
              <a:spcAft>
                <a:spcPts val="300"/>
              </a:spcAft>
            </a:pPr>
            <a:r>
              <a:rPr sz="1100" b="0">
                <a:solidFill>
                  <a:srgbClr val="5B6372"/>
                </a:solidFill>
                <a:latin typeface="Arial"/>
              </a:rPr>
              <a:t>Register a device in a guided wizard; a device token authenticates every message it sends.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HTTP &amp; MQTT</a:t>
            </a:r>
          </a:p>
          <a:p>
            <a:pPr algn="l">
              <a:spcAft>
                <a:spcPts val="300"/>
              </a:spcAft>
            </a:pPr>
            <a:r>
              <a:rPr sz="1100" b="0">
                <a:solidFill>
                  <a:srgbClr val="5B6372"/>
                </a:solidFill>
                <a:latin typeface="Arial"/>
              </a:rPr>
              <a:t>POST JSON to a REST endpoint, or publish/subscribe over MQTT for real-time two-way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Dashboards</a:t>
            </a:r>
          </a:p>
          <a:p>
            <a:pPr algn="l">
              <a:spcAft>
                <a:spcPts val="300"/>
              </a:spcAft>
            </a:pPr>
            <a:r>
              <a:rPr sz="1100" b="0">
                <a:solidFill>
                  <a:srgbClr val="5B6372"/>
                </a:solidFill>
                <a:latin typeface="Arial"/>
              </a:rPr>
              <a:t>Number cards, gauges, charts, LED indicators and maps that refresh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Alerts &amp; automations</a:t>
            </a:r>
          </a:p>
          <a:p>
            <a:pPr algn="l">
              <a:spcAft>
                <a:spcPts val="300"/>
              </a:spcAft>
            </a:pPr>
            <a:r>
              <a:rPr sz="1100" b="0">
                <a:solidFill>
                  <a:srgbClr val="5B6372"/>
                </a:solidFill>
                <a:latin typeface="Arial"/>
              </a:rPr>
              <a:t>Threshold and offline rules that fire a webhook into an n8n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Clients</a:t>
            </a:r>
          </a:p>
          <a:p>
            <a:pPr algn="l">
              <a:spcAft>
                <a:spcPts val="300"/>
              </a:spcAft>
            </a:pPr>
            <a:r>
              <a:rPr sz="1100" b="0">
                <a:solidFill>
                  <a:srgbClr val="5B6372"/>
                </a:solidFill>
                <a:latin typeface="Arial"/>
              </a:rPr>
              <a:t>Official Python client (pip install iotflow) and an Arduino library for ESP32/ESP8266.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DEVICE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Raspberry Pi as an IoT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full Linux computer</a:t>
            </a:r>
          </a:p>
          <a:p>
            <a:pPr algn="l">
              <a:spcAft>
                <a:spcPts val="300"/>
              </a:spcAft>
            </a:pPr>
            <a:r>
              <a:rPr sz="1100" b="0">
                <a:solidFill>
                  <a:srgbClr val="5B6372"/>
                </a:solidFill>
                <a:latin typeface="Arial"/>
              </a:rPr>
              <a:t>Low cost and credit-card sized, running Raspberry Pi OS with Python built 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GPIO pins</a:t>
            </a:r>
          </a:p>
          <a:p>
            <a:pPr algn="l">
              <a:spcAft>
                <a:spcPts val="300"/>
              </a:spcAft>
            </a:pPr>
            <a:r>
              <a:rPr sz="1100" b="0">
                <a:solidFill>
                  <a:srgbClr val="5B6372"/>
                </a:solidFill>
                <a:latin typeface="Arial"/>
              </a:rPr>
              <a:t>Connect sensors and actuators directly to the board — no extra hardware needed.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Built-in WiFi</a:t>
            </a:r>
          </a:p>
          <a:p>
            <a:pPr algn="l">
              <a:spcAft>
                <a:spcPts val="300"/>
              </a:spcAft>
            </a:pPr>
            <a:r>
              <a:rPr sz="1100" b="0">
                <a:solidFill>
                  <a:srgbClr val="5B6372"/>
                </a:solidFill>
                <a:latin typeface="Arial"/>
              </a:rPr>
              <a:t>Reaches the cloud without a separate network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Python ecosystem</a:t>
            </a:r>
          </a:p>
          <a:p>
            <a:pPr algn="l">
              <a:spcAft>
                <a:spcPts val="300"/>
              </a:spcAft>
            </a:pPr>
            <a:r>
              <a:rPr sz="1100" b="0">
                <a:solidFill>
                  <a:srgbClr val="5B6372"/>
                </a:solidFill>
                <a:latin typeface="Arial"/>
              </a:rPr>
              <a:t>sense_hat, gpiozero, adafruit-dht and the iotflow client are a pip install away.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Runs unattended</a:t>
            </a:r>
          </a:p>
          <a:p>
            <a:pPr algn="l">
              <a:spcAft>
                <a:spcPts val="300"/>
              </a:spcAft>
            </a:pPr>
            <a:r>
              <a:rPr sz="1100" b="0">
                <a:solidFill>
                  <a:srgbClr val="5B6372"/>
                </a:solidFill>
                <a:latin typeface="Arial"/>
              </a:rPr>
              <a:t>systemd restarts your sensor script automatically after a power cut.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Remote access</a:t>
            </a:r>
          </a:p>
          <a:p>
            <a:pPr algn="l">
              <a:spcAft>
                <a:spcPts val="300"/>
              </a:spcAft>
            </a:pPr>
            <a:r>
              <a:rPr sz="1100" b="0">
                <a:solidFill>
                  <a:srgbClr val="5B6372"/>
                </a:solidFill>
                <a:latin typeface="Arial"/>
              </a:rPr>
              <a:t>SSH or VNC lets you work on the Pi headless, from your laptop.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WAYS TO GET A READING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Reading Environmental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Sense 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Temperature, humidity, pressure</a:t>
            </a:r>
          </a:p>
          <a:p>
            <a:pPr>
              <a:spcAft>
                <a:spcPts val="900"/>
              </a:spcAft>
            </a:pPr>
            <a:r>
              <a:rPr sz="1400" b="0">
                <a:solidFill>
                  <a:srgbClr val="161B26"/>
                </a:solidFill>
                <a:latin typeface="Arial"/>
              </a:rPr>
              <a:t>•  Motion and orientation</a:t>
            </a:r>
          </a:p>
          <a:p>
            <a:pPr>
              <a:spcAft>
                <a:spcPts val="900"/>
              </a:spcAft>
            </a:pPr>
            <a:r>
              <a:rPr sz="1400" b="0">
                <a:solidFill>
                  <a:srgbClr val="161B26"/>
                </a:solidFill>
                <a:latin typeface="Arial"/>
              </a:rPr>
              <a:t>•  8×8 LED matrix and joystick</a:t>
            </a:r>
          </a:p>
          <a:p>
            <a:pPr>
              <a:spcAft>
                <a:spcPts val="900"/>
              </a:spcAft>
            </a:pPr>
            <a:r>
              <a:rPr sz="1400" b="0">
                <a:solidFill>
                  <a:srgbClr val="161B26"/>
                </a:solidFill>
                <a:latin typeface="Arial"/>
              </a:rPr>
              <a:t>•  One import: sense_hat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DHT11 / DHT22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Temperature and humidity</a:t>
            </a:r>
          </a:p>
          <a:p>
            <a:pPr>
              <a:spcAft>
                <a:spcPts val="900"/>
              </a:spcAft>
            </a:pPr>
            <a:r>
              <a:rPr sz="1400" b="0">
                <a:solidFill>
                  <a:srgbClr val="161B26"/>
                </a:solidFill>
                <a:latin typeface="Arial"/>
              </a:rPr>
              <a:t>•  Connects to a single GPIO pin</a:t>
            </a:r>
          </a:p>
          <a:p>
            <a:pPr>
              <a:spcAft>
                <a:spcPts val="900"/>
              </a:spcAft>
            </a:pPr>
            <a:r>
              <a:rPr sz="1400" b="0">
                <a:solidFill>
                  <a:srgbClr val="161B26"/>
                </a:solidFill>
                <a:latin typeface="Arial"/>
              </a:rPr>
              <a:t>•  Very low cost</a:t>
            </a:r>
          </a:p>
          <a:p>
            <a:pPr>
              <a:spcAft>
                <a:spcPts val="900"/>
              </a:spcAft>
            </a:pPr>
            <a:r>
              <a:rPr sz="1400" b="0">
                <a:solidFill>
                  <a:srgbClr val="161B26"/>
                </a:solidFill>
                <a:latin typeface="Arial"/>
              </a:rPr>
              <a:t>•  adafruit_dht library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Simulated data</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 hardware required</a:t>
            </a:r>
          </a:p>
          <a:p>
            <a:pPr>
              <a:spcAft>
                <a:spcPts val="900"/>
              </a:spcAft>
            </a:pPr>
            <a:r>
              <a:rPr sz="1400" b="0">
                <a:solidFill>
                  <a:srgbClr val="161B26"/>
                </a:solidFill>
                <a:latin typeface="Arial"/>
              </a:rPr>
              <a:t>•  Random or replayed values</a:t>
            </a:r>
          </a:p>
          <a:p>
            <a:pPr>
              <a:spcAft>
                <a:spcPts val="900"/>
              </a:spcAft>
            </a:pPr>
            <a:r>
              <a:rPr sz="1400" b="0">
                <a:solidFill>
                  <a:srgbClr val="161B26"/>
                </a:solidFill>
                <a:latin typeface="Arial"/>
              </a:rPr>
              <a:t>•  Useful for testing the uplink</a:t>
            </a:r>
          </a:p>
          <a:p>
            <a:pPr>
              <a:spcAft>
                <a:spcPts val="900"/>
              </a:spcAft>
            </a:pPr>
            <a:r>
              <a:rPr sz="1400" b="0">
                <a:solidFill>
                  <a:srgbClr val="161B26"/>
                </a:solidFill>
                <a:latin typeface="Arial"/>
              </a:rPr>
              <a:t>•  Identical platform behaviour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SENSOR TO ACTION AND BACK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IoT Data Round 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DEVICE reads a sensor value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UPLINK posts it over HTTP or MQTT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charts and evaluates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 a person or an automation acts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DOWNLINK sends a command back to the device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PROTOCOLS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MQTT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mqtt-works.png"/>
          <p:cNvPicPr>
            <a:picLocks noChangeAspect="1"/>
          </p:cNvPicPr>
          <p:nvPr/>
        </p:nvPicPr>
        <p:blipFill>
          <a:blip r:embed="rId2"/>
          <a:stretch>
            <a:fillRect/>
          </a:stretch>
        </p:blipFill>
        <p:spPr>
          <a:xfrm>
            <a:off x="2619406" y="1737360"/>
            <a:ext cx="69501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Publish/subscribe: devices publish to a topic and the broker delivers to every subscriber.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UPLINK PROTOCOL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HTTP REST vs MQTT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Real-time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HTTP REST</a:t>
            </a:r>
          </a:p>
          <a:p>
            <a:pPr>
              <a:spcAft>
                <a:spcPts val="1000"/>
              </a:spcAft>
            </a:pPr>
            <a:r>
              <a:rPr sz="1400" b="0">
                <a:solidFill>
                  <a:srgbClr val="5B6372"/>
                </a:solidFill>
                <a:latin typeface="Arial"/>
              </a:rPr>
              <a:t>–  Request/response</a:t>
            </a:r>
          </a:p>
          <a:p>
            <a:pPr>
              <a:spcAft>
                <a:spcPts val="1000"/>
              </a:spcAft>
            </a:pPr>
            <a:r>
              <a:rPr sz="1400" b="0">
                <a:solidFill>
                  <a:srgbClr val="5B6372"/>
                </a:solidFill>
                <a:latin typeface="Arial"/>
              </a:rPr>
              <a:t>–  Simplest to start with</a:t>
            </a:r>
          </a:p>
          <a:p>
            <a:pPr>
              <a:spcAft>
                <a:spcPts val="1000"/>
              </a:spcAft>
            </a:pPr>
            <a:r>
              <a:rPr sz="1400" b="0">
                <a:solidFill>
                  <a:srgbClr val="5B6372"/>
                </a:solidFill>
                <a:latin typeface="Arial"/>
              </a:rPr>
              <a:t>–  POST JSON to an endpoint</a:t>
            </a:r>
          </a:p>
          <a:p>
            <a:pPr>
              <a:spcAft>
                <a:spcPts val="1000"/>
              </a:spcAft>
            </a:pPr>
            <a:r>
              <a:rPr sz="1400" b="0">
                <a:solidFill>
                  <a:srgbClr val="5B6372"/>
                </a:solidFill>
                <a:latin typeface="Arial"/>
              </a:rPr>
              <a:t>–  Works from cURL or any language</a:t>
            </a:r>
          </a:p>
          <a:p>
            <a:pPr>
              <a:spcAft>
                <a:spcPts val="1000"/>
              </a:spcAft>
            </a:pPr>
            <a:r>
              <a:rPr sz="1400" b="0">
                <a:solidFill>
                  <a:srgbClr val="5B6372"/>
                </a:solidFill>
                <a:latin typeface="Arial"/>
              </a:rPr>
              <a:t>–  Higher overhead per message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MQTT</a:t>
            </a:r>
          </a:p>
          <a:p>
            <a:pPr>
              <a:spcAft>
                <a:spcPts val="1000"/>
              </a:spcAft>
            </a:pPr>
            <a:r>
              <a:rPr sz="1400" b="0">
                <a:solidFill>
                  <a:srgbClr val="5B6372"/>
                </a:solidFill>
                <a:latin typeface="Arial"/>
              </a:rPr>
              <a:t>–  Publish/subscribe via a broker</a:t>
            </a:r>
          </a:p>
          <a:p>
            <a:pPr>
              <a:spcAft>
                <a:spcPts val="1000"/>
              </a:spcAft>
            </a:pPr>
            <a:r>
              <a:rPr sz="1400" b="0">
                <a:solidFill>
                  <a:srgbClr val="5B6372"/>
                </a:solidFill>
                <a:latin typeface="Arial"/>
              </a:rPr>
              <a:t>–  Lightweight and low bandwidth</a:t>
            </a:r>
          </a:p>
          <a:p>
            <a:pPr>
              <a:spcAft>
                <a:spcPts val="1000"/>
              </a:spcAft>
            </a:pPr>
            <a:r>
              <a:rPr sz="1400" b="0">
                <a:solidFill>
                  <a:srgbClr val="5B6372"/>
                </a:solidFill>
                <a:latin typeface="Arial"/>
              </a:rPr>
              <a:t>–  Persistent connection</a:t>
            </a:r>
          </a:p>
          <a:p>
            <a:pPr>
              <a:spcAft>
                <a:spcPts val="1000"/>
              </a:spcAft>
            </a:pPr>
            <a:r>
              <a:rPr sz="1400" b="0">
                <a:solidFill>
                  <a:srgbClr val="5B6372"/>
                </a:solidFill>
                <a:latin typeface="Arial"/>
              </a:rPr>
              <a:t>–  Best for real-time two-way control</a:t>
            </a:r>
          </a:p>
          <a:p>
            <a:pPr>
              <a:spcAft>
                <a:spcPts val="1000"/>
              </a:spcAft>
            </a:pPr>
            <a:r>
              <a:rPr sz="1400" b="0">
                <a:solidFill>
                  <a:srgbClr val="5B6372"/>
                </a:solidFill>
                <a:latin typeface="Arial"/>
              </a:rPr>
              <a:t>–  Ideal for many devices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AUTHENTICATING THE DEVICE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Device Tokens and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a token is</a:t>
            </a:r>
          </a:p>
          <a:p>
            <a:pPr algn="l">
              <a:spcAft>
                <a:spcPts val="300"/>
              </a:spcAft>
            </a:pPr>
            <a:r>
              <a:rPr sz="1100" b="0">
                <a:solidFill>
                  <a:srgbClr val="5B6372"/>
                </a:solidFill>
                <a:latin typeface="Arial"/>
              </a:rPr>
              <a:t>A secret string that authenticates every message the device sends.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Shown once</a:t>
            </a:r>
          </a:p>
          <a:p>
            <a:pPr algn="l">
              <a:spcAft>
                <a:spcPts val="300"/>
              </a:spcAft>
            </a:pPr>
            <a:r>
              <a:rPr sz="1100" b="0">
                <a:solidFill>
                  <a:srgbClr val="5B6372"/>
                </a:solidFill>
                <a:latin typeface="Arial"/>
              </a:rPr>
              <a:t>Copy it when the device is created — the platform will not display it again.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Anyone holding it can post</a:t>
            </a:r>
          </a:p>
          <a:p>
            <a:pPr algn="l">
              <a:spcAft>
                <a:spcPts val="300"/>
              </a:spcAft>
            </a:pPr>
            <a:r>
              <a:rPr sz="1100" b="0">
                <a:solidFill>
                  <a:srgbClr val="5B6372"/>
                </a:solidFill>
                <a:latin typeface="Arial"/>
              </a:rPr>
              <a:t>A leaked token means someone else can publish as your device.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Keep it out of code</a:t>
            </a:r>
          </a:p>
          <a:p>
            <a:pPr algn="l">
              <a:spcAft>
                <a:spcPts val="300"/>
              </a:spcAft>
            </a:pPr>
            <a:r>
              <a:rPr sz="1100" b="0">
                <a:solidFill>
                  <a:srgbClr val="5B6372"/>
                </a:solidFill>
                <a:latin typeface="Arial"/>
              </a:rPr>
              <a:t>Store it in an environment variable, never in a Git repository.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TLS endpoints</a:t>
            </a:r>
          </a:p>
          <a:p>
            <a:pPr algn="l">
              <a:spcAft>
                <a:spcPts val="300"/>
              </a:spcAft>
            </a:pPr>
            <a:r>
              <a:rPr sz="1100" b="0">
                <a:solidFill>
                  <a:srgbClr val="5B6372"/>
                </a:solidFill>
                <a:latin typeface="Arial"/>
              </a:rPr>
              <a:t>Encrypt the data in transit so the token cannot be read off the wire.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Rotate if exposed</a:t>
            </a:r>
          </a:p>
          <a:p>
            <a:pPr algn="l">
              <a:spcAft>
                <a:spcPts val="300"/>
              </a:spcAft>
            </a:pPr>
            <a:r>
              <a:rPr sz="1100" b="0">
                <a:solidFill>
                  <a:srgbClr val="5B6372"/>
                </a:solidFill>
                <a:latin typeface="Arial"/>
              </a:rPr>
              <a:t>Regenerate the token immediately if you suspect it has leaked.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02 · PRACTICAL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Practical — Labs 1 and 2</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Running on IoTFlow (https://iot.tertiaryinfotech.com). Step-by-step instructions are in your Learner Guide — follow along there.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Register Your Raspberry Pi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Identify an area for an IoT solution and connect the asset to the cloud (A2,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your Raspberry Pi into a managed IoT device. You sign in to IoTFlow, create a project workspace for your monitoring scenario, register the Pi through the Add Device wizard, choose how it will talk to the cloud (HTTP or MQTT), and capture the device token that authenticates every message it sends.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registered Raspberry Pi device in your own IoTFlow project, with its device token saved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first step of any IoT deployment: an asset that was previously invisible now has an identity, an owner and a data stream that can be measured, monitored and managed.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IoTFlow projects · Add Device wizard · Device tokens · HTTP &amp; MQTT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1 — Register Your Raspberry Pi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1-add-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registered Raspberry Pi device in your own IoTFlow project, with its device token saved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Collect Environmental Data and Post It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Collect environment data with the Raspberry Pi and post it to cloud computing (A2, K2, K3).</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Read temperature and humidity on the Raspberry Pi and stream the readings to IoTFlow — first with a single cURL call, then with the official Python client over HTTP, then continuously over MQTT. This is the uplink every IoT solution depends on: without a reliable data stream there is nothing to analyse.</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Live temperature and humidity telemetry streaming from the Raspberry Pi into IoTFlow</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Each reading is an operational fact with a timestamp. Once the stream exists, the organisation can answer questions it previously could not — how often, how long, how bad, and at what cost.</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Sense HAT / DHT22 · Telemetry REST API · Python client (pip install iotflow) · MQTT broker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2 — Collect Environmental Data and Post It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send-reading.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Live temperature and humidity telemetry streaming from the Raspberry Pi into IoTFlow</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Collect and Post Environmental Data to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cloud gives a constrained device the storage, availability and reach it does not have on its own.</a:t>
            </a:r>
          </a:p>
          <a:p>
            <a:pPr>
              <a:spcAft>
                <a:spcPts val="1000"/>
              </a:spcAft>
            </a:pPr>
            <a:r>
              <a:rPr sz="1700" b="0">
                <a:solidFill>
                  <a:srgbClr val="161B26"/>
                </a:solidFill>
                <a:latin typeface="Arial"/>
              </a:rPr>
              <a:t>•  The Raspberry Pi reads a sensor over GPIO and posts the reading to the cloud over HTTP or MQTT.</a:t>
            </a:r>
          </a:p>
          <a:p>
            <a:pPr>
              <a:spcAft>
                <a:spcPts val="1000"/>
              </a:spcAft>
            </a:pPr>
            <a:r>
              <a:rPr sz="1700" b="0">
                <a:solidFill>
                  <a:srgbClr val="161B26"/>
                </a:solidFill>
                <a:latin typeface="Arial"/>
              </a:rPr>
              <a:t>•  A device token authenticates every message — treat it like a password.</a:t>
            </a:r>
          </a:p>
          <a:p>
            <a:pPr>
              <a:spcAft>
                <a:spcPts val="1000"/>
              </a:spcAft>
            </a:pPr>
            <a:r>
              <a:rPr sz="1700" b="0">
                <a:solidFill>
                  <a:srgbClr val="161B26"/>
                </a:solidFill>
                <a:latin typeface="Arial"/>
              </a:rPr>
              <a:t>•  Once the uplink is reliable, the business finally has data it can act 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SEE YOU AT 9:30AM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End of Day 1</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Tomorrow: turn the data you are now collecting into a dashboard, an alert, and an automatic control action.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Analytics, Visualisation and Control — From Data to Action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 3: IoT Data Analytics and Visualization  ·  Topic 4: Monitor Data to Trigger Control from Cloud</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Data Analytics and Visualization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Dashboards · Number cards, gauges &amp; charts · Maps · Alert rules · Analysing trends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WHY VISUALISE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Raw readings are not insight.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number in a database changes nothing. A dashboard that makes a problem obvious — and an alert that arrives in time — is what changes the outcome.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A3, K4, K5 · Day 2 AM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Data Analytics and Visualization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visualise</a:t>
            </a:r>
          </a:p>
          <a:p>
            <a:pPr algn="l">
              <a:spcAft>
                <a:spcPts val="300"/>
              </a:spcAft>
            </a:pPr>
            <a:r>
              <a:rPr sz="1100" b="0">
                <a:solidFill>
                  <a:srgbClr val="5B6372"/>
                </a:solidFill>
                <a:latin typeface="Arial"/>
              </a:rPr>
              <a:t>A dashboard turns a stream of raw readings into an operational picture a manager can act 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Display widgets</a:t>
            </a:r>
          </a:p>
          <a:p>
            <a:pPr algn="l">
              <a:spcAft>
                <a:spcPts val="300"/>
              </a:spcAft>
            </a:pPr>
            <a:r>
              <a:rPr sz="1100" b="0">
                <a:solidFill>
                  <a:srgbClr val="5B6372"/>
                </a:solidFill>
                <a:latin typeface="Arial"/>
              </a:rPr>
              <a:t>Number cards, gauges, line and bar charts, LED indicators and maps, refreshed automatically.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Analysing the data</a:t>
            </a:r>
          </a:p>
          <a:p>
            <a:pPr algn="l">
              <a:spcAft>
                <a:spcPts val="300"/>
              </a:spcAft>
            </a:pPr>
            <a:r>
              <a:rPr sz="1100" b="0">
                <a:solidFill>
                  <a:srgbClr val="5B6372"/>
                </a:solidFill>
                <a:latin typeface="Arial"/>
              </a:rPr>
              <a:t>Compare current readings against history to spot trends, drift and abnormal behaviour.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 rules</a:t>
            </a:r>
          </a:p>
          <a:p>
            <a:pPr algn="l">
              <a:spcAft>
                <a:spcPts val="300"/>
              </a:spcAft>
            </a:pPr>
            <a:r>
              <a:rPr sz="1100" b="0">
                <a:solidFill>
                  <a:srgbClr val="5B6372"/>
                </a:solidFill>
                <a:latin typeface="Arial"/>
              </a:rPr>
              <a:t>Threshold and device-offline rules fire the moment a reading crosses a business-meaningful limit.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Recording performance</a:t>
            </a:r>
          </a:p>
          <a:p>
            <a:pPr algn="l">
              <a:spcAft>
                <a:spcPts val="300"/>
              </a:spcAft>
            </a:pPr>
            <a:r>
              <a:rPr sz="1100" b="0">
                <a:solidFill>
                  <a:srgbClr val="5B6372"/>
                </a:solidFill>
                <a:latin typeface="Arial"/>
              </a:rPr>
              <a:t>Telemetry history is the evidence base for measuring whether the solution actually works.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From data to decision</a:t>
            </a:r>
          </a:p>
          <a:p>
            <a:pPr algn="l">
              <a:spcAft>
                <a:spcPts val="300"/>
              </a:spcAft>
            </a:pPr>
            <a:r>
              <a:rPr sz="1100" b="0">
                <a:solidFill>
                  <a:srgbClr val="5B6372"/>
                </a:solidFill>
                <a:latin typeface="Arial"/>
              </a:rPr>
              <a:t>Analytics only pays off when a reading changes what somebody — or something — does next.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DISPLAY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the Right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Number card</a:t>
            </a:r>
          </a:p>
          <a:p>
            <a:pPr algn="l">
              <a:spcAft>
                <a:spcPts val="300"/>
              </a:spcAft>
            </a:pPr>
            <a:r>
              <a:rPr sz="1100" b="0">
                <a:solidFill>
                  <a:srgbClr val="5B6372"/>
                </a:solidFill>
                <a:latin typeface="Arial"/>
              </a:rPr>
              <a:t>One current value at a glance — the reading somebody asks for most often.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Gauge</a:t>
            </a:r>
          </a:p>
          <a:p>
            <a:pPr algn="l">
              <a:spcAft>
                <a:spcPts val="300"/>
              </a:spcAft>
            </a:pPr>
            <a:r>
              <a:rPr sz="1100" b="0">
                <a:solidFill>
                  <a:srgbClr val="5B6372"/>
                </a:solidFill>
                <a:latin typeface="Arial"/>
              </a:rPr>
              <a:t>A value inside its safe operating range — instantly shows 'how close to the limit'.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Line chart</a:t>
            </a:r>
          </a:p>
          <a:p>
            <a:pPr algn="l">
              <a:spcAft>
                <a:spcPts val="300"/>
              </a:spcAft>
            </a:pPr>
            <a:r>
              <a:rPr sz="1100" b="0">
                <a:solidFill>
                  <a:srgbClr val="5B6372"/>
                </a:solidFill>
                <a:latin typeface="Arial"/>
              </a:rPr>
              <a:t>History over time — the only way to see trends, drift and daily cycles.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Bar chart</a:t>
            </a:r>
          </a:p>
          <a:p>
            <a:pPr algn="l">
              <a:spcAft>
                <a:spcPts val="300"/>
              </a:spcAft>
            </a:pPr>
            <a:r>
              <a:rPr sz="1100" b="0">
                <a:solidFill>
                  <a:srgbClr val="5B6372"/>
                </a:solidFill>
                <a:latin typeface="Arial"/>
              </a:rPr>
              <a:t>Comparing totals across periods or across devices.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LED indicator</a:t>
            </a:r>
          </a:p>
          <a:p>
            <a:pPr algn="l">
              <a:spcAft>
                <a:spcPts val="300"/>
              </a:spcAft>
            </a:pPr>
            <a:r>
              <a:rPr sz="1100" b="0">
                <a:solidFill>
                  <a:srgbClr val="5B6372"/>
                </a:solidFill>
                <a:latin typeface="Arial"/>
              </a:rPr>
              <a:t>A binary state: on/off, open/closed, healthy/faulty.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Map</a:t>
            </a:r>
          </a:p>
          <a:p>
            <a:pPr algn="l">
              <a:spcAft>
                <a:spcPts val="300"/>
              </a:spcAft>
            </a:pPr>
            <a:r>
              <a:rPr sz="1100" b="0">
                <a:solidFill>
                  <a:srgbClr val="5B6372"/>
                </a:solidFill>
                <a:latin typeface="Arial"/>
              </a:rPr>
              <a:t>Where the device is — essential for vehicles, logistics and field assets.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A3 · THE ANALYTICS PIPELINE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From Reading to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COLLECT telemetry from the device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VISUALISE it on a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ANALYSE the history for trends and drift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 when a threshold is crossed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and record the action taken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 · ADVANCED PROCESS CONTROL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Analysing IoT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Current vs normal</a:t>
            </a:r>
          </a:p>
          <a:p>
            <a:pPr algn="l">
              <a:spcAft>
                <a:spcPts val="300"/>
              </a:spcAft>
            </a:pPr>
            <a:r>
              <a:rPr sz="1100" b="0">
                <a:solidFill>
                  <a:srgbClr val="5B6372"/>
                </a:solidFill>
                <a:latin typeface="Arial"/>
              </a:rPr>
              <a:t>Compare the live reading against the established operating range.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Trends over time</a:t>
            </a:r>
          </a:p>
          <a:p>
            <a:pPr algn="l">
              <a:spcAft>
                <a:spcPts val="300"/>
              </a:spcAft>
            </a:pPr>
            <a:r>
              <a:rPr sz="1100" b="0">
                <a:solidFill>
                  <a:srgbClr val="5B6372"/>
                </a:solidFill>
                <a:latin typeface="Arial"/>
              </a:rPr>
              <a:t>A slow drift upward is often more important than a single high reading.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Peaks and troughs</a:t>
            </a:r>
          </a:p>
          <a:p>
            <a:pPr algn="l">
              <a:spcAft>
                <a:spcPts val="300"/>
              </a:spcAft>
            </a:pPr>
            <a:r>
              <a:rPr sz="1100" b="0">
                <a:solidFill>
                  <a:srgbClr val="5B6372"/>
                </a:solidFill>
                <a:latin typeface="Arial"/>
              </a:rPr>
              <a:t>The extremes reveal whether the process ever leaves its safe envelope.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Noise vs event</a:t>
            </a:r>
          </a:p>
          <a:p>
            <a:pPr algn="l">
              <a:spcAft>
                <a:spcPts val="300"/>
              </a:spcAft>
            </a:pPr>
            <a:r>
              <a:rPr sz="1100" b="0">
                <a:solidFill>
                  <a:srgbClr val="5B6372"/>
                </a:solidFill>
                <a:latin typeface="Arial"/>
              </a:rPr>
              <a:t>One odd sample is noise; a sustained change is a real event worth acting 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Correlation</a:t>
            </a:r>
          </a:p>
          <a:p>
            <a:pPr algn="l">
              <a:spcAft>
                <a:spcPts val="300"/>
              </a:spcAft>
            </a:pPr>
            <a:r>
              <a:rPr sz="1100" b="0">
                <a:solidFill>
                  <a:srgbClr val="5B6372"/>
                </a:solidFill>
                <a:latin typeface="Arial"/>
              </a:rPr>
              <a:t>Temperature rising as humidity falls tells a story neither metric tells alone.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Recording performance</a:t>
            </a:r>
          </a:p>
          <a:p>
            <a:pPr algn="l">
              <a:spcAft>
                <a:spcPts val="300"/>
              </a:spcAft>
            </a:pPr>
            <a:r>
              <a:rPr sz="1100" b="0">
                <a:solidFill>
                  <a:srgbClr val="5B6372"/>
                </a:solidFill>
                <a:latin typeface="Arial"/>
              </a:rPr>
              <a:t>The telemetry history is the evidence that the solution actually works.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DETECTING WHAT MATTERS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Alert Rules That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Threshold rules</a:t>
            </a:r>
          </a:p>
          <a:p>
            <a:pPr algn="l">
              <a:spcAft>
                <a:spcPts val="300"/>
              </a:spcAft>
            </a:pPr>
            <a:r>
              <a:rPr sz="1100" b="0">
                <a:solidFill>
                  <a:srgbClr val="5B6372"/>
                </a:solidFill>
                <a:latin typeface="Arial"/>
              </a:rPr>
              <a:t>Fire when a metric crosses a limit: temperature &gt; 30, humidity &lt; 40.</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Device-offline rules</a:t>
            </a:r>
          </a:p>
          <a:p>
            <a:pPr algn="l">
              <a:spcAft>
                <a:spcPts val="300"/>
              </a:spcAft>
            </a:pPr>
            <a:r>
              <a:rPr sz="1100" b="0">
                <a:solidFill>
                  <a:srgbClr val="5B6372"/>
                </a:solidFill>
                <a:latin typeface="Arial"/>
              </a:rPr>
              <a:t>Fire when a device stops reporting — silent failure is the biggest risk.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 a meaningful limit</a:t>
            </a:r>
          </a:p>
          <a:p>
            <a:pPr algn="l">
              <a:spcAft>
                <a:spcPts val="300"/>
              </a:spcAft>
            </a:pPr>
            <a:r>
              <a:rPr sz="1100" b="0">
                <a:solidFill>
                  <a:srgbClr val="5B6372"/>
                </a:solidFill>
                <a:latin typeface="Arial"/>
              </a:rPr>
              <a:t>Choose the value at which a person would genuinely need to act.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Avoid alert fatigue</a:t>
            </a:r>
          </a:p>
          <a:p>
            <a:pPr algn="l">
              <a:spcAft>
                <a:spcPts val="300"/>
              </a:spcAft>
            </a:pPr>
            <a:r>
              <a:rPr sz="1100" b="0">
                <a:solidFill>
                  <a:srgbClr val="5B6372"/>
                </a:solidFill>
                <a:latin typeface="Arial"/>
              </a:rPr>
              <a:t>Too many alerts and the real one gets ignored — tune the threshold.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Active and resolved</a:t>
            </a:r>
          </a:p>
          <a:p>
            <a:pPr algn="l">
              <a:spcAft>
                <a:spcPts val="300"/>
              </a:spcAft>
            </a:pPr>
            <a:r>
              <a:rPr sz="1100" b="0">
                <a:solidFill>
                  <a:srgbClr val="5B6372"/>
                </a:solidFill>
                <a:latin typeface="Arial"/>
              </a:rPr>
              <a:t>Track the alert lifecycle so response time can be measured.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Trigger automation</a:t>
            </a:r>
          </a:p>
          <a:p>
            <a:pPr algn="l">
              <a:spcAft>
                <a:spcPts val="300"/>
              </a:spcAft>
            </a:pPr>
            <a:r>
              <a:rPr sz="1100" b="0">
                <a:solidFill>
                  <a:srgbClr val="5B6372"/>
                </a:solidFill>
                <a:latin typeface="Arial"/>
              </a:rPr>
              <a:t>An alert can call a webhook and start a workflow with no human involved.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03 · PRACTICAL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Practical — Lab 3</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Running on IoTFlow (https://iot.tertiaryinfotech.com). Step-by-step instructions are in your Learner Guide — follow along there.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Analyse and Visualise Your IoT Data on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Use the platform's tools to analyse IoT data and record performance (A3, K4, K5).</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a live dashboard from the readings your Raspberry Pi is streaming — number cards, gauges, line charts, LED indicators and a map — then interrogate the history to spot trends and set a threshold alert at the point where somebody would actually need to act.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live monitoring dashboard for your Raspberry Pi, plus a working threshold alert rule</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screen the supervisor actually looks at. A dashboard makes performance visible, and an alert makes a problem timely instead of discovered too late.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Display widgets · Number cards · Gauges · Line charts · Maps · Alert rules · Telemetry history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3 — Analyse and Visualise Your IoT Data on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dashboard.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live monitoring dashboard for your Raspberry Pi, plus a working threshold alert rule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Design Your Monitoring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data your Raspberry Pi is now streaming, decide what a supervisor actually needs to see on one screen, and which threshold would justify interrupting somebody.</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three widgets earn their place on the screen, and what does each one answer?</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is the normal operating range, and at what value does it become a problem?</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would you tell a genuine fault apart from a single noisy reading?</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performance record would you need to prove the solution is working?</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dashboard layout plus one justified alert threshold with its rationale.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Data Analytics and Visualization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dashboard turns a stream of readings into an operational picture somebody can act on.</a:t>
            </a:r>
          </a:p>
          <a:p>
            <a:pPr>
              <a:spcAft>
                <a:spcPts val="1000"/>
              </a:spcAft>
            </a:pPr>
            <a:r>
              <a:rPr sz="1700" b="0">
                <a:solidFill>
                  <a:srgbClr val="161B26"/>
                </a:solidFill>
                <a:latin typeface="Arial"/>
              </a:rPr>
              <a:t>•  Pick the widget that answers the question: number for now, gauge for range, chart for trend.</a:t>
            </a:r>
          </a:p>
          <a:p>
            <a:pPr>
              <a:spcAft>
                <a:spcPts val="1000"/>
              </a:spcAft>
            </a:pPr>
            <a:r>
              <a:rPr sz="1700" b="0">
                <a:solidFill>
                  <a:srgbClr val="161B26"/>
                </a:solidFill>
                <a:latin typeface="Arial"/>
              </a:rPr>
              <a:t>•  Analyse history, not just the latest value — trends and drift matter more than one sample.</a:t>
            </a:r>
          </a:p>
          <a:p>
            <a:pPr>
              <a:spcAft>
                <a:spcPts val="1000"/>
              </a:spcAft>
            </a:pPr>
            <a:r>
              <a:rPr sz="1700" b="0">
                <a:solidFill>
                  <a:srgbClr val="161B26"/>
                </a:solidFill>
                <a:latin typeface="Arial"/>
              </a:rPr>
              <a:t>•  An alert rule set at a business-meaningful threshold turns monitoring into timely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  ·  Digital attendance (PM) on your return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 Data to Trigger Control from Cloud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Downlink control · Virtual pins · Automations &amp; n8n · Monitoring effectiveness · IoT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A4, K6, K7 · Day 2 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Key Concepts — Monitor Data to Trigger Control from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Reading data back</a:t>
            </a:r>
          </a:p>
          <a:p>
            <a:pPr algn="l">
              <a:spcAft>
                <a:spcPts val="300"/>
              </a:spcAft>
            </a:pPr>
            <a:r>
              <a:rPr sz="1100" b="0">
                <a:solidFill>
                  <a:srgbClr val="5B6372"/>
                </a:solidFill>
                <a:latin typeface="Arial"/>
              </a:rPr>
              <a:t>Query the current state of every metric and virtual pin over the REST API or MQTT.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Downlink control</a:t>
            </a:r>
          </a:p>
          <a:p>
            <a:pPr algn="l">
              <a:spcAft>
                <a:spcPts val="300"/>
              </a:spcAft>
            </a:pPr>
            <a:r>
              <a:rPr sz="1100" b="0">
                <a:solidFill>
                  <a:srgbClr val="5B6372"/>
                </a:solidFill>
                <a:latin typeface="Arial"/>
              </a:rPr>
              <a:t>Virtual pins carry commands from the dashboard back to the device to switch a relay or set a value.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Closing the loop</a:t>
            </a:r>
          </a:p>
          <a:p>
            <a:pPr algn="l">
              <a:spcAft>
                <a:spcPts val="300"/>
              </a:spcAft>
            </a:pPr>
            <a:r>
              <a:rPr sz="1100" b="0">
                <a:solidFill>
                  <a:srgbClr val="5B6372"/>
                </a:solidFill>
                <a:latin typeface="Arial"/>
              </a:rPr>
              <a:t>Monitoring tells you what happened; control lets the system act without anyone driving to site.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Automation with n8n</a:t>
            </a:r>
          </a:p>
          <a:p>
            <a:pPr algn="l">
              <a:spcAft>
                <a:spcPts val="300"/>
              </a:spcAft>
            </a:pPr>
            <a:r>
              <a:rPr sz="1100" b="0">
                <a:solidFill>
                  <a:srgbClr val="5B6372"/>
                </a:solidFill>
                <a:latin typeface="Arial"/>
              </a:rPr>
              <a:t>Alerts fire a webhook into a low-code workflow that notifies, logs, and can ask AI to recommend.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Monitoring effectiveness</a:t>
            </a:r>
          </a:p>
          <a:p>
            <a:pPr algn="l">
              <a:spcAft>
                <a:spcPts val="300"/>
              </a:spcAft>
            </a:pPr>
            <a:r>
              <a:rPr sz="1100" b="0">
                <a:solidFill>
                  <a:srgbClr val="5B6372"/>
                </a:solidFill>
                <a:latin typeface="Arial"/>
              </a:rPr>
              <a:t>Track uptime, alert response and the metric you set out to improve — then tune the rules.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IoT security</a:t>
            </a:r>
          </a:p>
          <a:p>
            <a:pPr algn="l">
              <a:spcAft>
                <a:spcPts val="300"/>
              </a:spcAft>
            </a:pPr>
            <a:r>
              <a:rPr sz="1100" b="0">
                <a:solidFill>
                  <a:srgbClr val="5B6372"/>
                </a:solidFill>
                <a:latin typeface="Arial"/>
              </a:rPr>
              <a:t>Constrained, unattended devices with physical consequences — protect tokens, transport and firmware.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DIRECTIONS, TWO PURPOSES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Uplink vs Downlink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Monitoring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Control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Uplink — telemetry</a:t>
            </a:r>
          </a:p>
          <a:p>
            <a:pPr>
              <a:spcAft>
                <a:spcPts val="1000"/>
              </a:spcAft>
            </a:pPr>
            <a:r>
              <a:rPr sz="1400" b="0">
                <a:solidFill>
                  <a:srgbClr val="5B6372"/>
                </a:solidFill>
                <a:latin typeface="Arial"/>
              </a:rPr>
              <a:t>–  Device → cloud</a:t>
            </a:r>
          </a:p>
          <a:p>
            <a:pPr>
              <a:spcAft>
                <a:spcPts val="1000"/>
              </a:spcAft>
            </a:pPr>
            <a:r>
              <a:rPr sz="1400" b="0">
                <a:solidFill>
                  <a:srgbClr val="5B6372"/>
                </a:solidFill>
                <a:latin typeface="Arial"/>
              </a:rPr>
              <a:t>–  Sensor readings and status</a:t>
            </a:r>
          </a:p>
          <a:p>
            <a:pPr>
              <a:spcAft>
                <a:spcPts val="1000"/>
              </a:spcAft>
            </a:pPr>
            <a:r>
              <a:rPr sz="1400" b="0">
                <a:solidFill>
                  <a:srgbClr val="5B6372"/>
                </a:solidFill>
                <a:latin typeface="Arial"/>
              </a:rPr>
              <a:t>–  HTTP POST /api/telemetry</a:t>
            </a:r>
          </a:p>
          <a:p>
            <a:pPr>
              <a:spcAft>
                <a:spcPts val="1000"/>
              </a:spcAft>
            </a:pPr>
            <a:r>
              <a:rPr sz="1400" b="0">
                <a:solidFill>
                  <a:srgbClr val="5B6372"/>
                </a:solidFill>
                <a:latin typeface="Arial"/>
              </a:rPr>
              <a:t>–  or MQTT publish</a:t>
            </a:r>
          </a:p>
          <a:p>
            <a:pPr>
              <a:spcAft>
                <a:spcPts val="1000"/>
              </a:spcAft>
            </a:pPr>
            <a:r>
              <a:rPr sz="1400" b="0">
                <a:solidFill>
                  <a:srgbClr val="5B6372"/>
                </a:solidFill>
                <a:latin typeface="Arial"/>
              </a:rPr>
              <a:t>–  This is your monitoring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Downlink — commands</a:t>
            </a:r>
          </a:p>
          <a:p>
            <a:pPr>
              <a:spcAft>
                <a:spcPts val="1000"/>
              </a:spcAft>
            </a:pPr>
            <a:r>
              <a:rPr sz="1400" b="0">
                <a:solidFill>
                  <a:srgbClr val="5B6372"/>
                </a:solidFill>
                <a:latin typeface="Arial"/>
              </a:rPr>
              <a:t>–  Cloud → device</a:t>
            </a:r>
          </a:p>
          <a:p>
            <a:pPr>
              <a:spcAft>
                <a:spcPts val="1000"/>
              </a:spcAft>
            </a:pPr>
            <a:r>
              <a:rPr sz="1400" b="0">
                <a:solidFill>
                  <a:srgbClr val="5B6372"/>
                </a:solidFill>
                <a:latin typeface="Arial"/>
              </a:rPr>
              <a:t>–  Switch a relay, set a value</a:t>
            </a:r>
          </a:p>
          <a:p>
            <a:pPr>
              <a:spcAft>
                <a:spcPts val="1000"/>
              </a:spcAft>
            </a:pPr>
            <a:r>
              <a:rPr sz="1400" b="0">
                <a:solidFill>
                  <a:srgbClr val="5B6372"/>
                </a:solidFill>
                <a:latin typeface="Arial"/>
              </a:rPr>
              <a:t>–  MQTT topic devices/&lt;id&gt;/down</a:t>
            </a:r>
          </a:p>
          <a:p>
            <a:pPr>
              <a:spcAft>
                <a:spcPts val="1000"/>
              </a:spcAft>
            </a:pPr>
            <a:r>
              <a:rPr sz="1400" b="0">
                <a:solidFill>
                  <a:srgbClr val="5B6372"/>
                </a:solidFill>
                <a:latin typeface="Arial"/>
              </a:rPr>
              <a:t>–  or HTTP state polling</a:t>
            </a:r>
          </a:p>
          <a:p>
            <a:pPr>
              <a:spcAft>
                <a:spcPts val="1000"/>
              </a:spcAft>
            </a:pPr>
            <a:r>
              <a:rPr sz="1400" b="0">
                <a:solidFill>
                  <a:srgbClr val="5B6372"/>
                </a:solidFill>
                <a:latin typeface="Arial"/>
              </a:rPr>
              <a:t>–  This is your automation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 · EQUIPMENT AUTOMATION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Control Widgets and Virtual Pins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Virtual pin</a:t>
            </a:r>
          </a:p>
          <a:p>
            <a:pPr algn="l">
              <a:spcAft>
                <a:spcPts val="300"/>
              </a:spcAft>
            </a:pPr>
            <a:r>
              <a:rPr sz="1100" b="0">
                <a:solidFill>
                  <a:srgbClr val="5B6372"/>
                </a:solidFill>
                <a:latin typeface="Arial"/>
              </a:rPr>
              <a:t>A named channel (V1, relay, pump) carrying a command from dashboard to device.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Switch</a:t>
            </a:r>
          </a:p>
          <a:p>
            <a:pPr algn="l">
              <a:spcAft>
                <a:spcPts val="300"/>
              </a:spcAft>
            </a:pPr>
            <a:r>
              <a:rPr sz="1100" b="0">
                <a:solidFill>
                  <a:srgbClr val="5B6372"/>
                </a:solidFill>
                <a:latin typeface="Arial"/>
              </a:rPr>
              <a:t>A toggle for a persistent on/off state — a relay, a fan, a pump.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Button</a:t>
            </a:r>
          </a:p>
          <a:p>
            <a:pPr algn="l">
              <a:spcAft>
                <a:spcPts val="300"/>
              </a:spcAft>
            </a:pPr>
            <a:r>
              <a:rPr sz="1100" b="0">
                <a:solidFill>
                  <a:srgbClr val="5B6372"/>
                </a:solidFill>
                <a:latin typeface="Arial"/>
              </a:rPr>
              <a:t>A momentary action — reset, trigger, open for two seconds.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Slider</a:t>
            </a:r>
          </a:p>
          <a:p>
            <a:pPr algn="l">
              <a:spcAft>
                <a:spcPts val="300"/>
              </a:spcAft>
            </a:pPr>
            <a:r>
              <a:rPr sz="1100" b="0">
                <a:solidFill>
                  <a:srgbClr val="5B6372"/>
                </a:solidFill>
                <a:latin typeface="Arial"/>
              </a:rPr>
              <a:t>A value within a range — motor speed, brightness, a setpoint.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Terminal</a:t>
            </a:r>
          </a:p>
          <a:p>
            <a:pPr algn="l">
              <a:spcAft>
                <a:spcPts val="300"/>
              </a:spcAft>
            </a:pPr>
            <a:r>
              <a:rPr sz="1100" b="0">
                <a:solidFill>
                  <a:srgbClr val="5B6372"/>
                </a:solidFill>
                <a:latin typeface="Arial"/>
              </a:rPr>
              <a:t>Free-text commands for diagnostics and advanced control.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@on_command</a:t>
            </a:r>
          </a:p>
          <a:p>
            <a:pPr algn="l">
              <a:spcAft>
                <a:spcPts val="300"/>
              </a:spcAft>
            </a:pPr>
            <a:r>
              <a:rPr sz="1100" b="0">
                <a:solidFill>
                  <a:srgbClr val="5B6372"/>
                </a:solidFill>
                <a:latin typeface="Arial"/>
              </a:rPr>
              <a:t>The handler on the Pi that receives the value and drives the GPIO pin.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A4 · THE FULL LOOP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Closing the Monitor-and-Control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SENSE — the Pi reads the temperature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REPORT — telemetry arrives in the cloud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 — the alert rule crosses its threshold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AUTOMATE — n8n notifies, logs and decides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 — a downlink command switches the fan 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LOW-CODE WORKFLOWS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Automation with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Webhook trigger</a:t>
            </a:r>
          </a:p>
          <a:p>
            <a:pPr algn="l">
              <a:spcAft>
                <a:spcPts val="300"/>
              </a:spcAft>
            </a:pPr>
            <a:r>
              <a:rPr sz="1100" b="0">
                <a:solidFill>
                  <a:srgbClr val="5B6372"/>
                </a:solidFill>
                <a:latin typeface="Arial"/>
              </a:rPr>
              <a:t>IoTFlow calls an n8n webhook when your chosen event fires.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Notify</a:t>
            </a:r>
          </a:p>
          <a:p>
            <a:pPr algn="l">
              <a:spcAft>
                <a:spcPts val="300"/>
              </a:spcAft>
            </a:pPr>
            <a:r>
              <a:rPr sz="1100" b="0">
                <a:solidFill>
                  <a:srgbClr val="5B6372"/>
                </a:solidFill>
                <a:latin typeface="Arial"/>
              </a:rPr>
              <a:t>Email, Telegram or WhatsApp so the right person hears about it immediately.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a:t>
            </a:r>
          </a:p>
          <a:p>
            <a:pPr algn="l">
              <a:spcAft>
                <a:spcPts val="300"/>
              </a:spcAft>
            </a:pPr>
            <a:r>
              <a:rPr sz="1100" b="0">
                <a:solidFill>
                  <a:srgbClr val="5B6372"/>
                </a:solidFill>
                <a:latin typeface="Arial"/>
              </a:rPr>
              <a:t>Append the event to Google Sheets or a database to build the performance history.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Analyse with AI</a:t>
            </a:r>
          </a:p>
          <a:p>
            <a:pPr algn="l">
              <a:spcAft>
                <a:spcPts val="300"/>
              </a:spcAft>
            </a:pPr>
            <a:r>
              <a:rPr sz="1100" b="0">
                <a:solidFill>
                  <a:srgbClr val="5B6372"/>
                </a:solidFill>
                <a:latin typeface="Arial"/>
              </a:rPr>
              <a:t>An AI node summarises recent readings and recommends an action in plain language.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An HTTP Request node sends a downlink command straight back to the device.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code</a:t>
            </a:r>
          </a:p>
          <a:p>
            <a:pPr algn="l">
              <a:spcAft>
                <a:spcPts val="300"/>
              </a:spcAft>
            </a:pPr>
            <a:r>
              <a:rPr sz="1100" b="0">
                <a:solidFill>
                  <a:srgbClr val="5B6372"/>
                </a:solidFill>
                <a:latin typeface="Arial"/>
              </a:rPr>
              <a:t>The whole workflow is drag-and-drop — no server and no deployment.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PRACTICAL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Practical — Lab 4</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Running on IoTFlow (https://iot.tertiaryinfotech.com). Step-by-step instructions are in your Learner Guide — follow along there.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Monitor Data and Trigger Control on the Raspberry 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Monitor IoT data and trigger a control action on the device from the cloud (A4, K6, K7).</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Read device state back out of the cloud over the REST API and MQTT, then add Control widgets (switch, slider) bound to virtual pins and drive an LED or relay on the Raspberry Pi from the dashboard. Reading data is monitoring; sending a command back is automation — and that is where the labour saving appears.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dashboard switch and slider that control an LED/relay on the Raspberry Pi in real time</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Monitoring tells you what happened. Control lets the system act without a person driving out to site — usually the single largest line in an IoT cost-benefit case.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REST API (GET /api/device/state) · MQTT subscribe · Control widgets · Virtual pins · @on_command · GPIO</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4 — Monitor Data and Trigger Control on the Raspberry 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control-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dashboard switch and slider that control an LED/relay on the Raspberry Pi in real time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A4 · IS IT WORKING?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Monitoring the Effectiveness of an IoT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 uptime</a:t>
            </a:r>
          </a:p>
          <a:p>
            <a:pPr algn="l">
              <a:spcAft>
                <a:spcPts val="300"/>
              </a:spcAft>
            </a:pPr>
            <a:r>
              <a:rPr sz="1100" b="0">
                <a:solidFill>
                  <a:srgbClr val="5B6372"/>
                </a:solidFill>
                <a:latin typeface="Arial"/>
              </a:rPr>
              <a:t>What percentage of the time is the device actually reporting?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completeness</a:t>
            </a:r>
          </a:p>
          <a:p>
            <a:pPr algn="l">
              <a:spcAft>
                <a:spcPts val="300"/>
              </a:spcAft>
            </a:pPr>
            <a:r>
              <a:rPr sz="1100" b="0">
                <a:solidFill>
                  <a:srgbClr val="5B6372"/>
                </a:solidFill>
                <a:latin typeface="Arial"/>
              </a:rPr>
              <a:t>Are readings arriving at the expected interval, with no silent gaps?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 response time</a:t>
            </a:r>
          </a:p>
          <a:p>
            <a:pPr algn="l">
              <a:spcAft>
                <a:spcPts val="300"/>
              </a:spcAft>
            </a:pPr>
            <a:r>
              <a:rPr sz="1100" b="0">
                <a:solidFill>
                  <a:srgbClr val="5B6372"/>
                </a:solidFill>
                <a:latin typeface="Arial"/>
              </a:rPr>
              <a:t>How long from the threshold being crossed to the action being taken?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False-positive rate</a:t>
            </a:r>
          </a:p>
          <a:p>
            <a:pPr algn="l">
              <a:spcAft>
                <a:spcPts val="300"/>
              </a:spcAft>
            </a:pPr>
            <a:r>
              <a:rPr sz="1100" b="0">
                <a:solidFill>
                  <a:srgbClr val="5B6372"/>
                </a:solidFill>
                <a:latin typeface="Arial"/>
              </a:rPr>
              <a:t>How many alerts turned out not to need any action at 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business metric</a:t>
            </a:r>
          </a:p>
          <a:p>
            <a:pPr algn="l">
              <a:spcAft>
                <a:spcPts val="300"/>
              </a:spcAft>
            </a:pPr>
            <a:r>
              <a:rPr sz="1100" b="0">
                <a:solidFill>
                  <a:srgbClr val="5B6372"/>
                </a:solidFill>
                <a:latin typeface="Arial"/>
              </a:rPr>
              <a:t>Did downtime, energy, spoilage or labour actually improve?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Tune and repeat</a:t>
            </a:r>
          </a:p>
          <a:p>
            <a:pPr algn="l">
              <a:spcAft>
                <a:spcPts val="300"/>
              </a:spcAft>
            </a:pPr>
            <a:r>
              <a:rPr sz="1100" b="0">
                <a:solidFill>
                  <a:srgbClr val="5B6372"/>
                </a:solidFill>
                <a:latin typeface="Arial"/>
              </a:rPr>
              <a:t>Adjust thresholds and sampling rates based on what the record shows.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K6 · RISK FACTORS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 Why It Is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Constrained devices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Microcontrollers, not servers</a:t>
            </a:r>
          </a:p>
          <a:p>
            <a:pPr>
              <a:spcAft>
                <a:spcPts val="900"/>
              </a:spcAft>
            </a:pPr>
            <a:r>
              <a:rPr sz="1400" b="0">
                <a:solidFill>
                  <a:srgbClr val="161B26"/>
                </a:solidFill>
                <a:latin typeface="Arial"/>
              </a:rPr>
              <a:t>•  Often battery powered</a:t>
            </a:r>
          </a:p>
          <a:p>
            <a:pPr>
              <a:spcAft>
                <a:spcPts val="900"/>
              </a:spcAft>
            </a:pPr>
            <a:r>
              <a:rPr sz="1400" b="0">
                <a:solidFill>
                  <a:srgbClr val="161B26"/>
                </a:solidFill>
                <a:latin typeface="Arial"/>
              </a:rPr>
              <a:t>•  May not support TLS/SSL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Unattended &amp; long-lived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for years without supervision</a:t>
            </a:r>
          </a:p>
          <a:p>
            <a:pPr>
              <a:spcAft>
                <a:spcPts val="900"/>
              </a:spcAft>
            </a:pPr>
            <a:r>
              <a:rPr sz="1400" b="0">
                <a:solidFill>
                  <a:srgbClr val="161B26"/>
                </a:solidFill>
                <a:latin typeface="Arial"/>
              </a:rPr>
              <a:t>•  Patching is inconvenient</a:t>
            </a:r>
          </a:p>
          <a:p>
            <a:pPr>
              <a:spcAft>
                <a:spcPts val="900"/>
              </a:spcAft>
            </a:pPr>
            <a:r>
              <a:rPr sz="1400" b="0">
                <a:solidFill>
                  <a:srgbClr val="161B26"/>
                </a:solidFill>
                <a:latin typeface="Arial"/>
              </a:rPr>
              <a:t>•  Rogue devices go unnoticed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Physical consequences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IT breach leaks data</a:t>
            </a:r>
          </a:p>
          <a:p>
            <a:pPr>
              <a:spcAft>
                <a:spcPts val="900"/>
              </a:spcAft>
            </a:pPr>
            <a:r>
              <a:rPr sz="1400" b="0">
                <a:solidFill>
                  <a:srgbClr val="161B26"/>
                </a:solidFill>
                <a:latin typeface="Arial"/>
              </a:rPr>
              <a:t>•  IoT breach can cause harm</a:t>
            </a:r>
          </a:p>
          <a:p>
            <a:pPr>
              <a:spcAft>
                <a:spcPts val="900"/>
              </a:spcAft>
            </a:pPr>
            <a:r>
              <a:rPr sz="1400" b="0">
                <a:solidFill>
                  <a:srgbClr val="161B26"/>
                </a:solidFill>
                <a:latin typeface="Arial"/>
              </a:rPr>
              <a:t>•  Safety-critical systems at risk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SECURITY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Is a Top Concern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security-concern.png"/>
          <p:cNvPicPr>
            <a:picLocks noChangeAspect="1"/>
          </p:cNvPicPr>
          <p:nvPr/>
        </p:nvPicPr>
        <p:blipFill>
          <a:blip r:embed="rId2"/>
          <a:stretch>
            <a:fillRect/>
          </a:stretch>
        </p:blipFill>
        <p:spPr>
          <a:xfrm>
            <a:off x="2397524" y="1737360"/>
            <a:ext cx="739390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Security and data privacy are consistently the biggest barriers to IoT adoption.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CASE STUDY · WHY DEVICE SECURITY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Mirai botnet, 12 October 2016.</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Default credentials on cameras and routers were harvested into a botnet whose DDoS attack took much of the US east coast offline — an unsecured device is everyone's problem.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K6 · SECURITY AND PRIVACY APPLICATIONS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Securing Your IoT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Change default credentials</a:t>
            </a:r>
          </a:p>
          <a:p>
            <a:pPr algn="l">
              <a:spcAft>
                <a:spcPts val="300"/>
              </a:spcAft>
            </a:pPr>
            <a:r>
              <a:rPr sz="1100" b="0">
                <a:solidFill>
                  <a:srgbClr val="5B6372"/>
                </a:solidFill>
                <a:latin typeface="Arial"/>
              </a:rPr>
              <a:t>The single most common cause of IoT compromise — Mirai proved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Protect the device token</a:t>
            </a:r>
          </a:p>
          <a:p>
            <a:pPr algn="l">
              <a:spcAft>
                <a:spcPts val="300"/>
              </a:spcAft>
            </a:pPr>
            <a:r>
              <a:rPr sz="1100" b="0">
                <a:solidFill>
                  <a:srgbClr val="5B6372"/>
                </a:solidFill>
                <a:latin typeface="Arial"/>
              </a:rPr>
              <a:t>Environment variables, never source control; rotate it if exposed.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 in transit</a:t>
            </a:r>
          </a:p>
          <a:p>
            <a:pPr algn="l">
              <a:spcAft>
                <a:spcPts val="300"/>
              </a:spcAft>
            </a:pPr>
            <a:r>
              <a:rPr sz="1100" b="0">
                <a:solidFill>
                  <a:srgbClr val="5B6372"/>
                </a:solidFill>
                <a:latin typeface="Arial"/>
              </a:rPr>
              <a:t>Use TLS endpoints so readings and tokens cannot be read off the wire.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Keep firmware updated</a:t>
            </a:r>
          </a:p>
          <a:p>
            <a:pPr algn="l">
              <a:spcAft>
                <a:spcPts val="300"/>
              </a:spcAft>
            </a:pPr>
            <a:r>
              <a:rPr sz="1100" b="0">
                <a:solidFill>
                  <a:srgbClr val="5B6372"/>
                </a:solidFill>
                <a:latin typeface="Arial"/>
              </a:rPr>
              <a:t>Unpatched, unattended devices are the easiest target on any network.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 the network</a:t>
            </a:r>
          </a:p>
          <a:p>
            <a:pPr algn="l">
              <a:spcAft>
                <a:spcPts val="300"/>
              </a:spcAft>
            </a:pPr>
            <a:r>
              <a:rPr sz="1100" b="0">
                <a:solidFill>
                  <a:srgbClr val="5B6372"/>
                </a:solidFill>
                <a:latin typeface="Arial"/>
              </a:rPr>
              <a:t>Keep IoT devices off the network carrying business-critical systems.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Least privilege</a:t>
            </a:r>
          </a:p>
          <a:p>
            <a:pPr algn="l">
              <a:spcAft>
                <a:spcPts val="300"/>
              </a:spcAft>
            </a:pPr>
            <a:r>
              <a:rPr sz="1100" b="0">
                <a:solidFill>
                  <a:srgbClr val="5B6372"/>
                </a:solidFill>
                <a:latin typeface="Arial"/>
              </a:rPr>
              <a:t>A device should be able to do its job and nothing more.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K7 · STANDARDS THAT MATTER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Guidelines and Communication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MQTT</a:t>
            </a:r>
          </a:p>
          <a:p>
            <a:pPr algn="l">
              <a:spcAft>
                <a:spcPts val="300"/>
              </a:spcAft>
            </a:pPr>
            <a:r>
              <a:rPr sz="1100" b="0">
                <a:solidFill>
                  <a:srgbClr val="5B6372"/>
                </a:solidFill>
                <a:latin typeface="Arial"/>
              </a:rPr>
              <a:t>OASIS-standard lightweight publish/subscribe messaging — the IoT default.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HTTP / REST</a:t>
            </a:r>
          </a:p>
          <a:p>
            <a:pPr algn="l">
              <a:spcAft>
                <a:spcPts val="300"/>
              </a:spcAft>
            </a:pPr>
            <a:r>
              <a:rPr sz="1100" b="0">
                <a:solidFill>
                  <a:srgbClr val="5B6372"/>
                </a:solidFill>
                <a:latin typeface="Arial"/>
              </a:rPr>
              <a:t>Universally supported request-response, easiest to integrate and debug.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CoAP</a:t>
            </a:r>
          </a:p>
          <a:p>
            <a:pPr algn="l">
              <a:spcAft>
                <a:spcPts val="300"/>
              </a:spcAft>
            </a:pPr>
            <a:r>
              <a:rPr sz="1100" b="0">
                <a:solidFill>
                  <a:srgbClr val="5B6372"/>
                </a:solidFill>
                <a:latin typeface="Arial"/>
              </a:rPr>
              <a:t>A compact request-response protocol designed for very constrained devices.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IEEE 802.15.4</a:t>
            </a:r>
          </a:p>
          <a:p>
            <a:pPr algn="l">
              <a:spcAft>
                <a:spcPts val="300"/>
              </a:spcAft>
            </a:pPr>
            <a:r>
              <a:rPr sz="1100" b="0">
                <a:solidFill>
                  <a:srgbClr val="5B6372"/>
                </a:solidFill>
                <a:latin typeface="Arial"/>
              </a:rPr>
              <a:t>The physical/MAC layer beneath Zigbee and other low-rate wireless networks.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LoRaWAN</a:t>
            </a:r>
          </a:p>
          <a:p>
            <a:pPr algn="l">
              <a:spcAft>
                <a:spcPts val="300"/>
              </a:spcAft>
            </a:pPr>
            <a:r>
              <a:rPr sz="1100" b="0">
                <a:solidFill>
                  <a:srgbClr val="5B6372"/>
                </a:solidFill>
                <a:latin typeface="Arial"/>
              </a:rPr>
              <a:t>LoRa Alliance specification for long-range, low-power wide-area networking.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IMDA &amp; PDPA</a:t>
            </a:r>
          </a:p>
          <a:p>
            <a:pPr algn="l">
              <a:spcAft>
                <a:spcPts val="300"/>
              </a:spcAft>
            </a:pPr>
            <a:r>
              <a:rPr sz="1100" b="0">
                <a:solidFill>
                  <a:srgbClr val="5B6372"/>
                </a:solidFill>
                <a:latin typeface="Arial"/>
              </a:rPr>
              <a:t>Singapore's IoT cyber-security guide and personal-data obligations.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Monitor Effectiveness and Manage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Take the IoT solution you have built across the labs and plan how you would monitor its effectiveness in production — and how you would secure it.</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metrics tell you the solution is working — uptime, response time, or the business outcome?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would you know a device had silently stopped reporting?</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Where are the credentials in your solution, and what happens if one leaks?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standard or guideline would you cite when asked how the data is protected?</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monitoring and security plan: the effectiveness metrics, the offline strategy, and the top three risks.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Monitor Data to Trigger Control from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Reading data back and sending commands forward turns monitoring into automation.</a:t>
            </a:r>
          </a:p>
          <a:p>
            <a:pPr>
              <a:spcAft>
                <a:spcPts val="1000"/>
              </a:spcAft>
            </a:pPr>
            <a:r>
              <a:rPr sz="1700" b="0">
                <a:solidFill>
                  <a:srgbClr val="161B26"/>
                </a:solidFill>
                <a:latin typeface="Arial"/>
              </a:rPr>
              <a:t>•  Virtual pins carry the command from the dashboard to a handler that drives the GPIO pin.</a:t>
            </a:r>
          </a:p>
          <a:p>
            <a:pPr>
              <a:spcAft>
                <a:spcPts val="1000"/>
              </a:spcAft>
            </a:pPr>
            <a:r>
              <a:rPr sz="1700" b="0">
                <a:solidFill>
                  <a:srgbClr val="161B26"/>
                </a:solidFill>
                <a:latin typeface="Arial"/>
              </a:rPr>
              <a:t>•  Alerts plus n8n notify, record, analyse with AI and can act with no human in the loop.</a:t>
            </a:r>
          </a:p>
          <a:p>
            <a:pPr>
              <a:spcAft>
                <a:spcPts val="1000"/>
              </a:spcAft>
            </a:pPr>
            <a:r>
              <a:rPr sz="1700" b="0">
                <a:solidFill>
                  <a:srgbClr val="161B26"/>
                </a:solidFill>
                <a:latin typeface="Arial"/>
              </a:rPr>
              <a:t>•  Measure effectiveness — uptime, response time and the business metric — and secure every layer.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LO1 · Analysed IoT technologies</a:t>
            </a:r>
          </a:p>
          <a:p>
            <a:pPr algn="l">
              <a:spcAft>
                <a:spcPts val="300"/>
              </a:spcAft>
            </a:pPr>
            <a:r>
              <a:rPr sz="1300" b="0">
                <a:solidFill>
                  <a:srgbClr val="5B6372"/>
                </a:solidFill>
                <a:latin typeface="Arial"/>
              </a:rPr>
              <a:t>Sensors, actuators, wireless technologies and use cases across nine industries.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LO2 · Collected and posted data</a:t>
            </a:r>
          </a:p>
          <a:p>
            <a:pPr algn="l">
              <a:spcAft>
                <a:spcPts val="300"/>
              </a:spcAft>
            </a:pPr>
            <a:r>
              <a:rPr sz="1300" b="0">
                <a:solidFill>
                  <a:srgbClr val="5B6372"/>
                </a:solidFill>
                <a:latin typeface="Arial"/>
              </a:rPr>
              <a:t>Registered a Raspberry Pi and streamed live sensor readings over HTTP and MQTT.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LO3 · Analysed and visualised</a:t>
            </a:r>
          </a:p>
          <a:p>
            <a:pPr algn="l">
              <a:spcAft>
                <a:spcPts val="300"/>
              </a:spcAft>
            </a:pPr>
            <a:r>
              <a:rPr sz="1300" b="0">
                <a:solidFill>
                  <a:srgbClr val="5B6372"/>
                </a:solidFill>
                <a:latin typeface="Arial"/>
              </a:rPr>
              <a:t>Built a live dashboard, analysed telemetry history and set a working alert rule.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LO4 · Monitored and controlled</a:t>
            </a:r>
          </a:p>
          <a:p>
            <a:pPr algn="l">
              <a:spcAft>
                <a:spcPts val="300"/>
              </a:spcAft>
            </a:pPr>
            <a:r>
              <a:rPr sz="1300" b="0">
                <a:solidFill>
                  <a:srgbClr val="5B6372"/>
                </a:solidFill>
                <a:latin typeface="Arial"/>
              </a:rPr>
              <a:t>Drove hardware from the cloud and automated the response end to 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your IoTFlow project</a:t>
            </a:r>
          </a:p>
          <a:p>
            <a:pPr algn="l">
              <a:spcAft>
                <a:spcPts val="300"/>
              </a:spcAft>
            </a:pPr>
            <a:r>
              <a:rPr sz="1200" b="0">
                <a:solidFill>
                  <a:srgbClr val="5B6372"/>
                </a:solidFill>
                <a:latin typeface="Arial"/>
              </a:rPr>
              <a:t>Your devices, dashboard and automations stay available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Deploy your Pi for real</a:t>
            </a:r>
          </a:p>
          <a:p>
            <a:pPr algn="l">
              <a:spcAft>
                <a:spcPts val="300"/>
              </a:spcAft>
            </a:pPr>
            <a:r>
              <a:rPr sz="1200" b="0">
                <a:solidFill>
                  <a:srgbClr val="5B6372"/>
                </a:solidFill>
                <a:latin typeface="Arial"/>
              </a:rPr>
              <a:t>Pick one thing worth measuring and let it run unattended for a week.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tutorials</a:t>
            </a:r>
          </a:p>
          <a:p>
            <a:pPr algn="l">
              <a:spcAft>
                <a:spcPts val="300"/>
              </a:spcAft>
            </a:pPr>
            <a:r>
              <a:rPr sz="1200" b="0">
                <a:solidFill>
                  <a:srgbClr val="5B6372"/>
                </a:solidFill>
                <a:latin typeface="Arial"/>
              </a:rPr>
              <a:t>More platform walkthroughs at https://iot.tertiaryinfotech.com/tutorials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WSQ - Internet of Things (IoT) Fundamental for Beginners</a:t>
            </a:r>
          </a:p>
          <a:p>
            <a:pPr>
              <a:spcAft>
                <a:spcPts val="1000"/>
              </a:spcAft>
            </a:pPr>
            <a:r>
              <a:rPr sz="2000" b="0">
                <a:solidFill>
                  <a:srgbClr val="161B26"/>
                </a:solidFill>
                <a:latin typeface="Arial"/>
              </a:rPr>
              <a:t>•  WSQ - Business Innovation with Internet of Things (IoT)</a:t>
            </a:r>
          </a:p>
          <a:p>
            <a:pPr>
              <a:spcAft>
                <a:spcPts val="1000"/>
              </a:spcAft>
            </a:pPr>
            <a:r>
              <a:rPr sz="2000" b="0">
                <a:solidFill>
                  <a:srgbClr val="161B26"/>
                </a:solidFill>
                <a:latin typeface="Arial"/>
              </a:rPr>
              <a:t>•  WSQ - Practical Electronics Design with Arduino Microcontroller</a:t>
            </a:r>
          </a:p>
          <a:p>
            <a:pPr>
              <a:spcAft>
                <a:spcPts val="1000"/>
              </a:spcAft>
            </a:pPr>
            <a:r>
              <a:rPr sz="2000" b="0">
                <a:solidFill>
                  <a:srgbClr val="161B26"/>
                </a:solidFill>
                <a:latin typeface="Arial"/>
              </a:rPr>
              <a:t>•  WSQ - Hands-On Guide to IoT Development with Microcontrollers</a:t>
            </a:r>
          </a:p>
          <a:p>
            <a:pPr>
              <a:spcAft>
                <a:spcPts val="1000"/>
              </a:spcAft>
            </a:pPr>
            <a:r>
              <a:rPr sz="2000" b="0">
                <a:solidFill>
                  <a:srgbClr val="161B26"/>
                </a:solidFill>
                <a:latin typeface="Arial"/>
              </a:rPr>
              <a:t>•  Browse the full catalogue at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IoT connects physical assets so an organisation can measure what used to be invisible.</a:t>
            </a:r>
          </a:p>
          <a:p>
            <a:pPr>
              <a:spcAft>
                <a:spcPts val="1000"/>
              </a:spcAft>
            </a:pPr>
            <a:r>
              <a:rPr sz="2000" b="0">
                <a:solidFill>
                  <a:srgbClr val="161B26"/>
                </a:solidFill>
                <a:latin typeface="Arial"/>
              </a:rPr>
              <a:t>•  The Raspberry Pi reads the physical world; the cloud stores, analyses and acts on it.</a:t>
            </a:r>
          </a:p>
          <a:p>
            <a:pPr>
              <a:spcAft>
                <a:spcPts val="1000"/>
              </a:spcAft>
            </a:pPr>
            <a:r>
              <a:rPr sz="2000" b="0">
                <a:solidFill>
                  <a:srgbClr val="161B26"/>
                </a:solidFill>
                <a:latin typeface="Arial"/>
              </a:rPr>
              <a:t>•  Dashboards make performance visible, alerts make problems timely, automation closes the loop.</a:t>
            </a:r>
          </a:p>
          <a:p>
            <a:pPr>
              <a:spcAft>
                <a:spcPts val="1000"/>
              </a:spcAft>
            </a:pPr>
            <a:r>
              <a:rPr sz="2000" b="0">
                <a:solidFill>
                  <a:srgbClr val="161B26"/>
                </a:solidFill>
                <a:latin typeface="Arial"/>
              </a:rPr>
              <a:t>•  Any questions before the assessment?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120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60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 60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working IoT solution</a:t>
            </a:r>
          </a:p>
          <a:p>
            <a:pPr>
              <a:spcAft>
                <a:spcPts val="900"/>
              </a:spcAft>
            </a:pPr>
            <a:r>
              <a:rPr sz="1400" b="0">
                <a:solidFill>
                  <a:srgbClr val="161B26"/>
                </a:solidFill>
                <a:latin typeface="Arial"/>
              </a:rPr>
              <a:t>•  Assesses abilities A1–A4</a:t>
            </a:r>
          </a:p>
          <a:p>
            <a:pPr>
              <a:spcAft>
                <a:spcPts val="900"/>
              </a:spcAft>
            </a:pPr>
            <a:r>
              <a:rPr sz="1400" b="0">
                <a:solidFill>
                  <a:srgbClr val="161B26"/>
                </a:solidFill>
                <a:latin typeface="Arial"/>
              </a:rPr>
              <a:t>•  Open book, done individually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60 min, open book</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60 min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analyse and control a complete IoT solution with a Raspberry Pi and the cloud.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IoT with Raspberry Pi  ·  TGS-2020505433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