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566928"/>
            <a:ext cx="1691640" cy="10972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24160" y="848563"/>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26980" y="658368"/>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27080" y="848563"/>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41380" y="658368"/>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0" y="1089964"/>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26980" y="1097280"/>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27080" y="1089964"/>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41380" y="1097280"/>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29316" y="822960"/>
            <a:ext cx="292608" cy="2926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9800" y="1280160"/>
            <a:ext cx="1691640" cy="365760"/>
          </a:xfrm>
          <a:prstGeom prst="rect">
            <a:avLst/>
          </a:prstGeom>
          <a:noFill/>
        </p:spPr>
        <p:txBody>
          <a:bodyPr wrap="square" anchor="t">
            <a:spAutoFit/>
          </a:bodyPr>
          <a:lstStyle/>
          <a:p>
            <a:pPr algn="ctr">
              <a:spcAft>
                <a:spcPts val="400"/>
              </a:spcAft>
            </a:pPr>
            <a:r>
              <a:rPr sz="1000" b="1">
                <a:solidFill>
                  <a:srgbClr val="FFFFFF"/>
                </a:solidFill>
                <a:latin typeface="Arial"/>
              </a:rPr>
              <a:t>IoT · IoTFlow</a:t>
            </a:r>
          </a:p>
        </p:txBody>
      </p:sp>
      <p:sp>
        <p:nvSpPr>
          <p:cNvPr id="17" name="TextBox 1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8" name="TextBox 1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Business Innovation with Internet-of-Things (IoT)</a:t>
            </a:r>
          </a:p>
        </p:txBody>
      </p:sp>
      <p:sp>
        <p:nvSpPr>
          <p:cNvPr id="19" name="Rectangle 1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TGS-2026064711</a:t>
            </a:r>
          </a:p>
          <a:p>
            <a:pPr algn="l">
              <a:spcAft>
                <a:spcPts val="600"/>
              </a:spcAft>
            </a:pPr>
            <a:r>
              <a:rPr sz="1400" b="0">
                <a:solidFill>
                  <a:srgbClr val="5B6372"/>
                </a:solidFill>
                <a:latin typeface="Arial"/>
              </a:rPr>
              <a:t>Conducted by Tertiary Infotech Academy Pte Ltd  ·  UEN 201200696W</a:t>
            </a:r>
          </a:p>
        </p:txBody>
      </p:sp>
      <p:sp>
        <p:nvSpPr>
          <p:cNvPr id="21" name="TextBox 2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v10.1  ·  11 August 2026</a:t>
            </a:r>
          </a:p>
        </p:txBody>
      </p:sp>
      <p:sp>
        <p:nvSpPr>
          <p:cNvPr id="22" name="TextBox 2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MORNING (AM)
Scan on arrival</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AFTERNOON (PM)
Scan after lunch</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Scan before you begin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Digital Attendance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for WSQ funding</a:t>
            </a:r>
          </a:p>
          <a:p>
            <a:pPr algn="l">
              <a:spcAft>
                <a:spcPts val="300"/>
              </a:spcAft>
            </a:pPr>
            <a:r>
              <a:rPr sz="1200" b="0">
                <a:solidFill>
                  <a:srgbClr val="5B6372"/>
                </a:solidFill>
                <a:latin typeface="Arial"/>
              </a:rPr>
              <a:t>AM, PM and Assessment attendance must all be taken for WSQ-funded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QR code</a:t>
            </a:r>
          </a:p>
          <a:p>
            <a:pPr algn="l">
              <a:spcAft>
                <a:spcPts val="300"/>
              </a:spcAft>
            </a:pPr>
            <a:r>
              <a:rPr sz="1200" b="0">
                <a:solidFill>
                  <a:srgbClr val="5B6372"/>
                </a:solidFill>
                <a:latin typeface="Arial"/>
              </a:rPr>
              <a:t>The trainer or administrator displays the QR code generated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 to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Internet of Things, digital transformation and business innovation.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IoT, AI, data analytics and emerging digital technology.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How your organisation uses (or could use) connected devices and sensor data today.</a:t>
            </a:r>
          </a:p>
          <a:p>
            <a:pPr>
              <a:spcAft>
                <a:spcPts val="1000"/>
              </a:spcAft>
            </a:pPr>
            <a:r>
              <a:rPr sz="2000" b="0">
                <a:solidFill>
                  <a:srgbClr val="161B26"/>
                </a:solidFill>
                <a:latin typeface="Arial"/>
              </a:rPr>
              <a:t>•  One business problem you would like IoT to solve by the end of today.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4360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43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92808"/>
            <a:ext cx="4617720" cy="26517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1892808"/>
            <a:ext cx="4480560" cy="265176"/>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77240" y="2258568"/>
            <a:ext cx="59436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5486400" cy="658368"/>
          </a:xfrm>
          <a:prstGeom prst="rect">
            <a:avLst/>
          </a:prstGeom>
          <a:noFill/>
        </p:spPr>
        <p:txBody>
          <a:bodyPr wrap="square" anchor="ctr">
            <a:spAutoFit/>
          </a:bodyPr>
          <a:lstStyle/>
          <a:p>
            <a:pPr algn="l">
              <a:spcAft>
                <a:spcPts val="400"/>
              </a:spcAft>
            </a:pPr>
            <a:r>
              <a:rPr sz="1400" b="1">
                <a:solidFill>
                  <a:srgbClr val="FFFFFF"/>
                </a:solidFill>
                <a:latin typeface="Arial"/>
              </a:rPr>
              <a:t>Tertiary Infotech  ·  LMS / TMS</a:t>
            </a:r>
          </a:p>
        </p:txBody>
      </p:sp>
      <p:sp>
        <p:nvSpPr>
          <p:cNvPr id="16" name="TextBox 15"/>
          <p:cNvSpPr txBox="1"/>
          <p:nvPr/>
        </p:nvSpPr>
        <p:spPr>
          <a:xfrm>
            <a:off x="1033272" y="3081528"/>
            <a:ext cx="5431536" cy="320040"/>
          </a:xfrm>
          <a:prstGeom prst="rect">
            <a:avLst/>
          </a:prstGeom>
          <a:noFill/>
        </p:spPr>
        <p:txBody>
          <a:bodyPr wrap="square" anchor="t">
            <a:spAutoFit/>
          </a:bodyPr>
          <a:lstStyle/>
          <a:p>
            <a:pPr algn="l">
              <a:spcAft>
                <a:spcPts val="400"/>
              </a:spcAft>
            </a:pPr>
            <a:r>
              <a:rPr sz="1000" b="1">
                <a:solidFill>
                  <a:srgbClr val="5B6372"/>
                </a:solidFill>
                <a:latin typeface="Arial"/>
              </a:rPr>
              <a:t>MY COURSES</a:t>
            </a:r>
          </a:p>
        </p:txBody>
      </p:sp>
      <p:sp>
        <p:nvSpPr>
          <p:cNvPr id="17" name="Rectangle 16"/>
          <p:cNvSpPr/>
          <p:nvPr/>
        </p:nvSpPr>
        <p:spPr>
          <a:xfrm>
            <a:off x="1033272" y="3410712"/>
            <a:ext cx="54315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3410712"/>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410712"/>
            <a:ext cx="4937760" cy="713232"/>
          </a:xfrm>
          <a:prstGeom prst="rect">
            <a:avLst/>
          </a:prstGeom>
          <a:noFill/>
        </p:spPr>
        <p:txBody>
          <a:bodyPr wrap="square" anchor="ctr">
            <a:spAutoFit/>
          </a:bodyPr>
          <a:lstStyle/>
          <a:p>
            <a:pPr algn="l">
              <a:spcAft>
                <a:spcPts val="200"/>
              </a:spcAft>
            </a:pPr>
            <a:r>
              <a:rPr sz="1100" b="1">
                <a:solidFill>
                  <a:srgbClr val="161B26"/>
                </a:solidFill>
                <a:latin typeface="Arial"/>
              </a:rPr>
              <a:t>Business Innovation with Internet-of-Things (IoT)</a:t>
            </a:r>
          </a:p>
          <a:p>
            <a:pPr algn="l">
              <a:spcAft>
                <a:spcPts val="200"/>
              </a:spcAft>
            </a:pPr>
            <a:r>
              <a:rPr sz="900" b="0">
                <a:solidFill>
                  <a:srgbClr val="5B6372"/>
                </a:solidFill>
                <a:latin typeface="Arial"/>
              </a:rPr>
              <a:t>TGS-2026064711</a:t>
            </a:r>
          </a:p>
        </p:txBody>
      </p:sp>
      <p:sp>
        <p:nvSpPr>
          <p:cNvPr id="20" name="Rectangle 19"/>
          <p:cNvSpPr/>
          <p:nvPr/>
        </p:nvSpPr>
        <p:spPr>
          <a:xfrm>
            <a:off x="1033272" y="4297680"/>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6424" y="4361688"/>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361688"/>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3" name="TextBox 22"/>
          <p:cNvSpPr txBox="1"/>
          <p:nvPr/>
        </p:nvSpPr>
        <p:spPr>
          <a:xfrm>
            <a:off x="1600200" y="4297680"/>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Slides</a:t>
            </a:r>
          </a:p>
        </p:txBody>
      </p:sp>
      <p:sp>
        <p:nvSpPr>
          <p:cNvPr id="24" name="Rectangle 23"/>
          <p:cNvSpPr/>
          <p:nvPr/>
        </p:nvSpPr>
        <p:spPr>
          <a:xfrm>
            <a:off x="5486400" y="4370832"/>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4370832"/>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26" name="Rectangle 25"/>
          <p:cNvSpPr/>
          <p:nvPr/>
        </p:nvSpPr>
        <p:spPr>
          <a:xfrm>
            <a:off x="1033272" y="4809744"/>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06424" y="4873752"/>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4873752"/>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9" name="TextBox 28"/>
          <p:cNvSpPr txBox="1"/>
          <p:nvPr/>
        </p:nvSpPr>
        <p:spPr>
          <a:xfrm>
            <a:off x="1600200" y="4809744"/>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Guide</a:t>
            </a:r>
          </a:p>
        </p:txBody>
      </p:sp>
      <p:sp>
        <p:nvSpPr>
          <p:cNvPr id="30" name="Rectangle 29"/>
          <p:cNvSpPr/>
          <p:nvPr/>
        </p:nvSpPr>
        <p:spPr>
          <a:xfrm>
            <a:off x="5486400" y="4882896"/>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882896"/>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2" name="Rectangle 31"/>
          <p:cNvSpPr/>
          <p:nvPr/>
        </p:nvSpPr>
        <p:spPr>
          <a:xfrm>
            <a:off x="1033272" y="5321808"/>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6424" y="5385816"/>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5385816"/>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35" name="TextBox 34"/>
          <p:cNvSpPr txBox="1"/>
          <p:nvPr/>
        </p:nvSpPr>
        <p:spPr>
          <a:xfrm>
            <a:off x="1600200" y="5321808"/>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Lesson Plan</a:t>
            </a:r>
          </a:p>
        </p:txBody>
      </p:sp>
      <p:sp>
        <p:nvSpPr>
          <p:cNvPr id="36" name="Rectangle 35"/>
          <p:cNvSpPr/>
          <p:nvPr/>
        </p:nvSpPr>
        <p:spPr>
          <a:xfrm>
            <a:off x="5486400" y="5394960"/>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394960"/>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8" name="Rectangle 37"/>
          <p:cNvSpPr/>
          <p:nvPr/>
        </p:nvSpPr>
        <p:spPr>
          <a:xfrm>
            <a:off x="7059168" y="1783080"/>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59168" y="1783080"/>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193029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1930298"/>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42" name="TextBox 41"/>
          <p:cNvSpPr txBox="1"/>
          <p:nvPr/>
        </p:nvSpPr>
        <p:spPr>
          <a:xfrm>
            <a:off x="7845552" y="1783080"/>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Go to lms-tms.tertiaryinfotech.com</a:t>
            </a:r>
          </a:p>
          <a:p>
            <a:pPr algn="l">
              <a:spcAft>
                <a:spcPts val="200"/>
              </a:spcAft>
            </a:pPr>
            <a:r>
              <a:rPr sz="1000" b="0">
                <a:solidFill>
                  <a:srgbClr val="5B6372"/>
                </a:solidFill>
                <a:latin typeface="Arial"/>
              </a:rPr>
              <a:t>Open the portal in any browser.</a:t>
            </a:r>
          </a:p>
        </p:txBody>
      </p:sp>
      <p:sp>
        <p:nvSpPr>
          <p:cNvPr id="43" name="Rectangle 42"/>
          <p:cNvSpPr/>
          <p:nvPr/>
        </p:nvSpPr>
        <p:spPr>
          <a:xfrm>
            <a:off x="7059168" y="2644444"/>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9168" y="2644444"/>
            <a:ext cx="82296" cy="7150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2791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279166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7" name="TextBox 46"/>
          <p:cNvSpPr txBox="1"/>
          <p:nvPr/>
        </p:nvSpPr>
        <p:spPr>
          <a:xfrm>
            <a:off x="7845552" y="2644444"/>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Log in with your registered email</a:t>
            </a:r>
          </a:p>
          <a:p>
            <a:pPr algn="l">
              <a:spcAft>
                <a:spcPts val="200"/>
              </a:spcAft>
            </a:pPr>
            <a:r>
              <a:rPr sz="1000" b="0">
                <a:solidFill>
                  <a:srgbClr val="5B6372"/>
                </a:solidFill>
                <a:latin typeface="Arial"/>
              </a:rPr>
              <a:t>The same address used to enrol.</a:t>
            </a:r>
          </a:p>
        </p:txBody>
      </p:sp>
      <p:sp>
        <p:nvSpPr>
          <p:cNvPr id="48" name="Rectangle 47"/>
          <p:cNvSpPr/>
          <p:nvPr/>
        </p:nvSpPr>
        <p:spPr>
          <a:xfrm>
            <a:off x="7059168" y="3505808"/>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3505808"/>
            <a:ext cx="82296" cy="7150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65302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8624" y="365302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52" name="TextBox 51"/>
          <p:cNvSpPr txBox="1"/>
          <p:nvPr/>
        </p:nvSpPr>
        <p:spPr>
          <a:xfrm>
            <a:off x="7845552" y="3505808"/>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Open this course</a:t>
            </a:r>
          </a:p>
          <a:p>
            <a:pPr algn="l">
              <a:spcAft>
                <a:spcPts val="200"/>
              </a:spcAft>
            </a:pPr>
            <a:r>
              <a:rPr sz="1000" b="0">
                <a:solidFill>
                  <a:srgbClr val="5B6372"/>
                </a:solidFill>
                <a:latin typeface="Arial"/>
              </a:rPr>
              <a:t>Business Innovation with IoT.</a:t>
            </a:r>
          </a:p>
        </p:txBody>
      </p:sp>
      <p:sp>
        <p:nvSpPr>
          <p:cNvPr id="53" name="Rectangle 52"/>
          <p:cNvSpPr/>
          <p:nvPr/>
        </p:nvSpPr>
        <p:spPr>
          <a:xfrm>
            <a:off x="7059168" y="4367172"/>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59168" y="4367172"/>
            <a:ext cx="82296" cy="7150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78624" y="45143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78624" y="451439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7" name="TextBox 56"/>
          <p:cNvSpPr txBox="1"/>
          <p:nvPr/>
        </p:nvSpPr>
        <p:spPr>
          <a:xfrm>
            <a:off x="7845552" y="4367172"/>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Download the material</a:t>
            </a:r>
          </a:p>
          <a:p>
            <a:pPr algn="l">
              <a:spcAft>
                <a:spcPts val="200"/>
              </a:spcAft>
            </a:pPr>
            <a:r>
              <a:rPr sz="1000" b="0">
                <a:solidFill>
                  <a:srgbClr val="5B6372"/>
                </a:solidFill>
                <a:latin typeface="Arial"/>
              </a:rPr>
              <a:t>Slides, Learner Guide and Lesson Plan.</a:t>
            </a:r>
          </a:p>
        </p:txBody>
      </p:sp>
      <p:sp>
        <p:nvSpPr>
          <p:cNvPr id="58" name="Rectangle 57"/>
          <p:cNvSpPr/>
          <p:nvPr/>
        </p:nvSpPr>
        <p:spPr>
          <a:xfrm>
            <a:off x="7059168" y="5228536"/>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59168" y="5228536"/>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537575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8624" y="537575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62" name="TextBox 61"/>
          <p:cNvSpPr txBox="1"/>
          <p:nvPr/>
        </p:nvSpPr>
        <p:spPr>
          <a:xfrm>
            <a:off x="7845552" y="5228536"/>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Keep them open in class</a:t>
            </a:r>
          </a:p>
          <a:p>
            <a:pPr algn="l">
              <a:spcAft>
                <a:spcPts val="200"/>
              </a:spcAft>
            </a:pPr>
            <a:r>
              <a:rPr sz="1000" b="0">
                <a:solidFill>
                  <a:srgbClr val="5B6372"/>
                </a:solidFill>
                <a:latin typeface="Arial"/>
              </a:rPr>
              <a:t>The assessment is open book.</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 FOR INFOCOMM TECHNOLOGY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Skills Framework —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Business Innovation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ICT-SNA-4003-1.1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Category</a:t>
            </a:r>
          </a:p>
          <a:p>
            <a:pPr algn="l">
              <a:spcAft>
                <a:spcPts val="300"/>
              </a:spcAft>
            </a:pPr>
            <a:r>
              <a:rPr sz="1200" b="0">
                <a:solidFill>
                  <a:srgbClr val="5B6372"/>
                </a:solidFill>
                <a:latin typeface="Arial"/>
              </a:rPr>
              <a:t>Business and Project Management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Proficiency</a:t>
            </a:r>
          </a:p>
          <a:p>
            <a:pPr algn="l">
              <a:spcAft>
                <a:spcPts val="300"/>
              </a:spcAft>
            </a:pPr>
            <a:r>
              <a:rPr sz="1200" b="0">
                <a:solidFill>
                  <a:srgbClr val="5B6372"/>
                </a:solidFill>
                <a:latin typeface="Arial"/>
              </a:rPr>
              <a:t>Level 4 — Explore opportunities for business innovation and reform, and lead the implementation of innovative business initiatives.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A1–A5</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Abilities — Assessed by the Written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A1</a:t>
            </a:r>
          </a:p>
          <a:p>
            <a:pPr algn="l">
              <a:spcAft>
                <a:spcPts val="300"/>
              </a:spcAft>
            </a:pPr>
            <a:r>
              <a:rPr sz="1100" b="0">
                <a:solidFill>
                  <a:srgbClr val="5B6372"/>
                </a:solidFill>
                <a:latin typeface="Arial"/>
              </a:rPr>
              <a:t>Compare current business model for the organisation with the other business models in the industry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A2</a:t>
            </a:r>
          </a:p>
          <a:p>
            <a:pPr algn="l">
              <a:spcAft>
                <a:spcPts val="300"/>
              </a:spcAft>
            </a:pPr>
            <a:r>
              <a:rPr sz="1100" b="0">
                <a:solidFill>
                  <a:srgbClr val="5B6372"/>
                </a:solidFill>
                <a:latin typeface="Arial"/>
              </a:rPr>
              <a:t>Explore potential opportunities for business innovation to be introduced within the organisation</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A3</a:t>
            </a:r>
          </a:p>
          <a:p>
            <a:pPr algn="l">
              <a:spcAft>
                <a:spcPts val="300"/>
              </a:spcAft>
            </a:pPr>
            <a:r>
              <a:rPr sz="1100" b="0">
                <a:solidFill>
                  <a:srgbClr val="5B6372"/>
                </a:solidFill>
                <a:latin typeface="Arial"/>
              </a:rPr>
              <a:t>Identify ways in which digitisation can be applied to the business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A4</a:t>
            </a:r>
          </a:p>
          <a:p>
            <a:pPr algn="l">
              <a:spcAft>
                <a:spcPts val="300"/>
              </a:spcAft>
            </a:pPr>
            <a:r>
              <a:rPr sz="1100" b="0">
                <a:solidFill>
                  <a:srgbClr val="5B6372"/>
                </a:solidFill>
                <a:latin typeface="Arial"/>
              </a:rPr>
              <a:t>Conduct feasibility analysis and weigh the costs-benefits of potential business innovation opportunities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A5</a:t>
            </a:r>
          </a:p>
          <a:p>
            <a:pPr algn="l">
              <a:spcAft>
                <a:spcPts val="300"/>
              </a:spcAft>
            </a:pPr>
            <a:r>
              <a:rPr sz="1100" b="0">
                <a:solidFill>
                  <a:srgbClr val="5B6372"/>
                </a:solidFill>
                <a:latin typeface="Arial"/>
              </a:rPr>
              <a:t>Implement business innovation processes in line with a defined action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K1–K4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K1</a:t>
            </a:r>
          </a:p>
          <a:p>
            <a:pPr algn="l">
              <a:spcAft>
                <a:spcPts val="300"/>
              </a:spcAft>
            </a:pPr>
            <a:r>
              <a:rPr sz="1200" b="0">
                <a:solidFill>
                  <a:srgbClr val="5B6372"/>
                </a:solidFill>
                <a:latin typeface="Arial"/>
              </a:rPr>
              <a:t>New and emerging innovative business processes / models deployed in the industry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K2</a:t>
            </a:r>
          </a:p>
          <a:p>
            <a:pPr algn="l">
              <a:spcAft>
                <a:spcPts val="300"/>
              </a:spcAft>
            </a:pPr>
            <a:r>
              <a:rPr sz="1200" b="0">
                <a:solidFill>
                  <a:srgbClr val="5B6372"/>
                </a:solidFill>
                <a:latin typeface="Arial"/>
              </a:rPr>
              <a:t>Concept and principles of digitisation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K3</a:t>
            </a:r>
          </a:p>
          <a:p>
            <a:pPr algn="l">
              <a:spcAft>
                <a:spcPts val="300"/>
              </a:spcAft>
            </a:pPr>
            <a:r>
              <a:rPr sz="1200" b="0">
                <a:solidFill>
                  <a:srgbClr val="5B6372"/>
                </a:solidFill>
                <a:latin typeface="Arial"/>
              </a:rPr>
              <a:t>Factors to consider to assess the viability of business innovation for a given organisation context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K4</a:t>
            </a:r>
          </a:p>
          <a:p>
            <a:pPr algn="l">
              <a:spcAft>
                <a:spcPts val="300"/>
              </a:spcAft>
            </a:pPr>
            <a:r>
              <a:rPr sz="1200" b="0">
                <a:solidFill>
                  <a:srgbClr val="5B6372"/>
                </a:solidFill>
                <a:latin typeface="Arial"/>
              </a:rPr>
              <a:t>Success factors for implementation of business innovation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Topic 1: Overview of IoT  (LO1)</a:t>
            </a:r>
          </a:p>
          <a:p>
            <a:pPr>
              <a:spcAft>
                <a:spcPts val="1000"/>
              </a:spcAft>
            </a:pPr>
            <a:r>
              <a:rPr sz="1400" b="0">
                <a:solidFill>
                  <a:srgbClr val="5B6372"/>
                </a:solidFill>
                <a:latin typeface="Arial"/>
              </a:rPr>
              <a:t>–  Topic 2: Potential Opportunities of IoT  (LO2)</a:t>
            </a:r>
          </a:p>
          <a:p>
            <a:pPr>
              <a:spcAft>
                <a:spcPts val="1000"/>
              </a:spcAft>
            </a:pPr>
            <a:r>
              <a:rPr sz="1400" b="0">
                <a:solidFill>
                  <a:srgbClr val="5B6372"/>
                </a:solidFill>
                <a:latin typeface="Arial"/>
              </a:rPr>
              <a:t>–  Topic 3: IoT Technology — concepts  (LO3)</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Topic 3: Hands-On Practical — Labs 1–4 (90 min)</a:t>
            </a:r>
          </a:p>
          <a:p>
            <a:pPr>
              <a:spcAft>
                <a:spcPts val="1000"/>
              </a:spcAft>
            </a:pPr>
            <a:r>
              <a:rPr sz="1400" b="0">
                <a:solidFill>
                  <a:srgbClr val="5B6372"/>
                </a:solidFill>
                <a:latin typeface="Arial"/>
              </a:rPr>
              <a:t>–  Topic 4: IoT Adoption  (LO4)</a:t>
            </a:r>
          </a:p>
          <a:p>
            <a:pPr>
              <a:spcAft>
                <a:spcPts val="1000"/>
              </a:spcAft>
            </a:pPr>
            <a:r>
              <a:rPr sz="1400" b="0">
                <a:solidFill>
                  <a:srgbClr val="5B6372"/>
                </a:solidFill>
                <a:latin typeface="Arial"/>
              </a:rPr>
              <a:t>–  Topic 5: IoT Implementation  (LO5)</a:t>
            </a:r>
          </a:p>
          <a:p>
            <a:pPr>
              <a:spcAft>
                <a:spcPts val="1000"/>
              </a:spcAft>
            </a:pPr>
            <a:r>
              <a:rPr sz="1400" b="0">
                <a:solidFill>
                  <a:srgbClr val="5B6372"/>
                </a:solidFill>
                <a:latin typeface="Arial"/>
              </a:rPr>
              <a:t>–  TRAQOM Survey · Digital Attendance (Assessment)</a:t>
            </a:r>
          </a:p>
          <a:p>
            <a:pPr>
              <a:spcAft>
                <a:spcPts val="1000"/>
              </a:spcAft>
            </a:pPr>
            <a:r>
              <a:rPr sz="1400" b="0">
                <a:solidFill>
                  <a:srgbClr val="5B6372"/>
                </a:solidFill>
                <a:latin typeface="Arial"/>
              </a:rPr>
              <a:t>–  Final Assessment — WA (75 min) + OQ (15 min)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Compare business models</a:t>
            </a:r>
          </a:p>
          <a:p>
            <a:pPr algn="l">
              <a:spcAft>
                <a:spcPts val="300"/>
              </a:spcAft>
            </a:pPr>
            <a:r>
              <a:rPr sz="1200" b="0">
                <a:solidFill>
                  <a:srgbClr val="5B6372"/>
                </a:solidFill>
                <a:latin typeface="Arial"/>
              </a:rPr>
              <a:t>Compare your current business model with emerging IoT-enabled models. (A1, K1)</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Explore opportunities</a:t>
            </a:r>
          </a:p>
          <a:p>
            <a:pPr algn="l">
              <a:spcAft>
                <a:spcPts val="300"/>
              </a:spcAft>
            </a:pPr>
            <a:r>
              <a:rPr sz="1200" b="0">
                <a:solidFill>
                  <a:srgbClr val="5B6372"/>
                </a:solidFill>
                <a:latin typeface="Arial"/>
              </a:rPr>
              <a:t>Explore potential opportunities for business innovation using IoT. (A2, K1)</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Identify how IoT works</a:t>
            </a:r>
          </a:p>
          <a:p>
            <a:pPr algn="l">
              <a:spcAft>
                <a:spcPts val="300"/>
              </a:spcAft>
            </a:pPr>
            <a:r>
              <a:rPr sz="1200" b="0">
                <a:solidFill>
                  <a:srgbClr val="5B6372"/>
                </a:solidFill>
                <a:latin typeface="Arial"/>
              </a:rPr>
              <a:t>Identify how IoT works and how digitisation applies to the business. (A3, K2)</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Weigh costs &amp; benefits</a:t>
            </a:r>
          </a:p>
          <a:p>
            <a:pPr algn="l">
              <a:spcAft>
                <a:spcPts val="300"/>
              </a:spcAft>
            </a:pPr>
            <a:r>
              <a:rPr sz="1200" b="0">
                <a:solidFill>
                  <a:srgbClr val="5B6372"/>
                </a:solidFill>
                <a:latin typeface="Arial"/>
              </a:rPr>
              <a:t>Conduct a feasibility analysis and weigh the costs and benefits of IoT. (A4, K3)</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Implement with a plan</a:t>
            </a:r>
          </a:p>
          <a:p>
            <a:pPr algn="l">
              <a:spcAft>
                <a:spcPts val="300"/>
              </a:spcAft>
            </a:pPr>
            <a:r>
              <a:rPr sz="1200" b="0">
                <a:solidFill>
                  <a:srgbClr val="5B6372"/>
                </a:solidFill>
                <a:latin typeface="Arial"/>
              </a:rPr>
              <a:t>Implement business innovation processes with IoT to a defined action plan. (A5, K4)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ONE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1 — Overview of IoT</a:t>
            </a:r>
          </a:p>
          <a:p>
            <a:pPr algn="l">
              <a:spcAft>
                <a:spcPts val="300"/>
              </a:spcAft>
            </a:pPr>
            <a:r>
              <a:rPr sz="1200" b="0">
                <a:solidFill>
                  <a:srgbClr val="5B6372"/>
                </a:solidFill>
                <a:latin typeface="Arial"/>
              </a:rPr>
              <a:t>Industry 4.0, IoT business models, sensors and actuators, wireless technologies.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2 — Potential Opportunities</a:t>
            </a:r>
          </a:p>
          <a:p>
            <a:pPr algn="l">
              <a:spcAft>
                <a:spcPts val="300"/>
              </a:spcAft>
            </a:pPr>
            <a:r>
              <a:rPr sz="1200" b="0">
                <a:solidFill>
                  <a:srgbClr val="5B6372"/>
                </a:solidFill>
                <a:latin typeface="Arial"/>
              </a:rPr>
              <a:t>Agriculture, autonomous vehicles, logistics, smart buildings, healthcare, drones.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3 — IoT Technology</a:t>
            </a:r>
          </a:p>
          <a:p>
            <a:pPr algn="l">
              <a:spcAft>
                <a:spcPts val="300"/>
              </a:spcAft>
            </a:pPr>
            <a:r>
              <a:rPr sz="1200" b="0">
                <a:solidFill>
                  <a:srgbClr val="5B6372"/>
                </a:solidFill>
                <a:latin typeface="Arial"/>
              </a:rPr>
              <a:t>Cloud platforms, posting data, remote control, analytics, automation  +  4 hands-on labs.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4 — IoT Adoption</a:t>
            </a:r>
          </a:p>
          <a:p>
            <a:pPr algn="l">
              <a:spcAft>
                <a:spcPts val="300"/>
              </a:spcAft>
            </a:pPr>
            <a:r>
              <a:rPr sz="1200" b="0">
                <a:solidFill>
                  <a:srgbClr val="5B6372"/>
                </a:solidFill>
                <a:latin typeface="Arial"/>
              </a:rPr>
              <a:t>Adoption challenges, IoT security, edge computing, cost-benefit analysis.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5 — IoT Implementation</a:t>
            </a:r>
          </a:p>
          <a:p>
            <a:pPr algn="l">
              <a:spcAft>
                <a:spcPts val="300"/>
              </a:spcAft>
            </a:pPr>
            <a:r>
              <a:rPr sz="1200" b="0">
                <a:solidFill>
                  <a:srgbClr val="5B6372"/>
                </a:solidFill>
                <a:latin typeface="Arial"/>
              </a:rPr>
              <a:t>Success factors, design thinking, a 7-step implementation action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(Q&amp;A)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a:t>
            </a:r>
          </a:p>
          <a:p>
            <a:pPr>
              <a:spcAft>
                <a:spcPts val="900"/>
              </a:spcAft>
            </a:pPr>
            <a:r>
              <a:rPr sz="1400" b="0">
                <a:solidFill>
                  <a:srgbClr val="161B26"/>
                </a:solidFill>
                <a:latin typeface="Arial"/>
              </a:rPr>
              <a:t>•  Assesses abilities A1–A5</a:t>
            </a:r>
          </a:p>
          <a:p>
            <a:pPr>
              <a:spcAft>
                <a:spcPts val="900"/>
              </a:spcAft>
            </a:pPr>
            <a:r>
              <a:rPr sz="1400" b="0">
                <a:solidFill>
                  <a:srgbClr val="161B26"/>
                </a:solidFill>
                <a:latin typeface="Arial"/>
              </a:rPr>
              <a:t>•  15 minutes per ability</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OQ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Oral questioning</a:t>
            </a:r>
          </a:p>
          <a:p>
            <a:pPr>
              <a:spcAft>
                <a:spcPts val="900"/>
              </a:spcAft>
            </a:pPr>
            <a:r>
              <a:rPr sz="1400" b="0">
                <a:solidFill>
                  <a:srgbClr val="161B26"/>
                </a:solidFill>
                <a:latin typeface="Arial"/>
              </a:rPr>
              <a:t>•  Assesses knowledge K1–K4</a:t>
            </a:r>
          </a:p>
          <a:p>
            <a:pPr>
              <a:spcAft>
                <a:spcPts val="900"/>
              </a:spcAft>
            </a:pPr>
            <a:r>
              <a:rPr sz="1400" b="0">
                <a:solidFill>
                  <a:srgbClr val="161B26"/>
                </a:solidFill>
                <a:latin typeface="Arial"/>
              </a:rPr>
              <a:t>•  1:1 with the assessor</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What you may use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course slides</a:t>
            </a:r>
          </a:p>
          <a:p>
            <a:pPr>
              <a:spcAft>
                <a:spcPts val="900"/>
              </a:spcAft>
            </a:pPr>
            <a:r>
              <a:rPr sz="1400" b="0">
                <a:solidFill>
                  <a:srgbClr val="161B26"/>
                </a:solidFill>
                <a:latin typeface="Arial"/>
              </a:rPr>
              <a:t>•  Your Learner Guide</a:t>
            </a:r>
          </a:p>
          <a:p>
            <a:pPr>
              <a:spcAft>
                <a:spcPts val="900"/>
              </a:spcAft>
            </a:pPr>
            <a:r>
              <a:rPr sz="1400" b="0">
                <a:solidFill>
                  <a:srgbClr val="161B26"/>
                </a:solidFill>
                <a:latin typeface="Arial"/>
              </a:rPr>
              <a:t>•  Approved materials only</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the WA (Q&amp;A) — 75 min,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Oral Questioning — 15 min, 1:1 with the assessor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Internet of Things (IoT)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Industry 4.0 · IoT business models · Sensors &amp; actuators · Wireless technologies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 are in the 4th Industrial Revolution.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AI + IoT + 5G + Cloud + Robotics are converging — physical assets now report their own state in real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A1, K1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Overview of Internet of Things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Industry 4.0</a:t>
            </a:r>
          </a:p>
          <a:p>
            <a:pPr algn="l">
              <a:spcAft>
                <a:spcPts val="300"/>
              </a:spcAft>
            </a:pPr>
            <a:r>
              <a:rPr sz="1100" b="0">
                <a:solidFill>
                  <a:srgbClr val="5B6372"/>
                </a:solidFill>
                <a:latin typeface="Arial"/>
              </a:rPr>
              <a:t>IoT, AI, 5G, cloud and robotics converge so physical assets report their own state in real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IoT is</a:t>
            </a:r>
          </a:p>
          <a:p>
            <a:pPr algn="l">
              <a:spcAft>
                <a:spcPts val="300"/>
              </a:spcAft>
            </a:pPr>
            <a:r>
              <a:rPr sz="1100" b="0">
                <a:solidFill>
                  <a:srgbClr val="5B6372"/>
                </a:solidFill>
                <a:latin typeface="Arial"/>
              </a:rPr>
              <a:t>Connecting everyday objects to the internet to cut cost, lift productivity and open new revenue.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four building blocks</a:t>
            </a:r>
          </a:p>
          <a:p>
            <a:pPr algn="l">
              <a:spcAft>
                <a:spcPts val="300"/>
              </a:spcAft>
            </a:pPr>
            <a:r>
              <a:rPr sz="1100" b="0">
                <a:solidFill>
                  <a:srgbClr val="5B6372"/>
                </a:solidFill>
                <a:latin typeface="Arial"/>
              </a:rPr>
              <a:t>Sensors/devices capture data, connectivity moves it, cloud processes it, a UI acts on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now</a:t>
            </a:r>
          </a:p>
          <a:p>
            <a:pPr algn="l">
              <a:spcAft>
                <a:spcPts val="300"/>
              </a:spcAft>
            </a:pPr>
            <a:r>
              <a:rPr sz="1100" b="0">
                <a:solidFill>
                  <a:srgbClr val="5B6372"/>
                </a:solidFill>
                <a:latin typeface="Arial"/>
              </a:rPr>
              <a:t>Cheap sensors, long-range low-power wireless and 5G removed the cost barrier to mass adoption.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to service</a:t>
            </a:r>
          </a:p>
          <a:p>
            <a:pPr algn="l">
              <a:spcAft>
                <a:spcPts val="300"/>
              </a:spcAft>
            </a:pPr>
            <a:r>
              <a:rPr sz="1100" b="0">
                <a:solidFill>
                  <a:srgbClr val="5B6372"/>
                </a:solidFill>
                <a:latin typeface="Arial"/>
              </a:rPr>
              <a:t>IoT shifts firms from one-off product sales to subscription, outcome and pay-per-use models.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as the asset</a:t>
            </a:r>
          </a:p>
          <a:p>
            <a:pPr algn="l">
              <a:spcAft>
                <a:spcPts val="300"/>
              </a:spcAft>
            </a:pPr>
            <a:r>
              <a:rPr sz="1100" b="0">
                <a:solidFill>
                  <a:srgbClr val="5B6372"/>
                </a:solidFill>
                <a:latin typeface="Arial"/>
              </a:rPr>
              <a:t>The recurring value is the telemetry stream, not the device — it compounds over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CONTEXT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Fourth Industrial Revolution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dustry40.png"/>
          <p:cNvPicPr>
            <a:picLocks noChangeAspect="1"/>
          </p:cNvPicPr>
          <p:nvPr/>
        </p:nvPicPr>
        <p:blipFill>
          <a:blip r:embed="rId2"/>
          <a:stretch>
            <a:fillRect/>
          </a:stretch>
        </p:blipFill>
        <p:spPr>
          <a:xfrm>
            <a:off x="777240" y="1982799"/>
            <a:ext cx="10634472" cy="366964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Industry 4.0 — cyber-physical systems, IoT, cloud computing and cognitive computing.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DEFINITION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the Internet of Things?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definition.png"/>
          <p:cNvPicPr>
            <a:picLocks noChangeAspect="1"/>
          </p:cNvPicPr>
          <p:nvPr/>
        </p:nvPicPr>
        <p:blipFill>
          <a:blip r:embed="rId2"/>
          <a:stretch>
            <a:fillRect/>
          </a:stretch>
        </p:blipFill>
        <p:spPr>
          <a:xfrm>
            <a:off x="2132076" y="1737360"/>
            <a:ext cx="79248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 connects everyday objects to the internet so they can send and receive data.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Components of an IoT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components.png"/>
          <p:cNvPicPr>
            <a:picLocks noChangeAspect="1"/>
          </p:cNvPicPr>
          <p:nvPr/>
        </p:nvPicPr>
        <p:blipFill>
          <a:blip r:embed="rId2"/>
          <a:stretch>
            <a:fillRect/>
          </a:stretch>
        </p:blipFill>
        <p:spPr>
          <a:xfrm>
            <a:off x="777240" y="1803599"/>
            <a:ext cx="10634472" cy="402804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'thing' is any object with embedded electronics that transfers data over a network.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OPPORTUNITY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Scale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80360"/>
            <a:ext cx="2087118" cy="1051560"/>
          </a:xfrm>
          <a:prstGeom prst="rect">
            <a:avLst/>
          </a:prstGeom>
          <a:noFill/>
        </p:spPr>
        <p:txBody>
          <a:bodyPr wrap="square" anchor="ctr">
            <a:spAutoFit/>
          </a:bodyPr>
          <a:lstStyle/>
          <a:p>
            <a:pPr algn="ctr">
              <a:spcAft>
                <a:spcPts val="400"/>
              </a:spcAft>
            </a:pPr>
            <a:r>
              <a:rPr sz="4400" b="1">
                <a:solidFill>
                  <a:srgbClr val="1F6FEB"/>
                </a:solidFill>
                <a:latin typeface="Arial"/>
              </a:rPr>
              <a:t>$9T</a:t>
            </a:r>
          </a:p>
        </p:txBody>
      </p:sp>
      <p:sp>
        <p:nvSpPr>
          <p:cNvPr id="10" name="TextBox 9"/>
          <p:cNvSpPr txBox="1"/>
          <p:nvPr/>
        </p:nvSpPr>
        <p:spPr>
          <a:xfrm>
            <a:off x="996696"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Estimated IoT market value</a:t>
            </a:r>
          </a:p>
        </p:txBody>
      </p:sp>
      <p:sp>
        <p:nvSpPr>
          <p:cNvPr id="11" name="Rectangle 10"/>
          <p:cNvSpPr/>
          <p:nvPr/>
        </p:nvSpPr>
        <p:spPr>
          <a:xfrm>
            <a:off x="3504438"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21945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7318" y="2880360"/>
            <a:ext cx="2087118" cy="1051560"/>
          </a:xfrm>
          <a:prstGeom prst="rect">
            <a:avLst/>
          </a:prstGeom>
          <a:noFill/>
        </p:spPr>
        <p:txBody>
          <a:bodyPr wrap="square" anchor="ctr">
            <a:spAutoFit/>
          </a:bodyPr>
          <a:lstStyle/>
          <a:p>
            <a:pPr algn="ctr">
              <a:spcAft>
                <a:spcPts val="400"/>
              </a:spcAft>
            </a:pPr>
            <a:r>
              <a:rPr sz="4400" b="1">
                <a:solidFill>
                  <a:srgbClr val="10B981"/>
                </a:solidFill>
                <a:latin typeface="Arial"/>
              </a:rPr>
              <a:t>50B+</a:t>
            </a:r>
          </a:p>
        </p:txBody>
      </p:sp>
      <p:sp>
        <p:nvSpPr>
          <p:cNvPr id="14" name="TextBox 13"/>
          <p:cNvSpPr txBox="1"/>
          <p:nvPr/>
        </p:nvSpPr>
        <p:spPr>
          <a:xfrm>
            <a:off x="3723894"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Connected devices worldwide</a:t>
            </a:r>
          </a:p>
        </p:txBody>
      </p:sp>
      <p:sp>
        <p:nvSpPr>
          <p:cNvPr id="15" name="Rectangle 14"/>
          <p:cNvSpPr/>
          <p:nvPr/>
        </p:nvSpPr>
        <p:spPr>
          <a:xfrm>
            <a:off x="6231636"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21945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4516" y="2880360"/>
            <a:ext cx="2087118" cy="1051560"/>
          </a:xfrm>
          <a:prstGeom prst="rect">
            <a:avLst/>
          </a:prstGeom>
          <a:noFill/>
        </p:spPr>
        <p:txBody>
          <a:bodyPr wrap="square" anchor="ctr">
            <a:spAutoFit/>
          </a:bodyPr>
          <a:lstStyle/>
          <a:p>
            <a:pPr algn="ctr">
              <a:spcAft>
                <a:spcPts val="400"/>
              </a:spcAft>
            </a:pPr>
            <a:r>
              <a:rPr sz="4400" b="1">
                <a:solidFill>
                  <a:srgbClr val="7C3AED"/>
                </a:solidFill>
                <a:latin typeface="Arial"/>
              </a:rPr>
              <a:t>4th</a:t>
            </a:r>
          </a:p>
        </p:txBody>
      </p:sp>
      <p:sp>
        <p:nvSpPr>
          <p:cNvPr id="18" name="TextBox 17"/>
          <p:cNvSpPr txBox="1"/>
          <p:nvPr/>
        </p:nvSpPr>
        <p:spPr>
          <a:xfrm>
            <a:off x="6451092"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Industrial revolution underway</a:t>
            </a:r>
          </a:p>
        </p:txBody>
      </p:sp>
      <p:sp>
        <p:nvSpPr>
          <p:cNvPr id="19" name="Rectangle 18"/>
          <p:cNvSpPr/>
          <p:nvPr/>
        </p:nvSpPr>
        <p:spPr>
          <a:xfrm>
            <a:off x="8958834"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21945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1714" y="2880360"/>
            <a:ext cx="2087118" cy="1051560"/>
          </a:xfrm>
          <a:prstGeom prst="rect">
            <a:avLst/>
          </a:prstGeom>
          <a:noFill/>
        </p:spPr>
        <p:txBody>
          <a:bodyPr wrap="square" anchor="ctr">
            <a:spAutoFit/>
          </a:bodyPr>
          <a:lstStyle/>
          <a:p>
            <a:pPr algn="ctr">
              <a:spcAft>
                <a:spcPts val="400"/>
              </a:spcAft>
            </a:pPr>
            <a:r>
              <a:rPr sz="4400" b="1">
                <a:solidFill>
                  <a:srgbClr val="F59E0B"/>
                </a:solidFill>
                <a:latin typeface="Arial"/>
              </a:rPr>
              <a:t>5G</a:t>
            </a:r>
          </a:p>
        </p:txBody>
      </p:sp>
      <p:sp>
        <p:nvSpPr>
          <p:cNvPr id="22" name="TextBox 21"/>
          <p:cNvSpPr txBox="1"/>
          <p:nvPr/>
        </p:nvSpPr>
        <p:spPr>
          <a:xfrm>
            <a:off x="9178290"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The accelerator to mass adoption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IoT ARCHITECTURE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IoT Works — The Four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SENSORS &amp; DEVICES capture data from the physical world</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CONNECTIVITY carries it over WiFi, cellular, LoRa or MQTT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CLOUD stores, processes and analyses the data</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USER INTERFACE shows insight and sends commands back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ARCHITECTURE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IoT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w-iot-works.png"/>
          <p:cNvPicPr>
            <a:picLocks noChangeAspect="1"/>
          </p:cNvPicPr>
          <p:nvPr/>
        </p:nvPicPr>
        <p:blipFill>
          <a:blip r:embed="rId2"/>
          <a:stretch>
            <a:fillRect/>
          </a:stretch>
        </p:blipFill>
        <p:spPr>
          <a:xfrm>
            <a:off x="1641133" y="1737360"/>
            <a:ext cx="89066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Sensors and devices talk to the cloud; software processes the data and acts, or shows it to a user.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SENSORS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Sensors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nsors-overview.png"/>
          <p:cNvPicPr>
            <a:picLocks noChangeAspect="1"/>
          </p:cNvPicPr>
          <p:nvPr/>
        </p:nvPicPr>
        <p:blipFill>
          <a:blip r:embed="rId2"/>
          <a:stretch>
            <a:fillRect/>
          </a:stretch>
        </p:blipFill>
        <p:spPr>
          <a:xfrm>
            <a:off x="3061507" y="1737360"/>
            <a:ext cx="606593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Low-cost sensors are what made large-scale IoT deployment economically viable.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ACTUATORS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Actuators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actuator.png"/>
          <p:cNvPicPr>
            <a:picLocks noChangeAspect="1"/>
          </p:cNvPicPr>
          <p:nvPr/>
        </p:nvPicPr>
        <p:blipFill>
          <a:blip r:embed="rId2"/>
          <a:stretch>
            <a:fillRect/>
          </a:stretch>
        </p:blipFill>
        <p:spPr>
          <a:xfrm>
            <a:off x="976453" y="1737360"/>
            <a:ext cx="1023604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Actuators turn a decision in the cloud back into a physical action.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PHYSICAL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Sensors, Actuators and Gateways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Sensors — sense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Temperature &amp; humidity</a:t>
            </a:r>
          </a:p>
          <a:p>
            <a:pPr>
              <a:spcAft>
                <a:spcPts val="900"/>
              </a:spcAft>
            </a:pPr>
            <a:r>
              <a:rPr sz="1400" b="0">
                <a:solidFill>
                  <a:srgbClr val="161B26"/>
                </a:solidFill>
                <a:latin typeface="Arial"/>
              </a:rPr>
              <a:t>•  Motion, presence, vibration</a:t>
            </a:r>
          </a:p>
          <a:p>
            <a:pPr>
              <a:spcAft>
                <a:spcPts val="900"/>
              </a:spcAft>
            </a:pPr>
            <a:r>
              <a:rPr sz="1400" b="0">
                <a:solidFill>
                  <a:srgbClr val="161B26"/>
                </a:solidFill>
                <a:latin typeface="Arial"/>
              </a:rPr>
              <a:t>•  Light, gas, air quality</a:t>
            </a:r>
          </a:p>
          <a:p>
            <a:pPr>
              <a:spcAft>
                <a:spcPts val="900"/>
              </a:spcAft>
            </a:pPr>
            <a:r>
              <a:rPr sz="1400" b="0">
                <a:solidFill>
                  <a:srgbClr val="161B26"/>
                </a:solidFill>
                <a:latin typeface="Arial"/>
              </a:rPr>
              <a:t>•  GPS location, current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Actuators — act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Relays and switches</a:t>
            </a:r>
          </a:p>
          <a:p>
            <a:pPr>
              <a:spcAft>
                <a:spcPts val="900"/>
              </a:spcAft>
            </a:pPr>
            <a:r>
              <a:rPr sz="1400" b="0">
                <a:solidFill>
                  <a:srgbClr val="161B26"/>
                </a:solidFill>
                <a:latin typeface="Arial"/>
              </a:rPr>
              <a:t>•  Motors and servos</a:t>
            </a:r>
          </a:p>
          <a:p>
            <a:pPr>
              <a:spcAft>
                <a:spcPts val="900"/>
              </a:spcAft>
            </a:pPr>
            <a:r>
              <a:rPr sz="1400" b="0">
                <a:solidFill>
                  <a:srgbClr val="161B26"/>
                </a:solidFill>
                <a:latin typeface="Arial"/>
              </a:rPr>
              <a:t>•  Valves and pumps</a:t>
            </a:r>
          </a:p>
          <a:p>
            <a:pPr>
              <a:spcAft>
                <a:spcPts val="900"/>
              </a:spcAft>
            </a:pPr>
            <a:r>
              <a:rPr sz="1400" b="0">
                <a:solidFill>
                  <a:srgbClr val="161B26"/>
                </a:solidFill>
                <a:latin typeface="Arial"/>
              </a:rPr>
              <a:t>•  Alarms and displays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Gateways — connect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Aggregate nearby devices</a:t>
            </a:r>
          </a:p>
          <a:p>
            <a:pPr>
              <a:spcAft>
                <a:spcPts val="900"/>
              </a:spcAft>
            </a:pPr>
            <a:r>
              <a:rPr sz="1400" b="0">
                <a:solidFill>
                  <a:srgbClr val="161B26"/>
                </a:solidFill>
                <a:latin typeface="Arial"/>
              </a:rPr>
              <a:t>•  Translate protocols</a:t>
            </a:r>
          </a:p>
          <a:p>
            <a:pPr>
              <a:spcAft>
                <a:spcPts val="900"/>
              </a:spcAft>
            </a:pPr>
            <a:r>
              <a:rPr sz="1400" b="0">
                <a:solidFill>
                  <a:srgbClr val="161B26"/>
                </a:solidFill>
                <a:latin typeface="Arial"/>
              </a:rPr>
              <a:t>•  Buffer when offline</a:t>
            </a:r>
          </a:p>
          <a:p>
            <a:pPr>
              <a:spcAft>
                <a:spcPts val="900"/>
              </a:spcAft>
            </a:pPr>
            <a:r>
              <a:rPr sz="1400" b="0">
                <a:solidFill>
                  <a:srgbClr val="161B26"/>
                </a:solidFill>
                <a:latin typeface="Arial"/>
              </a:rPr>
              <a:t>•  Add edge processing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CONNECTIVITY CHOICES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Wireless Technologies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WiFi</a:t>
            </a:r>
          </a:p>
          <a:p>
            <a:pPr algn="l">
              <a:spcAft>
                <a:spcPts val="300"/>
              </a:spcAft>
            </a:pPr>
            <a:r>
              <a:rPr sz="1100" b="0">
                <a:solidFill>
                  <a:srgbClr val="5B6372"/>
                </a:solidFill>
                <a:latin typeface="Arial"/>
              </a:rPr>
              <a:t>High bandwidth, short range, mains power — best indoors where power is available.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Bluetooth / BLE</a:t>
            </a:r>
          </a:p>
          <a:p>
            <a:pPr algn="l">
              <a:spcAft>
                <a:spcPts val="300"/>
              </a:spcAft>
            </a:pPr>
            <a:r>
              <a:rPr sz="1100" b="0">
                <a:solidFill>
                  <a:srgbClr val="5B6372"/>
                </a:solidFill>
                <a:latin typeface="Arial"/>
              </a:rPr>
              <a:t>Very low power, very short range — wearables and personal devices.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Cellular (4G/5G)</a:t>
            </a:r>
          </a:p>
          <a:p>
            <a:pPr algn="l">
              <a:spcAft>
                <a:spcPts val="300"/>
              </a:spcAft>
            </a:pPr>
            <a:r>
              <a:rPr sz="1100" b="0">
                <a:solidFill>
                  <a:srgbClr val="5B6372"/>
                </a:solidFill>
                <a:latin typeface="Arial"/>
              </a:rPr>
              <a:t>Wide coverage with a subscription cost — vehicles, logistics and remote assets.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LoRaWAN / NB-IoT</a:t>
            </a:r>
          </a:p>
          <a:p>
            <a:pPr algn="l">
              <a:spcAft>
                <a:spcPts val="300"/>
              </a:spcAft>
            </a:pPr>
            <a:r>
              <a:rPr sz="1100" b="0">
                <a:solidFill>
                  <a:srgbClr val="5B6372"/>
                </a:solidFill>
                <a:latin typeface="Arial"/>
              </a:rPr>
              <a:t>Long range, very low power, tiny payloads — agriculture, metering, city-scale sensing.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Zigbee / Z-Wave</a:t>
            </a:r>
          </a:p>
          <a:p>
            <a:pPr algn="l">
              <a:spcAft>
                <a:spcPts val="300"/>
              </a:spcAft>
            </a:pPr>
            <a:r>
              <a:rPr sz="1100" b="0">
                <a:solidFill>
                  <a:srgbClr val="5B6372"/>
                </a:solidFill>
                <a:latin typeface="Arial"/>
              </a:rPr>
              <a:t>Low-power mesh — smart buildings and home automation.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Choosing one</a:t>
            </a:r>
          </a:p>
          <a:p>
            <a:pPr algn="l">
              <a:spcAft>
                <a:spcPts val="300"/>
              </a:spcAft>
            </a:pPr>
            <a:r>
              <a:rPr sz="1100" b="0">
                <a:solidFill>
                  <a:srgbClr val="5B6372"/>
                </a:solidFill>
                <a:latin typeface="Arial"/>
              </a:rPr>
              <a:t>Trade range against power, bandwidth and cost — there is no single best option.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CONNECTIVITY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Wireless Technologies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reless-tech.png"/>
          <p:cNvPicPr>
            <a:picLocks noChangeAspect="1"/>
          </p:cNvPicPr>
          <p:nvPr/>
        </p:nvPicPr>
        <p:blipFill>
          <a:blip r:embed="rId2"/>
          <a:stretch>
            <a:fillRect/>
          </a:stretch>
        </p:blipFill>
        <p:spPr>
          <a:xfrm>
            <a:off x="2426358" y="1737360"/>
            <a:ext cx="733623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Range, power consumption, bandwidth and cost determine which technology fits a use case.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CONNECTIVITY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Comparing Wireless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reless-comparison.png"/>
          <p:cNvPicPr>
            <a:picLocks noChangeAspect="1"/>
          </p:cNvPicPr>
          <p:nvPr/>
        </p:nvPicPr>
        <p:blipFill>
          <a:blip r:embed="rId2"/>
          <a:stretch>
            <a:fillRect/>
          </a:stretch>
        </p:blipFill>
        <p:spPr>
          <a:xfrm>
            <a:off x="3023167" y="1737360"/>
            <a:ext cx="614261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There is no single best option — every choice trades range against power and bandwidth.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A1 · HOW IoT CHANGES THE BUSINESS MODEL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New Business Models Enabled by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 Service</a:t>
            </a:r>
          </a:p>
          <a:p>
            <a:pPr algn="l">
              <a:spcAft>
                <a:spcPts val="300"/>
              </a:spcAft>
            </a:pPr>
            <a:r>
              <a:rPr sz="1100" b="0">
                <a:solidFill>
                  <a:srgbClr val="5B6372"/>
                </a:solidFill>
                <a:latin typeface="Arial"/>
              </a:rPr>
              <a:t>Sell the outcome (cooling, uptime, mobility) rather than the machine itself.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Subscription</a:t>
            </a:r>
          </a:p>
          <a:p>
            <a:pPr algn="l">
              <a:spcAft>
                <a:spcPts val="300"/>
              </a:spcAft>
            </a:pPr>
            <a:r>
              <a:rPr sz="1100" b="0">
                <a:solidFill>
                  <a:srgbClr val="5B6372"/>
                </a:solidFill>
                <a:latin typeface="Arial"/>
              </a:rPr>
              <a:t>Recurring revenue for monitoring, analytics and support built on the data stream.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Pay-per-use</a:t>
            </a:r>
          </a:p>
          <a:p>
            <a:pPr algn="l">
              <a:spcAft>
                <a:spcPts val="300"/>
              </a:spcAft>
            </a:pPr>
            <a:r>
              <a:rPr sz="1100" b="0">
                <a:solidFill>
                  <a:srgbClr val="5B6372"/>
                </a:solidFill>
                <a:latin typeface="Arial"/>
              </a:rPr>
              <a:t>Charge by actual consumption, measured by the device — fair for the customer, predictable for you.</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Predictive maintenance</a:t>
            </a:r>
          </a:p>
          <a:p>
            <a:pPr algn="l">
              <a:spcAft>
                <a:spcPts val="300"/>
              </a:spcAft>
            </a:pPr>
            <a:r>
              <a:rPr sz="1100" b="0">
                <a:solidFill>
                  <a:srgbClr val="5B6372"/>
                </a:solidFill>
                <a:latin typeface="Arial"/>
              </a:rPr>
              <a:t>Service before failure; convert unplanned downtime into scheduled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Data-driven products</a:t>
            </a:r>
          </a:p>
          <a:p>
            <a:pPr algn="l">
              <a:spcAft>
                <a:spcPts val="300"/>
              </a:spcAft>
            </a:pPr>
            <a:r>
              <a:rPr sz="1100" b="0">
                <a:solidFill>
                  <a:srgbClr val="5B6372"/>
                </a:solidFill>
                <a:latin typeface="Arial"/>
              </a:rPr>
              <a:t>The telemetry itself becomes a product — benchmarking, insurance, optimisation.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Ecosystem platforms</a:t>
            </a:r>
          </a:p>
          <a:p>
            <a:pPr algn="l">
              <a:spcAft>
                <a:spcPts val="300"/>
              </a:spcAft>
            </a:pPr>
            <a:r>
              <a:rPr sz="1100" b="0">
                <a:solidFill>
                  <a:srgbClr val="5B6372"/>
                </a:solidFill>
                <a:latin typeface="Arial"/>
              </a:rPr>
              <a:t>Open the data to partners and earn from the platform, not just the device.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Compare Business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In pairs, describe how your organisation earns revenue today. Then pick one IoT-enabled competitor or industry example and compare the two.</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does your organisation make money today — product sale, project fee, subscription?</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IoT-enabled model could apply: outcome-based, pay-per-use, subscription, or predictive service?</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data would you need to collect before that model becomes possible?</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would customers gain, and what would they be willing to pay for?</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 written comparison of your current model against one IoT-enabled model.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Overview of Internet of Things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IoT connects physical assets to the internet so they report their own state.</a:t>
            </a:r>
          </a:p>
          <a:p>
            <a:pPr>
              <a:spcAft>
                <a:spcPts val="1000"/>
              </a:spcAft>
            </a:pPr>
            <a:r>
              <a:rPr sz="1700" b="0">
                <a:solidFill>
                  <a:srgbClr val="161B26"/>
                </a:solidFill>
                <a:latin typeface="Arial"/>
              </a:rPr>
              <a:t>•  Four building blocks: sensors/devices, connectivity, cloud, user interface.</a:t>
            </a:r>
          </a:p>
          <a:p>
            <a:pPr>
              <a:spcAft>
                <a:spcPts val="1000"/>
              </a:spcAft>
            </a:pPr>
            <a:r>
              <a:rPr sz="1700" b="0">
                <a:solidFill>
                  <a:srgbClr val="161B26"/>
                </a:solidFill>
                <a:latin typeface="Arial"/>
              </a:rPr>
              <a:t>•  Falling sensor cost, low-power wireless and 5G made mass adoption viable.</a:t>
            </a:r>
          </a:p>
          <a:p>
            <a:pPr>
              <a:spcAft>
                <a:spcPts val="1000"/>
              </a:spcAft>
            </a:pPr>
            <a:r>
              <a:rPr sz="1700" b="0">
                <a:solidFill>
                  <a:srgbClr val="161B26"/>
                </a:solidFill>
                <a:latin typeface="Arial"/>
              </a:rPr>
              <a:t>•  IoT shifts firms from product sales to service, subscription and outcome models.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Potential Opportunities of IoT Innovation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Agriculture · Autonomous vehicles · Logistics · Smart buildings · Healthcare · Drones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OPPORTUNITY LANDSCAPE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IoT has reached every industry.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From agriculture to aerospace — the pattern is always the same: sense something that used to be invisible, then act on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A2, K1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Key Concepts — Potential Opportunities of IoT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Agriculture</a:t>
            </a:r>
          </a:p>
          <a:p>
            <a:pPr algn="l">
              <a:spcAft>
                <a:spcPts val="300"/>
              </a:spcAft>
            </a:pPr>
            <a:r>
              <a:rPr sz="1100" b="0">
                <a:solidFill>
                  <a:srgbClr val="5B6372"/>
                </a:solidFill>
                <a:latin typeface="Arial"/>
              </a:rPr>
              <a:t>Soil, weather and crop sensing drive precision irrigation and fertiliser decisions — e.g. IBM AgroPad.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Autonomous vehicles</a:t>
            </a:r>
          </a:p>
          <a:p>
            <a:pPr algn="l">
              <a:spcAft>
                <a:spcPts val="300"/>
              </a:spcAft>
            </a:pPr>
            <a:r>
              <a:rPr sz="1100" b="0">
                <a:solidFill>
                  <a:srgbClr val="5B6372"/>
                </a:solidFill>
                <a:latin typeface="Arial"/>
              </a:rPr>
              <a:t>Vehicle telemetry and sensor fusion enable driver assistance and highly automated driving.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Logistics &amp; fleet</a:t>
            </a:r>
          </a:p>
          <a:p>
            <a:pPr algn="l">
              <a:spcAft>
                <a:spcPts val="300"/>
              </a:spcAft>
            </a:pPr>
            <a:r>
              <a:rPr sz="1100" b="0">
                <a:solidFill>
                  <a:srgbClr val="5B6372"/>
                </a:solidFill>
                <a:latin typeface="Arial"/>
              </a:rPr>
              <a:t>Location, temperature and fuel telemetry give end-to-end shipment visibility and route optimisation.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Smart buildings</a:t>
            </a:r>
          </a:p>
          <a:p>
            <a:pPr algn="l">
              <a:spcAft>
                <a:spcPts val="300"/>
              </a:spcAft>
            </a:pPr>
            <a:r>
              <a:rPr sz="1100" b="0">
                <a:solidFill>
                  <a:srgbClr val="5B6372"/>
                </a:solidFill>
                <a:latin typeface="Arial"/>
              </a:rPr>
              <a:t>Occupancy, energy and equipment sensing cut utility cost and enable predictive maintenance.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Healthcare &amp; wearables</a:t>
            </a:r>
          </a:p>
          <a:p>
            <a:pPr algn="l">
              <a:spcAft>
                <a:spcPts val="300"/>
              </a:spcAft>
            </a:pPr>
            <a:r>
              <a:rPr sz="1100" b="0">
                <a:solidFill>
                  <a:srgbClr val="5B6372"/>
                </a:solidFill>
                <a:latin typeface="Arial"/>
              </a:rPr>
              <a:t>Continuous patient monitoring feeds records securely, supporting earlier clinical intervention.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Drones</a:t>
            </a:r>
          </a:p>
          <a:p>
            <a:pPr algn="l">
              <a:spcAft>
                <a:spcPts val="300"/>
              </a:spcAft>
            </a:pPr>
            <a:r>
              <a:rPr sz="1100" b="0">
                <a:solidFill>
                  <a:srgbClr val="5B6372"/>
                </a:solidFill>
                <a:latin typeface="Arial"/>
              </a:rPr>
              <a:t>Aerial inspection, survey and delivery reach places people cannot, safely and at lower cost.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LANDSCAPE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Applications Across Industry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applications.png"/>
          <p:cNvPicPr>
            <a:picLocks noChangeAspect="1"/>
          </p:cNvPicPr>
          <p:nvPr/>
        </p:nvPicPr>
        <p:blipFill>
          <a:blip r:embed="rId2"/>
          <a:stretch>
            <a:fillRect/>
          </a:stretch>
        </p:blipFill>
        <p:spPr>
          <a:xfrm>
            <a:off x="2558034" y="1737360"/>
            <a:ext cx="707288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 has found its way into every conceivable field, from agriculture to aerospace.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AGRICULTURE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Agriculture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agriculture.png"/>
          <p:cNvPicPr>
            <a:picLocks noChangeAspect="1"/>
          </p:cNvPicPr>
          <p:nvPr/>
        </p:nvPicPr>
        <p:blipFill>
          <a:blip r:embed="rId2"/>
          <a:stretch>
            <a:fillRect/>
          </a:stretch>
        </p:blipFill>
        <p:spPr>
          <a:xfrm>
            <a:off x="2583180" y="1737360"/>
            <a:ext cx="702259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Precision agriculture: sense the soil and crop, then irrigate and fertilise to the actual need.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AGRICULTURE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Agriculture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The problem</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Soil and crop condition is invisible</a:t>
            </a:r>
          </a:p>
          <a:p>
            <a:pPr>
              <a:spcAft>
                <a:spcPts val="900"/>
              </a:spcAft>
            </a:pPr>
            <a:r>
              <a:rPr sz="1400" b="0">
                <a:solidFill>
                  <a:srgbClr val="161B26"/>
                </a:solidFill>
                <a:latin typeface="Arial"/>
              </a:rPr>
              <a:t>•  Water and fertiliser applied uniformly</a:t>
            </a:r>
          </a:p>
          <a:p>
            <a:pPr>
              <a:spcAft>
                <a:spcPts val="900"/>
              </a:spcAft>
            </a:pPr>
            <a:r>
              <a:rPr sz="1400" b="0">
                <a:solidFill>
                  <a:srgbClr val="161B26"/>
                </a:solidFill>
                <a:latin typeface="Arial"/>
              </a:rPr>
              <a:t>•  Decisions made from experience alone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The IoT solution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Soil moisture &amp; nutrient sensing</a:t>
            </a:r>
          </a:p>
          <a:p>
            <a:pPr>
              <a:spcAft>
                <a:spcPts val="900"/>
              </a:spcAft>
            </a:pPr>
            <a:r>
              <a:rPr sz="1400" b="0">
                <a:solidFill>
                  <a:srgbClr val="161B26"/>
                </a:solidFill>
                <a:latin typeface="Arial"/>
              </a:rPr>
              <a:t>•  Weather and micro-climate data</a:t>
            </a:r>
          </a:p>
          <a:p>
            <a:pPr>
              <a:spcAft>
                <a:spcPts val="900"/>
              </a:spcAft>
            </a:pPr>
            <a:r>
              <a:rPr sz="1400" b="0">
                <a:solidFill>
                  <a:srgbClr val="161B26"/>
                </a:solidFill>
                <a:latin typeface="Arial"/>
              </a:rPr>
              <a:t>•  IBM AgroPad: instant chemical test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The business value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Precision irrigation cuts water use</a:t>
            </a:r>
          </a:p>
          <a:p>
            <a:pPr>
              <a:spcAft>
                <a:spcPts val="900"/>
              </a:spcAft>
            </a:pPr>
            <a:r>
              <a:rPr sz="1400" b="0">
                <a:solidFill>
                  <a:srgbClr val="161B26"/>
                </a:solidFill>
                <a:latin typeface="Arial"/>
              </a:rPr>
              <a:t>•  Higher yield per hectare</a:t>
            </a:r>
          </a:p>
          <a:p>
            <a:pPr>
              <a:spcAft>
                <a:spcPts val="900"/>
              </a:spcAft>
            </a:pPr>
            <a:r>
              <a:rPr sz="1400" b="0">
                <a:solidFill>
                  <a:srgbClr val="161B26"/>
                </a:solidFill>
                <a:latin typeface="Arial"/>
              </a:rPr>
              <a:t>•  Lower input cost per tonne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MOBILITY &amp; SUPPLY CHAIN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Autonomous Vehicles &amp; Logistics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Autonomous driving</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Sensor fusion: radar, lidar, camera</a:t>
            </a:r>
          </a:p>
          <a:p>
            <a:pPr>
              <a:spcAft>
                <a:spcPts val="900"/>
              </a:spcAft>
            </a:pPr>
            <a:r>
              <a:rPr sz="1400" b="0">
                <a:solidFill>
                  <a:srgbClr val="161B26"/>
                </a:solidFill>
                <a:latin typeface="Arial"/>
              </a:rPr>
              <a:t>•  Driver assistance to full automation</a:t>
            </a:r>
          </a:p>
          <a:p>
            <a:pPr>
              <a:spcAft>
                <a:spcPts val="900"/>
              </a:spcAft>
            </a:pPr>
            <a:r>
              <a:rPr sz="1400" b="0">
                <a:solidFill>
                  <a:srgbClr val="161B26"/>
                </a:solidFill>
                <a:latin typeface="Arial"/>
              </a:rPr>
              <a:t>•  BMW: 30 years of development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Fleet monitoring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Location, fuel and engine telemetry</a:t>
            </a:r>
          </a:p>
          <a:p>
            <a:pPr>
              <a:spcAft>
                <a:spcPts val="900"/>
              </a:spcAft>
            </a:pPr>
            <a:r>
              <a:rPr sz="1400" b="0">
                <a:solidFill>
                  <a:srgbClr val="161B26"/>
                </a:solidFill>
                <a:latin typeface="Arial"/>
              </a:rPr>
              <a:t>•  Cold-chain temperature tracking</a:t>
            </a:r>
          </a:p>
          <a:p>
            <a:pPr>
              <a:spcAft>
                <a:spcPts val="900"/>
              </a:spcAft>
            </a:pPr>
            <a:r>
              <a:rPr sz="1400" b="0">
                <a:solidFill>
                  <a:srgbClr val="161B26"/>
                </a:solidFill>
                <a:latin typeface="Arial"/>
              </a:rPr>
              <a:t>•  Oracle IoT Fleet Monitoring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The business value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Route and fuel optimisation</a:t>
            </a:r>
          </a:p>
          <a:p>
            <a:pPr>
              <a:spcAft>
                <a:spcPts val="900"/>
              </a:spcAft>
            </a:pPr>
            <a:r>
              <a:rPr sz="1400" b="0">
                <a:solidFill>
                  <a:srgbClr val="161B26"/>
                </a:solidFill>
                <a:latin typeface="Arial"/>
              </a:rPr>
              <a:t>•  Fewer accidents and claims</a:t>
            </a:r>
          </a:p>
          <a:p>
            <a:pPr>
              <a:spcAft>
                <a:spcPts val="900"/>
              </a:spcAft>
            </a:pPr>
            <a:r>
              <a:rPr sz="1400" b="0">
                <a:solidFill>
                  <a:srgbClr val="161B26"/>
                </a:solidFill>
                <a:latin typeface="Arial"/>
              </a:rPr>
              <a:t>•  End-to-end shipment visibility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LOGISTICS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Logistics and Fleet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logistics.png"/>
          <p:cNvPicPr>
            <a:picLocks noChangeAspect="1"/>
          </p:cNvPicPr>
          <p:nvPr/>
        </p:nvPicPr>
        <p:blipFill>
          <a:blip r:embed="rId2"/>
          <a:stretch>
            <a:fillRect/>
          </a:stretch>
        </p:blipFill>
        <p:spPr>
          <a:xfrm>
            <a:off x="2629870" y="1737360"/>
            <a:ext cx="692921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Location, temperature and fuel telemetry give end-to-end shipment visibility.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SMART BUILDINGS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Smart Buildings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smart-building.png"/>
          <p:cNvPicPr>
            <a:picLocks noChangeAspect="1"/>
          </p:cNvPicPr>
          <p:nvPr/>
        </p:nvPicPr>
        <p:blipFill>
          <a:blip r:embed="rId2"/>
          <a:stretch>
            <a:fillRect/>
          </a:stretch>
        </p:blipFill>
        <p:spPr>
          <a:xfrm>
            <a:off x="2656216" y="1737360"/>
            <a:ext cx="687651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Occupancy, energy and equipment sensing cut utility cost and enable predictive maintenance.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HEALTHCARE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Healthcare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healthcare.png"/>
          <p:cNvPicPr>
            <a:picLocks noChangeAspect="1"/>
          </p:cNvPicPr>
          <p:nvPr/>
        </p:nvPicPr>
        <p:blipFill>
          <a:blip r:embed="rId2"/>
          <a:stretch>
            <a:fillRect/>
          </a:stretch>
        </p:blipFill>
        <p:spPr>
          <a:xfrm>
            <a:off x="1752881" y="1737360"/>
            <a:ext cx="86831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Continuous patient monitoring feeds the medical record and supports earlier intervention.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BUILT ENVIRONMENT, HEALTH &amp; AERIAL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Buildings, Healthcare &amp; Drones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Smart buildings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Occupancy and energy sensing</a:t>
            </a:r>
          </a:p>
          <a:p>
            <a:pPr>
              <a:spcAft>
                <a:spcPts val="900"/>
              </a:spcAft>
            </a:pPr>
            <a:r>
              <a:rPr sz="1400" b="0">
                <a:solidFill>
                  <a:srgbClr val="161B26"/>
                </a:solidFill>
                <a:latin typeface="Arial"/>
              </a:rPr>
              <a:t>•  Predictive lift &amp; HVAC maintenance</a:t>
            </a:r>
          </a:p>
          <a:p>
            <a:pPr>
              <a:spcAft>
                <a:spcPts val="900"/>
              </a:spcAft>
            </a:pPr>
            <a:r>
              <a:rPr sz="1400" b="0">
                <a:solidFill>
                  <a:srgbClr val="161B26"/>
                </a:solidFill>
                <a:latin typeface="Arial"/>
              </a:rPr>
              <a:t>•  Smart washroom servicing on demand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Healthcare &amp; wearables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Continuous patient monitoring</a:t>
            </a:r>
          </a:p>
          <a:p>
            <a:pPr>
              <a:spcAft>
                <a:spcPts val="900"/>
              </a:spcAft>
            </a:pPr>
            <a:r>
              <a:rPr sz="1400" b="0">
                <a:solidFill>
                  <a:srgbClr val="161B26"/>
                </a:solidFill>
                <a:latin typeface="Arial"/>
              </a:rPr>
              <a:t>•  Philips: data feeds the EMR securely</a:t>
            </a:r>
          </a:p>
          <a:p>
            <a:pPr>
              <a:spcAft>
                <a:spcPts val="900"/>
              </a:spcAft>
            </a:pPr>
            <a:r>
              <a:rPr sz="1400" b="0">
                <a:solidFill>
                  <a:srgbClr val="161B26"/>
                </a:solidFill>
                <a:latin typeface="Arial"/>
              </a:rPr>
              <a:t>•  Earlier clinical intervention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Drones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Aerial inspection and survey</a:t>
            </a:r>
          </a:p>
          <a:p>
            <a:pPr>
              <a:spcAft>
                <a:spcPts val="900"/>
              </a:spcAft>
            </a:pPr>
            <a:r>
              <a:rPr sz="1400" b="0">
                <a:solidFill>
                  <a:srgbClr val="161B26"/>
                </a:solidFill>
                <a:latin typeface="Arial"/>
              </a:rPr>
              <a:t>•  Singapore offshore ship delivery</a:t>
            </a:r>
          </a:p>
          <a:p>
            <a:pPr>
              <a:spcAft>
                <a:spcPts val="900"/>
              </a:spcAft>
            </a:pPr>
            <a:r>
              <a:rPr sz="1400" b="0">
                <a:solidFill>
                  <a:srgbClr val="161B26"/>
                </a:solidFill>
                <a:latin typeface="Arial"/>
              </a:rPr>
              <a:t>•  Reaches where people cannot safely go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A2 · A REPEATABLE METHOD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to Find an IoT Opportunity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Find a process that is invisible, manual or reactive today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what to MEASURE and how often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who or what ACTS on that reading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Quantify the cost of the current blind spot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Pilot on one asset before you scale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Spot an IoT Opportunity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Working from the six industry use cases, identify one process in your own organisation that is currently invisible, manual or reactive, and could be sensed instead.</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process today relies on someone physically checking something?</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would you measure, how often, and who would act on the reading?</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is the cost of the current blind spot — downtime, spoilage, overtime, penalties?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of the six use cases is closest to your scenario, and what can you borrow from it?</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One clearly stated IoT opportunity: the asset, the measurement, and the decision it improves.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Potential Opportunities of IoT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IoT opportunities exist in every sector — agriculture, mobility, logistics, buildings, health and aerial.</a:t>
            </a:r>
          </a:p>
          <a:p>
            <a:pPr>
              <a:spcAft>
                <a:spcPts val="1000"/>
              </a:spcAft>
            </a:pPr>
            <a:r>
              <a:rPr sz="1700" b="0">
                <a:solidFill>
                  <a:srgbClr val="161B26"/>
                </a:solidFill>
                <a:latin typeface="Arial"/>
              </a:rPr>
              <a:t>•  The repeating pattern: sense what was invisible, then act on it automatically.</a:t>
            </a:r>
          </a:p>
          <a:p>
            <a:pPr>
              <a:spcAft>
                <a:spcPts val="1000"/>
              </a:spcAft>
            </a:pPr>
            <a:r>
              <a:rPr sz="1700" b="0">
                <a:solidFill>
                  <a:srgbClr val="161B26"/>
                </a:solidFill>
                <a:latin typeface="Arial"/>
              </a:rPr>
              <a:t>•  Borrow the pattern from an adjacent industry rather than inventing from scratch.</a:t>
            </a:r>
          </a:p>
          <a:p>
            <a:pPr>
              <a:spcAft>
                <a:spcPts val="1000"/>
              </a:spcAft>
            </a:pPr>
            <a:r>
              <a:rPr sz="1700" b="0">
                <a:solidFill>
                  <a:srgbClr val="161B26"/>
                </a:solidFill>
                <a:latin typeface="Arial"/>
              </a:rPr>
              <a:t>•  Start from the business pain and the cost of the blind spot, not from the technology.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Technology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platforms · Post data · Read &amp; control · Analytics &amp; visualisation · Automation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A3, K2 · 60 min + 90 min practical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Technology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for IoT</a:t>
            </a:r>
          </a:p>
          <a:p>
            <a:pPr algn="l">
              <a:spcAft>
                <a:spcPts val="300"/>
              </a:spcAft>
            </a:pPr>
            <a:r>
              <a:rPr sz="1100" b="0">
                <a:solidFill>
                  <a:srgbClr val="5B6372"/>
                </a:solidFill>
                <a:latin typeface="Arial"/>
              </a:rPr>
              <a:t>A platform ingests telemetry, stores history, visualises it and triggers actions — no servers to run.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IoTFlow</a:t>
            </a:r>
          </a:p>
          <a:p>
            <a:pPr algn="l">
              <a:spcAft>
                <a:spcPts val="300"/>
              </a:spcAft>
            </a:pPr>
            <a:r>
              <a:rPr sz="1100" b="0">
                <a:solidFill>
                  <a:srgbClr val="5B6372"/>
                </a:solidFill>
                <a:latin typeface="Arial"/>
              </a:rPr>
              <a:t>Our platform: projects, devices, tokens, dashboards, alerts and automations in one place.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Uplink: posting data</a:t>
            </a:r>
          </a:p>
          <a:p>
            <a:pPr algn="l">
              <a:spcAft>
                <a:spcPts val="300"/>
              </a:spcAft>
            </a:pPr>
            <a:r>
              <a:rPr sz="1100" b="0">
                <a:solidFill>
                  <a:srgbClr val="5B6372"/>
                </a:solidFill>
                <a:latin typeface="Arial"/>
              </a:rPr>
              <a:t>Devices POST readings over HTTP REST or publish over MQTT, authenticated by a device token.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Downlink: control</a:t>
            </a:r>
          </a:p>
          <a:p>
            <a:pPr algn="l">
              <a:spcAft>
                <a:spcPts val="300"/>
              </a:spcAft>
            </a:pPr>
            <a:r>
              <a:rPr sz="1100" b="0">
                <a:solidFill>
                  <a:srgbClr val="5B6372"/>
                </a:solidFill>
                <a:latin typeface="Arial"/>
              </a:rPr>
              <a:t>Virtual pins carry commands from the dashboard back to the device to switch a relay or set a value.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Analytics &amp; visualisation</a:t>
            </a:r>
          </a:p>
          <a:p>
            <a:pPr algn="l">
              <a:spcAft>
                <a:spcPts val="300"/>
              </a:spcAft>
            </a:pPr>
            <a:r>
              <a:rPr sz="1100" b="0">
                <a:solidFill>
                  <a:srgbClr val="5B6372"/>
                </a:solidFill>
                <a:latin typeface="Arial"/>
              </a:rPr>
              <a:t>Number cards, gauges, charts and maps turn raw readings into an operational picture.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Automation &amp; AI</a:t>
            </a:r>
          </a:p>
          <a:p>
            <a:pPr algn="l">
              <a:spcAft>
                <a:spcPts val="300"/>
              </a:spcAft>
            </a:pPr>
            <a:r>
              <a:rPr sz="1100" b="0">
                <a:solidFill>
                  <a:srgbClr val="5B6372"/>
                </a:solidFill>
                <a:latin typeface="Arial"/>
              </a:rPr>
              <a:t>Rules and n8n workflows notify, log and let AI summarise readings and recommend an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CLOUD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Cloud Computing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the cloud</a:t>
            </a:r>
          </a:p>
          <a:p>
            <a:pPr algn="l">
              <a:spcAft>
                <a:spcPts val="300"/>
              </a:spcAft>
            </a:pPr>
            <a:r>
              <a:rPr sz="1200" b="0">
                <a:solidFill>
                  <a:srgbClr val="5B6372"/>
                </a:solidFill>
                <a:latin typeface="Arial"/>
              </a:rPr>
              <a:t>Devices are small and intermittent; the cloud gives storage, compute and availability they cannot.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a platform does</a:t>
            </a:r>
          </a:p>
          <a:p>
            <a:pPr algn="l">
              <a:spcAft>
                <a:spcPts val="300"/>
              </a:spcAft>
            </a:pPr>
            <a:r>
              <a:rPr sz="1200" b="0">
                <a:solidFill>
                  <a:srgbClr val="5B6372"/>
                </a:solidFill>
                <a:latin typeface="Arial"/>
              </a:rPr>
              <a:t>Ingest telemetry, store history, visualise it, raise alerts and trigger actions.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servers to run</a:t>
            </a:r>
          </a:p>
          <a:p>
            <a:pPr algn="l">
              <a:spcAft>
                <a:spcPts val="300"/>
              </a:spcAft>
            </a:pPr>
            <a:r>
              <a:rPr sz="1200" b="0">
                <a:solidFill>
                  <a:srgbClr val="5B6372"/>
                </a:solidFill>
                <a:latin typeface="Arial"/>
              </a:rPr>
              <a:t>A managed IoT platform removes the infrastructure work so you focus on the business logic.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Scales with you</a:t>
            </a:r>
          </a:p>
          <a:p>
            <a:pPr algn="l">
              <a:spcAft>
                <a:spcPts val="300"/>
              </a:spcAft>
            </a:pPr>
            <a:r>
              <a:rPr sz="1200" b="0">
                <a:solidFill>
                  <a:srgbClr val="5B6372"/>
                </a:solidFill>
                <a:latin typeface="Arial"/>
              </a:rPr>
              <a:t>One device or ten thousand — the same architecture, priced by what you actually 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THE CLOUD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Cloud Computing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ud-computing.png"/>
          <p:cNvPicPr>
            <a:picLocks noChangeAspect="1"/>
          </p:cNvPicPr>
          <p:nvPr/>
        </p:nvPicPr>
        <p:blipFill>
          <a:blip r:embed="rId2"/>
          <a:stretch>
            <a:fillRect/>
          </a:stretch>
        </p:blipFill>
        <p:spPr>
          <a:xfrm>
            <a:off x="3553700" y="1737360"/>
            <a:ext cx="508155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cloud gives constrained devices the storage, compute and availability they lack.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OUR PLATFORM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IoTFlow — https://iot.tertiaryinfotech.com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flow-home.png"/>
          <p:cNvPicPr>
            <a:picLocks noChangeAspect="1"/>
          </p:cNvPicPr>
          <p:nvPr/>
        </p:nvPicPr>
        <p:blipFill>
          <a:blip r:embed="rId2"/>
          <a:stretch>
            <a:fillRect/>
          </a:stretch>
        </p:blipFill>
        <p:spPr>
          <a:xfrm>
            <a:off x="2471382" y="1737360"/>
            <a:ext cx="724618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platform you will use for every lab in this course.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https://iot.tertiaryinfotech.com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IoTFlow — Our IoT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Projects</a:t>
            </a:r>
          </a:p>
          <a:p>
            <a:pPr algn="l">
              <a:spcAft>
                <a:spcPts val="300"/>
              </a:spcAft>
            </a:pPr>
            <a:r>
              <a:rPr sz="1100" b="0">
                <a:solidFill>
                  <a:srgbClr val="5B6372"/>
                </a:solidFill>
                <a:latin typeface="Arial"/>
              </a:rPr>
              <a:t>A self-contained workspace with its own devices, dashboard, alerts, map and automations.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Devices &amp; tokens</a:t>
            </a:r>
          </a:p>
          <a:p>
            <a:pPr algn="l">
              <a:spcAft>
                <a:spcPts val="300"/>
              </a:spcAft>
            </a:pPr>
            <a:r>
              <a:rPr sz="1100" b="0">
                <a:solidFill>
                  <a:srgbClr val="5B6372"/>
                </a:solidFill>
                <a:latin typeface="Arial"/>
              </a:rPr>
              <a:t>Register a device in a guided wizard; a device token authenticates every message it sends.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HTTP &amp; MQTT</a:t>
            </a:r>
          </a:p>
          <a:p>
            <a:pPr algn="l">
              <a:spcAft>
                <a:spcPts val="300"/>
              </a:spcAft>
            </a:pPr>
            <a:r>
              <a:rPr sz="1100" b="0">
                <a:solidFill>
                  <a:srgbClr val="5B6372"/>
                </a:solidFill>
                <a:latin typeface="Arial"/>
              </a:rPr>
              <a:t>POST JSON to a REST endpoint, or publish/subscribe over MQTT for real-time two-way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Dashboards</a:t>
            </a:r>
          </a:p>
          <a:p>
            <a:pPr algn="l">
              <a:spcAft>
                <a:spcPts val="300"/>
              </a:spcAft>
            </a:pPr>
            <a:r>
              <a:rPr sz="1100" b="0">
                <a:solidFill>
                  <a:srgbClr val="5B6372"/>
                </a:solidFill>
                <a:latin typeface="Arial"/>
              </a:rPr>
              <a:t>Number cards, gauges, charts, LED indicators and maps that refresh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Alerts &amp; automations</a:t>
            </a:r>
          </a:p>
          <a:p>
            <a:pPr algn="l">
              <a:spcAft>
                <a:spcPts val="300"/>
              </a:spcAft>
            </a:pPr>
            <a:r>
              <a:rPr sz="1100" b="0">
                <a:solidFill>
                  <a:srgbClr val="5B6372"/>
                </a:solidFill>
                <a:latin typeface="Arial"/>
              </a:rPr>
              <a:t>Threshold and offline rules that fire a webhook into an n8n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Clients</a:t>
            </a:r>
          </a:p>
          <a:p>
            <a:pPr algn="l">
              <a:spcAft>
                <a:spcPts val="300"/>
              </a:spcAft>
            </a:pPr>
            <a:r>
              <a:rPr sz="1100" b="0">
                <a:solidFill>
                  <a:srgbClr val="5B6372"/>
                </a:solidFill>
                <a:latin typeface="Arial"/>
              </a:rPr>
              <a:t>Official Python client (pip install iotflow) and an Arduino library for ESP32/ESP8266.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A3 · HOW DIGITISATION REACHES THE BUSINESS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IoT Data Round Trip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DEVICE reads a sensor value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UPLINK posts it over HTTP or MQTT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CLOUD stores, charts and evaluates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 a person or an automation acts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DOWNLINK sends a command back to the device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PROTOCOLS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MQTT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w-mqtt-works.png"/>
          <p:cNvPicPr>
            <a:picLocks noChangeAspect="1"/>
          </p:cNvPicPr>
          <p:nvPr/>
        </p:nvPicPr>
        <p:blipFill>
          <a:blip r:embed="rId2"/>
          <a:stretch>
            <a:fillRect/>
          </a:stretch>
        </p:blipFill>
        <p:spPr>
          <a:xfrm>
            <a:off x="2619406" y="1737360"/>
            <a:ext cx="695014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Publish/subscribe: devices publish to a topic and the broker delivers to every subscriber.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DIRECTIONS, TWO PURPOSES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Uplink vs Downlink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Monitoring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Control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Uplink — telemetry</a:t>
            </a:r>
          </a:p>
          <a:p>
            <a:pPr>
              <a:spcAft>
                <a:spcPts val="1000"/>
              </a:spcAft>
            </a:pPr>
            <a:r>
              <a:rPr sz="1400" b="0">
                <a:solidFill>
                  <a:srgbClr val="5B6372"/>
                </a:solidFill>
                <a:latin typeface="Arial"/>
              </a:rPr>
              <a:t>–  Device → cloud</a:t>
            </a:r>
          </a:p>
          <a:p>
            <a:pPr>
              <a:spcAft>
                <a:spcPts val="1000"/>
              </a:spcAft>
            </a:pPr>
            <a:r>
              <a:rPr sz="1400" b="0">
                <a:solidFill>
                  <a:srgbClr val="5B6372"/>
                </a:solidFill>
                <a:latin typeface="Arial"/>
              </a:rPr>
              <a:t>–  Sensor readings and status</a:t>
            </a:r>
          </a:p>
          <a:p>
            <a:pPr>
              <a:spcAft>
                <a:spcPts val="1000"/>
              </a:spcAft>
            </a:pPr>
            <a:r>
              <a:rPr sz="1400" b="0">
                <a:solidFill>
                  <a:srgbClr val="5B6372"/>
                </a:solidFill>
                <a:latin typeface="Arial"/>
              </a:rPr>
              <a:t>–  HTTP POST /api/telemetry</a:t>
            </a:r>
          </a:p>
          <a:p>
            <a:pPr>
              <a:spcAft>
                <a:spcPts val="1000"/>
              </a:spcAft>
            </a:pPr>
            <a:r>
              <a:rPr sz="1400" b="0">
                <a:solidFill>
                  <a:srgbClr val="5B6372"/>
                </a:solidFill>
                <a:latin typeface="Arial"/>
              </a:rPr>
              <a:t>–  or MQTT publish</a:t>
            </a:r>
          </a:p>
          <a:p>
            <a:pPr>
              <a:spcAft>
                <a:spcPts val="1000"/>
              </a:spcAft>
            </a:pPr>
            <a:r>
              <a:rPr sz="1400" b="0">
                <a:solidFill>
                  <a:srgbClr val="5B6372"/>
                </a:solidFill>
                <a:latin typeface="Arial"/>
              </a:rPr>
              <a:t>–  This is your monitoring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Downlink — commands</a:t>
            </a:r>
          </a:p>
          <a:p>
            <a:pPr>
              <a:spcAft>
                <a:spcPts val="1000"/>
              </a:spcAft>
            </a:pPr>
            <a:r>
              <a:rPr sz="1400" b="0">
                <a:solidFill>
                  <a:srgbClr val="5B6372"/>
                </a:solidFill>
                <a:latin typeface="Arial"/>
              </a:rPr>
              <a:t>–  Cloud → device</a:t>
            </a:r>
          </a:p>
          <a:p>
            <a:pPr>
              <a:spcAft>
                <a:spcPts val="1000"/>
              </a:spcAft>
            </a:pPr>
            <a:r>
              <a:rPr sz="1400" b="0">
                <a:solidFill>
                  <a:srgbClr val="5B6372"/>
                </a:solidFill>
                <a:latin typeface="Arial"/>
              </a:rPr>
              <a:t>–  Switch a relay, set a value</a:t>
            </a:r>
          </a:p>
          <a:p>
            <a:pPr>
              <a:spcAft>
                <a:spcPts val="1000"/>
              </a:spcAft>
            </a:pPr>
            <a:r>
              <a:rPr sz="1400" b="0">
                <a:solidFill>
                  <a:srgbClr val="5B6372"/>
                </a:solidFill>
                <a:latin typeface="Arial"/>
              </a:rPr>
              <a:t>–  MQTT topic devices/&lt;id&gt;/down</a:t>
            </a:r>
          </a:p>
          <a:p>
            <a:pPr>
              <a:spcAft>
                <a:spcPts val="1000"/>
              </a:spcAft>
            </a:pPr>
            <a:r>
              <a:rPr sz="1400" b="0">
                <a:solidFill>
                  <a:srgbClr val="5B6372"/>
                </a:solidFill>
                <a:latin typeface="Arial"/>
              </a:rPr>
              <a:t>–  or HTTP state polling</a:t>
            </a:r>
          </a:p>
          <a:p>
            <a:pPr>
              <a:spcAft>
                <a:spcPts val="1000"/>
              </a:spcAft>
            </a:pPr>
            <a:r>
              <a:rPr sz="1400" b="0">
                <a:solidFill>
                  <a:srgbClr val="5B6372"/>
                </a:solidFill>
                <a:latin typeface="Arial"/>
              </a:rPr>
              <a:t>–  This is your automation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ANALYTICS, VISUALISATION &amp; AUTOMATION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Turning Data into Business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Visualise</a:t>
            </a:r>
          </a:p>
          <a:p>
            <a:pPr algn="l">
              <a:spcAft>
                <a:spcPts val="300"/>
              </a:spcAft>
            </a:pPr>
            <a:r>
              <a:rPr sz="1100" b="0">
                <a:solidFill>
                  <a:srgbClr val="5B6372"/>
                </a:solidFill>
                <a:latin typeface="Arial"/>
              </a:rPr>
              <a:t>Number cards, gauges, line charts and maps make current performance obvious at a glance.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Detect</a:t>
            </a:r>
          </a:p>
          <a:p>
            <a:pPr algn="l">
              <a:spcAft>
                <a:spcPts val="300"/>
              </a:spcAft>
            </a:pPr>
            <a:r>
              <a:rPr sz="1100" b="0">
                <a:solidFill>
                  <a:srgbClr val="5B6372"/>
                </a:solidFill>
                <a:latin typeface="Arial"/>
              </a:rPr>
              <a:t>Alert rules fire the moment a reading crosses a business-meaningful threshold.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Notify</a:t>
            </a:r>
          </a:p>
          <a:p>
            <a:pPr algn="l">
              <a:spcAft>
                <a:spcPts val="300"/>
              </a:spcAft>
            </a:pPr>
            <a:r>
              <a:rPr sz="1100" b="0">
                <a:solidFill>
                  <a:srgbClr val="5B6372"/>
                </a:solidFill>
                <a:latin typeface="Arial"/>
              </a:rPr>
              <a:t>Automations push the event to email, Telegram or WhatsApp so the right person knows.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a:t>
            </a:r>
          </a:p>
          <a:p>
            <a:pPr algn="l">
              <a:spcAft>
                <a:spcPts val="300"/>
              </a:spcAft>
            </a:pPr>
            <a:r>
              <a:rPr sz="1100" b="0">
                <a:solidFill>
                  <a:srgbClr val="5B6372"/>
                </a:solidFill>
                <a:latin typeface="Arial"/>
              </a:rPr>
              <a:t>Append every event to a sheet or database to build the history the business case needs.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Analyse with AI</a:t>
            </a:r>
          </a:p>
          <a:p>
            <a:pPr algn="l">
              <a:spcAft>
                <a:spcPts val="300"/>
              </a:spcAft>
            </a:pPr>
            <a:r>
              <a:rPr sz="1100" b="0">
                <a:solidFill>
                  <a:srgbClr val="5B6372"/>
                </a:solidFill>
                <a:latin typeface="Arial"/>
              </a:rPr>
              <a:t>An AI node summarises recent readings and recommends an action in plain language.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 automatically</a:t>
            </a:r>
          </a:p>
          <a:p>
            <a:pPr algn="l">
              <a:spcAft>
                <a:spcPts val="300"/>
              </a:spcAft>
            </a:pPr>
            <a:r>
              <a:rPr sz="1100" b="0">
                <a:solidFill>
                  <a:srgbClr val="5B6372"/>
                </a:solidFill>
                <a:latin typeface="Arial"/>
              </a:rPr>
              <a:t>Close the loop — send a command back to the device with no human in the middle.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03 · PRACTICAL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Practical — 90 minutes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Four labs on IoTFlow (https://iot.tertiaryinfotech.com). Step-by-step instructions are in your Learner Guide — follow along there.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Hands-On Labs — IoT Technology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Register your first IoT device</a:t>
            </a:r>
          </a:p>
          <a:p>
            <a:pPr>
              <a:spcAft>
                <a:spcPts val="900"/>
              </a:spcAft>
            </a:pPr>
            <a:r>
              <a:rPr sz="1400" b="0">
                <a:solidFill>
                  <a:srgbClr val="161B26"/>
                </a:solidFill>
                <a:latin typeface="Arial"/>
              </a:rPr>
              <a:t>•  Post business data to the cloud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Read data back</a:t>
            </a:r>
          </a:p>
          <a:p>
            <a:pPr>
              <a:spcAft>
                <a:spcPts val="900"/>
              </a:spcAft>
            </a:pPr>
            <a:r>
              <a:rPr sz="1400" b="0">
                <a:solidFill>
                  <a:srgbClr val="161B26"/>
                </a:solidFill>
                <a:latin typeface="Arial"/>
              </a:rPr>
              <a:t>•  Remotely control the asset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Dashboard, alerts &amp; AI automation</a:t>
            </a:r>
          </a:p>
          <a:p>
            <a:pPr>
              <a:spcAft>
                <a:spcPts val="900"/>
              </a:spcAft>
            </a:pPr>
            <a:r>
              <a:rPr sz="1400" b="0">
                <a:solidFill>
                  <a:srgbClr val="161B26"/>
                </a:solidFill>
                <a:latin typeface="Arial"/>
              </a:rPr>
              <a:t>•  Turn data into a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Register Your First IoT Device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Identify how digitisation is applied to a business asset by connecting it to the cloud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Turn a physical asset into a digital one. You sign in to IoTFlow, create a project workspace for your business scenario, register a device through the Add Device wizard, choose how it will talk to the cloud (HTTP or MQTT), and capture the device token that authenticates every message it sends.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registered IoT device in your own IoTFlow project, with its device token saved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This is the first step of digitisation: an asset that was previously invisible to the business now has an identity, an owner and a data stream that can be measured and managed.</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IoTFlow projects · Add Device wizard · Device tokens · HTTP &amp; MQTT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1 — Register Your First IoT Device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1-add-device.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registered IoT device in your own IoTFlow project, with its device token saved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Post Business Data to the Cloud (HTTP &amp; MQTT)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Apply digitisation by streaming operational data from the asset to the cloud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Send readings to IoTFlow three different ways — cURL from any terminal, the Python client, and (optionally) an ESP32/ESP8266 over MQTT — and watch them arrive live. This is the uplink that every IoT business case depends on: without a reliable data stream there is nothing to analyse.</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Live temperature and humidity telemetry streaming into IoTFlow from terminal and Python</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Each reading is an operational fact with a timestamp. Once the stream exists, the business can ask questions it previously could not answer — how often, how long, how bad, and at what cost.</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Telemetry REST API · Python client (pip install iotflow) · MQTT broker · ESP32/ESP8266</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2 — Post Business Data to the Cloud (HTTP &amp; MQTT)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send-reading.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Live temperature and humidity telemetry streaming into IoTFlow from terminal and Python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Read Data Back and Remotely Control the Asset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Close the loop between cloud data and physical action — the basis of an IoT business process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Read device state back out of the cloud over the REST API and MQTT, then add Control widgets (switch, slider) bound to virtual pins and drive the device from the dashboard. Reading data is monitoring; sending commands back is automation — and that is where the labour savings appear.</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dashboard switch and slider that control a relay/LED on the device in real time</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Monitoring tells you what happened. Control lets the system act without a person driving out to the site — this is usually the single largest line in an IoT cost-benefit case.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REST API (GET /api/device/state) · MQTT subscribe · Control widgets · Virtual pins · @on_command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3 — Read Data Back and Remotely Control the Asset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control-device.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dashboard switch and slider that control a relay/LED on the device in real time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Turn IoT Data into Business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Use analytics, visualisation and automation to turn raw telemetry into a business decision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Build a live dashboard from your readings — number cards, gauges, charts, LED indicators and maps — then set a threshold alert and hand it to an n8n workflow that notifies the team, logs the event and asks an AI node to summarise the readings and recommend an action.</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monitoring dashboard plus an alert-driven n8n workflow with an AI summary and a downlink command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This is the slide the board actually sees. A dashboard makes performance visible, an alert makes it timely, and the AI summary turns a stream of numbers into a recommended action.</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Display widgets · Alert rules · IoTFlow Automations · n8n Webhook · Email/Telegram · Google Sheets · AI nodes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4 — Turn IoT Data into Business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dashboard.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monitoring dashboard plus an alert-driven n8n workflow with an AI summary and a downlink command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PRACTICAL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the Labs Proved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Any asset can be digitised</a:t>
            </a:r>
          </a:p>
          <a:p>
            <a:pPr algn="l">
              <a:spcAft>
                <a:spcPts val="300"/>
              </a:spcAft>
            </a:pPr>
            <a:r>
              <a:rPr sz="1200" b="0">
                <a:solidFill>
                  <a:srgbClr val="5B6372"/>
                </a:solidFill>
                <a:latin typeface="Arial"/>
              </a:rPr>
              <a:t>A token and a few lines of code put a physical thing on the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arrives in seconds</a:t>
            </a:r>
          </a:p>
          <a:p>
            <a:pPr algn="l">
              <a:spcAft>
                <a:spcPts val="300"/>
              </a:spcAft>
            </a:pPr>
            <a:r>
              <a:rPr sz="1200" b="0">
                <a:solidFill>
                  <a:srgbClr val="5B6372"/>
                </a:solidFill>
                <a:latin typeface="Arial"/>
              </a:rPr>
              <a:t>The dashboard updated live as each reading was posted.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 closes the loop</a:t>
            </a:r>
          </a:p>
          <a:p>
            <a:pPr algn="l">
              <a:spcAft>
                <a:spcPts val="300"/>
              </a:spcAft>
            </a:pPr>
            <a:r>
              <a:rPr sz="1200" b="0">
                <a:solidFill>
                  <a:srgbClr val="5B6372"/>
                </a:solidFill>
                <a:latin typeface="Arial"/>
              </a:rPr>
              <a:t>A command from the dashboard changed the device state remotely.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Insight can be automatic</a:t>
            </a:r>
          </a:p>
          <a:p>
            <a:pPr algn="l">
              <a:spcAft>
                <a:spcPts val="300"/>
              </a:spcAft>
            </a:pPr>
            <a:r>
              <a:rPr sz="1200" b="0">
                <a:solidFill>
                  <a:srgbClr val="5B6372"/>
                </a:solidFill>
                <a:latin typeface="Arial"/>
              </a:rPr>
              <a:t>A threshold fired a workflow that notified, logged and recommended an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Technology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IoT platform ingests telemetry, stores it, visualises it and triggers actions — with no servers to run.</a:t>
            </a:r>
          </a:p>
          <a:p>
            <a:pPr>
              <a:spcAft>
                <a:spcPts val="1000"/>
              </a:spcAft>
            </a:pPr>
            <a:r>
              <a:rPr sz="1700" b="0">
                <a:solidFill>
                  <a:srgbClr val="161B26"/>
                </a:solidFill>
                <a:latin typeface="Arial"/>
              </a:rPr>
              <a:t>•  Uplink carries sensor readings to the cloud; downlink carries commands back to the device.</a:t>
            </a:r>
          </a:p>
          <a:p>
            <a:pPr>
              <a:spcAft>
                <a:spcPts val="1000"/>
              </a:spcAft>
            </a:pPr>
            <a:r>
              <a:rPr sz="1700" b="0">
                <a:solidFill>
                  <a:srgbClr val="161B26"/>
                </a:solidFill>
                <a:latin typeface="Arial"/>
              </a:rPr>
              <a:t>•  Dashboards make performance visible; alert rules make problems timely.</a:t>
            </a:r>
          </a:p>
          <a:p>
            <a:pPr>
              <a:spcAft>
                <a:spcPts val="1000"/>
              </a:spcAft>
            </a:pPr>
            <a:r>
              <a:rPr sz="1700" b="0">
                <a:solidFill>
                  <a:srgbClr val="161B26"/>
                </a:solidFill>
                <a:latin typeface="Arial"/>
              </a:rPr>
              <a:t>•  Automations and AI turn a stream of readings into a recommended business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Adoption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Adoption challenges · IoT security · Edge computing · Cost-benefit analysis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A4, K3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Adoption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Barriers to adoption</a:t>
            </a:r>
          </a:p>
          <a:p>
            <a:pPr algn="l">
              <a:spcAft>
                <a:spcPts val="300"/>
              </a:spcAft>
            </a:pPr>
            <a:r>
              <a:rPr sz="1100" b="0">
                <a:solidFill>
                  <a:srgbClr val="5B6372"/>
                </a:solidFill>
                <a:latin typeface="Arial"/>
              </a:rPr>
              <a:t>Data privacy, security, cost, skills gaps, weak standards and interoperability with legacy systems.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IoT security differs</a:t>
            </a:r>
          </a:p>
          <a:p>
            <a:pPr algn="l">
              <a:spcAft>
                <a:spcPts val="300"/>
              </a:spcAft>
            </a:pPr>
            <a:r>
              <a:rPr sz="1100" b="0">
                <a:solidFill>
                  <a:srgbClr val="5B6372"/>
                </a:solidFill>
                <a:latin typeface="Arial"/>
              </a:rPr>
              <a:t>Constrained devices, long unattended lifetimes and physical consequences to a breach.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Mirai botnet</a:t>
            </a:r>
          </a:p>
          <a:p>
            <a:pPr algn="l">
              <a:spcAft>
                <a:spcPts val="300"/>
              </a:spcAft>
            </a:pPr>
            <a:r>
              <a:rPr sz="1100" b="0">
                <a:solidFill>
                  <a:srgbClr val="5B6372"/>
                </a:solidFill>
                <a:latin typeface="Arial"/>
              </a:rPr>
              <a:t>Default credentials on cameras and routers built a botnet that took down much of the US east coast.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Edge computing</a:t>
            </a:r>
          </a:p>
          <a:p>
            <a:pPr algn="l">
              <a:spcAft>
                <a:spcPts val="300"/>
              </a:spcAft>
            </a:pPr>
            <a:r>
              <a:rPr sz="1100" b="0">
                <a:solidFill>
                  <a:srgbClr val="5B6372"/>
                </a:solidFill>
                <a:latin typeface="Arial"/>
              </a:rPr>
              <a:t>Processing near the source cuts latency, bandwidth and cost, and keeps sensitive data local.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Falling hardware cost</a:t>
            </a:r>
          </a:p>
          <a:p>
            <a:pPr algn="l">
              <a:spcAft>
                <a:spcPts val="300"/>
              </a:spcAft>
            </a:pPr>
            <a:r>
              <a:rPr sz="1100" b="0">
                <a:solidFill>
                  <a:srgbClr val="5B6372"/>
                </a:solidFill>
                <a:latin typeface="Arial"/>
              </a:rPr>
              <a:t>Sensor, gateway and connectivity prices keep dropping, improving the business case each year.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Cost-benefit analysis</a:t>
            </a:r>
          </a:p>
          <a:p>
            <a:pPr algn="l">
              <a:spcAft>
                <a:spcPts val="300"/>
              </a:spcAft>
            </a:pPr>
            <a:r>
              <a:rPr sz="1100" b="0">
                <a:solidFill>
                  <a:srgbClr val="5B6372"/>
                </a:solidFill>
                <a:latin typeface="Arial"/>
              </a:rPr>
              <a:t>Weigh hardware, connectivity, platform and integration against savings, uptime and new revenue.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 BARRIERS TO IoT ADOPTION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Why Organisations Hold 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privacy</a:t>
            </a:r>
          </a:p>
          <a:p>
            <a:pPr algn="l">
              <a:spcAft>
                <a:spcPts val="300"/>
              </a:spcAft>
            </a:pPr>
            <a:r>
              <a:rPr sz="1100" b="0">
                <a:solidFill>
                  <a:srgbClr val="5B6372"/>
                </a:solidFill>
                <a:latin typeface="Arial"/>
              </a:rPr>
              <a:t>Who owns the data, where does it live, and what does the law require?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a:t>
            </a:r>
          </a:p>
          <a:p>
            <a:pPr algn="l">
              <a:spcAft>
                <a:spcPts val="300"/>
              </a:spcAft>
            </a:pPr>
            <a:r>
              <a:rPr sz="1100" b="0">
                <a:solidFill>
                  <a:srgbClr val="5B6372"/>
                </a:solidFill>
                <a:latin typeface="Arial"/>
              </a:rPr>
              <a:t>Connected devices widen the attack surface into the physical world.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 of implementation</a:t>
            </a:r>
          </a:p>
          <a:p>
            <a:pPr algn="l">
              <a:spcAft>
                <a:spcPts val="300"/>
              </a:spcAft>
            </a:pPr>
            <a:r>
              <a:rPr sz="1100" b="0">
                <a:solidFill>
                  <a:srgbClr val="5B6372"/>
                </a:solidFill>
                <a:latin typeface="Arial"/>
              </a:rPr>
              <a:t>Hardware, integration and change management, not just the sensors.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gap</a:t>
            </a:r>
          </a:p>
          <a:p>
            <a:pPr algn="l">
              <a:spcAft>
                <a:spcPts val="300"/>
              </a:spcAft>
            </a:pPr>
            <a:r>
              <a:rPr sz="1100" b="0">
                <a:solidFill>
                  <a:srgbClr val="5B6372"/>
                </a:solidFill>
                <a:latin typeface="Arial"/>
              </a:rPr>
              <a:t>Teams do not know which solutions exist or how to evaluate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Legacy &amp; interoperability</a:t>
            </a:r>
          </a:p>
          <a:p>
            <a:pPr algn="l">
              <a:spcAft>
                <a:spcPts val="300"/>
              </a:spcAft>
            </a:pPr>
            <a:r>
              <a:rPr sz="1100" b="0">
                <a:solidFill>
                  <a:srgbClr val="5B6372"/>
                </a:solidFill>
                <a:latin typeface="Arial"/>
              </a:rPr>
              <a:t>Existing systems do not speak the same protocols.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Unproven benefit</a:t>
            </a:r>
          </a:p>
          <a:p>
            <a:pPr algn="l">
              <a:spcAft>
                <a:spcPts val="300"/>
              </a:spcAft>
            </a:pPr>
            <a:r>
              <a:rPr sz="1100" b="0">
                <a:solidFill>
                  <a:srgbClr val="5B6372"/>
                </a:solidFill>
                <a:latin typeface="Arial"/>
              </a:rPr>
              <a:t>Uncertainty that IoT will actually deliver what was promised.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RISK FACTORS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Security — Why It Is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Constrained devices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Microcontrollers, not servers</a:t>
            </a:r>
          </a:p>
          <a:p>
            <a:pPr>
              <a:spcAft>
                <a:spcPts val="900"/>
              </a:spcAft>
            </a:pPr>
            <a:r>
              <a:rPr sz="1400" b="0">
                <a:solidFill>
                  <a:srgbClr val="161B26"/>
                </a:solidFill>
                <a:latin typeface="Arial"/>
              </a:rPr>
              <a:t>•  Often battery powered</a:t>
            </a:r>
          </a:p>
          <a:p>
            <a:pPr>
              <a:spcAft>
                <a:spcPts val="900"/>
              </a:spcAft>
            </a:pPr>
            <a:r>
              <a:rPr sz="1400" b="0">
                <a:solidFill>
                  <a:srgbClr val="161B26"/>
                </a:solidFill>
                <a:latin typeface="Arial"/>
              </a:rPr>
              <a:t>•  May not support TLS/SSL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Unattended &amp; long-lived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for years without supervision</a:t>
            </a:r>
          </a:p>
          <a:p>
            <a:pPr>
              <a:spcAft>
                <a:spcPts val="900"/>
              </a:spcAft>
            </a:pPr>
            <a:r>
              <a:rPr sz="1400" b="0">
                <a:solidFill>
                  <a:srgbClr val="161B26"/>
                </a:solidFill>
                <a:latin typeface="Arial"/>
              </a:rPr>
              <a:t>•  Patching is inconvenient</a:t>
            </a:r>
          </a:p>
          <a:p>
            <a:pPr>
              <a:spcAft>
                <a:spcPts val="900"/>
              </a:spcAft>
            </a:pPr>
            <a:r>
              <a:rPr sz="1400" b="0">
                <a:solidFill>
                  <a:srgbClr val="161B26"/>
                </a:solidFill>
                <a:latin typeface="Arial"/>
              </a:rPr>
              <a:t>•  Rogue devices go unnoticed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Physical consequences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IT breach leaks data</a:t>
            </a:r>
          </a:p>
          <a:p>
            <a:pPr>
              <a:spcAft>
                <a:spcPts val="900"/>
              </a:spcAft>
            </a:pPr>
            <a:r>
              <a:rPr sz="1400" b="0">
                <a:solidFill>
                  <a:srgbClr val="161B26"/>
                </a:solidFill>
                <a:latin typeface="Arial"/>
              </a:rPr>
              <a:t>•  IoT breach can cause harm</a:t>
            </a:r>
          </a:p>
          <a:p>
            <a:pPr>
              <a:spcAft>
                <a:spcPts val="900"/>
              </a:spcAft>
            </a:pPr>
            <a:r>
              <a:rPr sz="1400" b="0">
                <a:solidFill>
                  <a:srgbClr val="161B26"/>
                </a:solidFill>
                <a:latin typeface="Arial"/>
              </a:rPr>
              <a:t>•  Safety-critical systems at risk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SECURITY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Security Is a Top Concern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security-concern.png"/>
          <p:cNvPicPr>
            <a:picLocks noChangeAspect="1"/>
          </p:cNvPicPr>
          <p:nvPr/>
        </p:nvPicPr>
        <p:blipFill>
          <a:blip r:embed="rId2"/>
          <a:stretch>
            <a:fillRect/>
          </a:stretch>
        </p:blipFill>
        <p:spPr>
          <a:xfrm>
            <a:off x="2397524" y="1737360"/>
            <a:ext cx="739390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Security and data privacy are consistently the biggest barriers to IoT adoption.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CASE STUDY · WHY DEVICE SECURITY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Mirai botnet, 12 October 2016.</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Default credentials on cameras and routers were harvested into a botnet whose DDoS attack took much of the US east coast offline — an unsecured device is everyone's problem.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SOLUTION STACK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Four Stages of an IoT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SENSE — devices and sensors capture the physical state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CONNECT — gateways and networks carry the data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PROCESS — cloud or edge analyses and stores it</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ACT — dashboards, alerts and automations drive the decision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WHERE SHOULD THE PROCESSING HAPPEN?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Edge vs Cloud Processing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Near the data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Central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Edge computing</a:t>
            </a:r>
          </a:p>
          <a:p>
            <a:pPr>
              <a:spcAft>
                <a:spcPts val="1000"/>
              </a:spcAft>
            </a:pPr>
            <a:r>
              <a:rPr sz="1400" b="0">
                <a:solidFill>
                  <a:srgbClr val="5B6372"/>
                </a:solidFill>
                <a:latin typeface="Arial"/>
              </a:rPr>
              <a:t>–  Process at or near the device</a:t>
            </a:r>
          </a:p>
          <a:p>
            <a:pPr>
              <a:spcAft>
                <a:spcPts val="1000"/>
              </a:spcAft>
            </a:pPr>
            <a:r>
              <a:rPr sz="1400" b="0">
                <a:solidFill>
                  <a:srgbClr val="5B6372"/>
                </a:solidFill>
                <a:latin typeface="Arial"/>
              </a:rPr>
              <a:t>–  Lower latency — acts immediately</a:t>
            </a:r>
          </a:p>
          <a:p>
            <a:pPr>
              <a:spcAft>
                <a:spcPts val="1000"/>
              </a:spcAft>
            </a:pPr>
            <a:r>
              <a:rPr sz="1400" b="0">
                <a:solidFill>
                  <a:srgbClr val="5B6372"/>
                </a:solidFill>
                <a:latin typeface="Arial"/>
              </a:rPr>
              <a:t>–  Less bandwidth and lower cost</a:t>
            </a:r>
          </a:p>
          <a:p>
            <a:pPr>
              <a:spcAft>
                <a:spcPts val="1000"/>
              </a:spcAft>
            </a:pPr>
            <a:r>
              <a:rPr sz="1400" b="0">
                <a:solidFill>
                  <a:srgbClr val="5B6372"/>
                </a:solidFill>
                <a:latin typeface="Arial"/>
              </a:rPr>
              <a:t>–  Sensitive data stays local</a:t>
            </a:r>
          </a:p>
          <a:p>
            <a:pPr>
              <a:spcAft>
                <a:spcPts val="1000"/>
              </a:spcAft>
            </a:pPr>
            <a:r>
              <a:rPr sz="1400" b="0">
                <a:solidFill>
                  <a:srgbClr val="5B6372"/>
                </a:solidFill>
                <a:latin typeface="Arial"/>
              </a:rPr>
              <a:t>–  Limited compute and storage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Cloud computing</a:t>
            </a:r>
          </a:p>
          <a:p>
            <a:pPr>
              <a:spcAft>
                <a:spcPts val="1000"/>
              </a:spcAft>
            </a:pPr>
            <a:r>
              <a:rPr sz="1400" b="0">
                <a:solidFill>
                  <a:srgbClr val="5B6372"/>
                </a:solidFill>
                <a:latin typeface="Arial"/>
              </a:rPr>
              <a:t>–  Process in the data centre</a:t>
            </a:r>
          </a:p>
          <a:p>
            <a:pPr>
              <a:spcAft>
                <a:spcPts val="1000"/>
              </a:spcAft>
            </a:pPr>
            <a:r>
              <a:rPr sz="1400" b="0">
                <a:solidFill>
                  <a:srgbClr val="5B6372"/>
                </a:solidFill>
                <a:latin typeface="Arial"/>
              </a:rPr>
              <a:t>–  Unlimited compute and history</a:t>
            </a:r>
          </a:p>
          <a:p>
            <a:pPr>
              <a:spcAft>
                <a:spcPts val="1000"/>
              </a:spcAft>
            </a:pPr>
            <a:r>
              <a:rPr sz="1400" b="0">
                <a:solidFill>
                  <a:srgbClr val="5B6372"/>
                </a:solidFill>
                <a:latin typeface="Arial"/>
              </a:rPr>
              <a:t>–  Easier to update and scale</a:t>
            </a:r>
          </a:p>
          <a:p>
            <a:pPr>
              <a:spcAft>
                <a:spcPts val="1000"/>
              </a:spcAft>
            </a:pPr>
            <a:r>
              <a:rPr sz="1400" b="0">
                <a:solidFill>
                  <a:srgbClr val="5B6372"/>
                </a:solidFill>
                <a:latin typeface="Arial"/>
              </a:rPr>
              <a:t>–  Best for analytics and AI</a:t>
            </a:r>
          </a:p>
          <a:p>
            <a:pPr>
              <a:spcAft>
                <a:spcPts val="1000"/>
              </a:spcAft>
            </a:pPr>
            <a:r>
              <a:rPr sz="1400" b="0">
                <a:solidFill>
                  <a:srgbClr val="5B6372"/>
                </a:solidFill>
                <a:latin typeface="Arial"/>
              </a:rPr>
              <a:t>–  Needs connectivity and bandwidth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A4 · BUILDING THE BUSINESS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Cost-Benefit Analysis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Hardware</a:t>
            </a:r>
          </a:p>
          <a:p>
            <a:pPr algn="l">
              <a:spcAft>
                <a:spcPts val="300"/>
              </a:spcAft>
            </a:pPr>
            <a:r>
              <a:rPr sz="1100" b="0">
                <a:solidFill>
                  <a:srgbClr val="5B6372"/>
                </a:solidFill>
                <a:latin typeface="Arial"/>
              </a:rPr>
              <a:t>Sensors, actuators, gateways — prices have fallen steadily year on year.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Connectivity</a:t>
            </a:r>
          </a:p>
          <a:p>
            <a:pPr algn="l">
              <a:spcAft>
                <a:spcPts val="300"/>
              </a:spcAft>
            </a:pPr>
            <a:r>
              <a:rPr sz="1100" b="0">
                <a:solidFill>
                  <a:srgbClr val="5B6372"/>
                </a:solidFill>
                <a:latin typeface="Arial"/>
              </a:rPr>
              <a:t>SIM, LoRa or WiFi; recurring per-device cost that scales with the fleet.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Platform</a:t>
            </a:r>
          </a:p>
          <a:p>
            <a:pPr algn="l">
              <a:spcAft>
                <a:spcPts val="300"/>
              </a:spcAft>
            </a:pPr>
            <a:r>
              <a:rPr sz="1100" b="0">
                <a:solidFill>
                  <a:srgbClr val="5B6372"/>
                </a:solidFill>
                <a:latin typeface="Arial"/>
              </a:rPr>
              <a:t>Subscription by device count or data volume; low-budget options exist.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Integration</a:t>
            </a:r>
          </a:p>
          <a:p>
            <a:pPr algn="l">
              <a:spcAft>
                <a:spcPts val="300"/>
              </a:spcAft>
            </a:pPr>
            <a:r>
              <a:rPr sz="1100" b="0">
                <a:solidFill>
                  <a:srgbClr val="5B6372"/>
                </a:solidFill>
                <a:latin typeface="Arial"/>
              </a:rPr>
              <a:t>Often the largest line — connecting IoT data into existing business systems.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Benefits</a:t>
            </a:r>
          </a:p>
          <a:p>
            <a:pPr algn="l">
              <a:spcAft>
                <a:spcPts val="300"/>
              </a:spcAft>
            </a:pPr>
            <a:r>
              <a:rPr sz="1100" b="0">
                <a:solidFill>
                  <a:srgbClr val="5B6372"/>
                </a:solidFill>
                <a:latin typeface="Arial"/>
              </a:rPr>
              <a:t>Labour saved, downtime avoided, energy and wastage reduced, new revenue enabled.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Payback</a:t>
            </a:r>
          </a:p>
          <a:p>
            <a:pPr algn="l">
              <a:spcAft>
                <a:spcPts val="300"/>
              </a:spcAft>
            </a:pPr>
            <a:r>
              <a:rPr sz="1100" b="0">
                <a:solidFill>
                  <a:srgbClr val="5B6372"/>
                </a:solidFill>
                <a:latin typeface="Arial"/>
              </a:rPr>
              <a:t>Compare total cost against annual benefit; pilot first to validate the assumptions.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Cost-Benefit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Take the opportunity you identified in Topic 2 and build a first-pass feasibility and cost-benefit case for it, including the security and privacy risks.</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Costs: devices, connectivity, platform subscription, integration, installation, maintenance.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Benefits: labour saved, downtime avoided, energy or wastage reduced, new revenue enabled.</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Risks: data privacy, device security, interoperability with legacy systems, skills gaps.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Roughly how long before the benefits exceed the costs — and what would break that estimate?</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cost-benefit summary with an estimated payback period and the top three risks.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Adoption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Privacy, security, cost, skills and legacy interoperability are the main adoption barriers.</a:t>
            </a:r>
          </a:p>
          <a:p>
            <a:pPr>
              <a:spcAft>
                <a:spcPts val="1000"/>
              </a:spcAft>
            </a:pPr>
            <a:r>
              <a:rPr sz="1700" b="0">
                <a:solidFill>
                  <a:srgbClr val="161B26"/>
                </a:solidFill>
                <a:latin typeface="Arial"/>
              </a:rPr>
              <a:t>•  IoT security differs from IT security: constrained, unattended devices with physical consequences.</a:t>
            </a:r>
          </a:p>
          <a:p>
            <a:pPr>
              <a:spcAft>
                <a:spcPts val="1000"/>
              </a:spcAft>
            </a:pPr>
            <a:r>
              <a:rPr sz="1700" b="0">
                <a:solidFill>
                  <a:srgbClr val="161B26"/>
                </a:solidFill>
                <a:latin typeface="Arial"/>
              </a:rPr>
              <a:t>•  Edge processing cuts latency, bandwidth and privacy exposure; the cloud gives scale and analytics.</a:t>
            </a:r>
          </a:p>
          <a:p>
            <a:pPr>
              <a:spcAft>
                <a:spcPts val="1000"/>
              </a:spcAft>
            </a:pPr>
            <a:r>
              <a:rPr sz="1700" b="0">
                <a:solidFill>
                  <a:srgbClr val="161B26"/>
                </a:solidFill>
                <a:latin typeface="Arial"/>
              </a:rPr>
              <a:t>•  A credible cost-benefit case counts integration and running cost, not just the hardware.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Success factors · Design thinking · A 7-step action plan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LO5 · A5, K4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Lead with business value</a:t>
            </a:r>
          </a:p>
          <a:p>
            <a:pPr algn="l">
              <a:spcAft>
                <a:spcPts val="300"/>
              </a:spcAft>
            </a:pPr>
            <a:r>
              <a:rPr sz="1100" b="0">
                <a:solidFill>
                  <a:srgbClr val="5B6372"/>
                </a:solidFill>
                <a:latin typeface="Arial"/>
              </a:rPr>
              <a:t>Start from the business outcome IoT delivers, not from the technology itself.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Strategic alignment</a:t>
            </a:r>
          </a:p>
          <a:p>
            <a:pPr algn="l">
              <a:spcAft>
                <a:spcPts val="300"/>
              </a:spcAft>
            </a:pPr>
            <a:r>
              <a:rPr sz="1100" b="0">
                <a:solidFill>
                  <a:srgbClr val="5B6372"/>
                </a:solidFill>
                <a:latin typeface="Arial"/>
              </a:rPr>
              <a:t>The initiative must serve the business strategy and respect technology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process focus</a:t>
            </a:r>
          </a:p>
          <a:p>
            <a:pPr algn="l">
              <a:spcAft>
                <a:spcPts val="300"/>
              </a:spcAft>
            </a:pPr>
            <a:r>
              <a:rPr sz="1100" b="0">
                <a:solidFill>
                  <a:srgbClr val="5B6372"/>
                </a:solidFill>
                <a:latin typeface="Arial"/>
              </a:rPr>
              <a:t>Integrate IoT into existing workflows so the new way is clearly better than today.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Operating model &amp; capability</a:t>
            </a:r>
          </a:p>
          <a:p>
            <a:pPr algn="l">
              <a:spcAft>
                <a:spcPts val="300"/>
              </a:spcAft>
            </a:pPr>
            <a:r>
              <a:rPr sz="1100" b="0">
                <a:solidFill>
                  <a:srgbClr val="5B6372"/>
                </a:solidFill>
                <a:latin typeface="Arial"/>
              </a:rPr>
              <a:t>Value networks and new skills are needed; give people a common IoT language.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 by design</a:t>
            </a:r>
          </a:p>
          <a:p>
            <a:pPr algn="l">
              <a:spcAft>
                <a:spcPts val="300"/>
              </a:spcAft>
            </a:pPr>
            <a:r>
              <a:rPr sz="1100" b="0">
                <a:solidFill>
                  <a:srgbClr val="5B6372"/>
                </a:solidFill>
                <a:latin typeface="Arial"/>
              </a:rPr>
              <a:t>Build end-to-end security in from the start — it is a selection criterion, not an add-on.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Design thinking</a:t>
            </a:r>
          </a:p>
          <a:p>
            <a:pPr algn="l">
              <a:spcAft>
                <a:spcPts val="300"/>
              </a:spcAft>
            </a:pPr>
            <a:r>
              <a:rPr sz="1100" b="0">
                <a:solidFill>
                  <a:srgbClr val="5B6372"/>
                </a:solidFill>
                <a:latin typeface="Arial"/>
              </a:rPr>
              <a:t>Empathise, Define, Ideate, Prototype, Test — start small, prove value, then scale.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 · WHAT SEPARATES SUCCESS FROM FAILURE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Six Success Factors for IoT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benefits</a:t>
            </a:r>
          </a:p>
          <a:p>
            <a:pPr algn="l">
              <a:spcAft>
                <a:spcPts val="300"/>
              </a:spcAft>
            </a:pPr>
            <a:r>
              <a:rPr sz="1100" b="0">
                <a:solidFill>
                  <a:srgbClr val="5B6372"/>
                </a:solidFill>
                <a:latin typeface="Arial"/>
              </a:rPr>
              <a:t>Focus on the value IoT delivers, not on what the technology can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Strategic alignment</a:t>
            </a:r>
          </a:p>
          <a:p>
            <a:pPr algn="l">
              <a:spcAft>
                <a:spcPts val="300"/>
              </a:spcAft>
            </a:pPr>
            <a:r>
              <a:rPr sz="1100" b="0">
                <a:solidFill>
                  <a:srgbClr val="5B6372"/>
                </a:solidFill>
                <a:latin typeface="Arial"/>
              </a:rPr>
              <a:t>Align with the business strategy and respect technology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process focus</a:t>
            </a:r>
          </a:p>
          <a:p>
            <a:pPr algn="l">
              <a:spcAft>
                <a:spcPts val="300"/>
              </a:spcAft>
            </a:pPr>
            <a:r>
              <a:rPr sz="1100" b="0">
                <a:solidFill>
                  <a:srgbClr val="5B6372"/>
                </a:solidFill>
                <a:latin typeface="Arial"/>
              </a:rPr>
              <a:t>Integrate into existing workflows so the new way is clearly better.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Operating model changes</a:t>
            </a:r>
          </a:p>
          <a:p>
            <a:pPr algn="l">
              <a:spcAft>
                <a:spcPts val="300"/>
              </a:spcAft>
            </a:pPr>
            <a:r>
              <a:rPr sz="1100" b="0">
                <a:solidFill>
                  <a:srgbClr val="5B6372"/>
                </a:solidFill>
                <a:latin typeface="Arial"/>
              </a:rPr>
              <a:t>Build the value network — end-to-end IoT needs close collaboration.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Capability uplift</a:t>
            </a:r>
          </a:p>
          <a:p>
            <a:pPr algn="l">
              <a:spcAft>
                <a:spcPts val="300"/>
              </a:spcAft>
            </a:pPr>
            <a:r>
              <a:rPr sz="1100" b="0">
                <a:solidFill>
                  <a:srgbClr val="5B6372"/>
                </a:solidFill>
                <a:latin typeface="Arial"/>
              </a:rPr>
              <a:t>Teach people IoT and Industry 4.0 so everyone shares a common language.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End-to-end security</a:t>
            </a:r>
          </a:p>
          <a:p>
            <a:pPr algn="l">
              <a:spcAft>
                <a:spcPts val="300"/>
              </a:spcAft>
            </a:pPr>
            <a:r>
              <a:rPr sz="1100" b="0">
                <a:solidFill>
                  <a:srgbClr val="5B6372"/>
                </a:solidFill>
                <a:latin typeface="Arial"/>
              </a:rPr>
              <a:t>Security by design becomes a criterion when choosing technology.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A5 · A METHOD FOR INNOVATION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Design Thinking — the Stanford d.school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EMPATHISE — understand the user's real experience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 state the problem from their point of view</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IDEATE — generate many diverse possible solutions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PROTOTYPE — make it tangible enough to interact with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 observe, gather feedback and refine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7-STEP ACTION PLAN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Applying Design Thinking to Your IoT Project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1 · Set business focus</a:t>
            </a:r>
          </a:p>
          <a:p>
            <a:pPr algn="l">
              <a:spcAft>
                <a:spcPts val="300"/>
              </a:spcAft>
            </a:pPr>
            <a:r>
              <a:rPr sz="1100" b="0">
                <a:solidFill>
                  <a:srgbClr val="5B6372"/>
                </a:solidFill>
                <a:latin typeface="Arial"/>
              </a:rPr>
              <a:t>Commit at top-management level and state the strategic goal IoT must serve.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2 · Introduce IoT capability</a:t>
            </a:r>
          </a:p>
          <a:p>
            <a:pPr algn="l">
              <a:spcAft>
                <a:spcPts val="300"/>
              </a:spcAft>
            </a:pPr>
            <a:r>
              <a:rPr sz="1100" b="0">
                <a:solidFill>
                  <a:srgbClr val="5B6372"/>
                </a:solidFill>
                <a:latin typeface="Arial"/>
              </a:rPr>
              <a:t>Build the team's understanding of what IoT can realistically do.</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3 · Empathise with the user</a:t>
            </a:r>
          </a:p>
          <a:p>
            <a:pPr algn="l">
              <a:spcAft>
                <a:spcPts val="300"/>
              </a:spcAft>
            </a:pPr>
            <a:r>
              <a:rPr sz="1100" b="0">
                <a:solidFill>
                  <a:srgbClr val="5B6372"/>
                </a:solidFill>
                <a:latin typeface="Arial"/>
              </a:rPr>
              <a:t>Identify the pains and gains of the customer or operator affected.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4 · Ideate and select</a:t>
            </a:r>
          </a:p>
          <a:p>
            <a:pPr algn="l">
              <a:spcAft>
                <a:spcPts val="300"/>
              </a:spcAft>
            </a:pPr>
            <a:r>
              <a:rPr sz="1100" b="0">
                <a:solidFill>
                  <a:srgbClr val="5B6372"/>
                </a:solidFill>
                <a:latin typeface="Arial"/>
              </a:rPr>
              <a:t>Generate options, then select on brand values and business ambition.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5 · Prototype a pilot</a:t>
            </a:r>
          </a:p>
          <a:p>
            <a:pPr algn="l">
              <a:spcAft>
                <a:spcPts val="300"/>
              </a:spcAft>
            </a:pPr>
            <a:r>
              <a:rPr sz="1100" b="0">
                <a:solidFill>
                  <a:srgbClr val="5B6372"/>
                </a:solidFill>
                <a:latin typeface="Arial"/>
              </a:rPr>
              <a:t>Smallest deployment that proves value — one asset, one site, one metric.</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6 · Identify implications</a:t>
            </a:r>
          </a:p>
          <a:p>
            <a:pPr algn="l">
              <a:spcAft>
                <a:spcPts val="300"/>
              </a:spcAft>
            </a:pPr>
            <a:r>
              <a:rPr sz="1100" b="0">
                <a:solidFill>
                  <a:srgbClr val="5B6372"/>
                </a:solidFill>
                <a:latin typeface="Arial"/>
              </a:rPr>
              <a:t>Develop and validate the business case, including risk and security.</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7 · Pitch to decision makers</a:t>
            </a:r>
          </a:p>
          <a:p>
            <a:pPr algn="l">
              <a:spcAft>
                <a:spcPts val="300"/>
              </a:spcAft>
            </a:pPr>
            <a:r>
              <a:rPr sz="1100" b="0">
                <a:solidFill>
                  <a:srgbClr val="5B6372"/>
                </a:solidFill>
                <a:latin typeface="Arial"/>
              </a:rPr>
              <a:t>Win the coalition and the funding needed to scale beyond the pilot.</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Then scale</a:t>
            </a:r>
          </a:p>
          <a:p>
            <a:pPr algn="l">
              <a:spcAft>
                <a:spcPts val="300"/>
              </a:spcAft>
            </a:pPr>
            <a:r>
              <a:rPr sz="1100" b="0">
                <a:solidFill>
                  <a:srgbClr val="5B6372"/>
                </a:solidFill>
                <a:latin typeface="Arial"/>
              </a:rPr>
              <a:t>Roll out on evidence from the pilot, not on optimism.</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05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Your Implementation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Apply design thinking and the success factors to turn your opportunity into a staged action plan you could actually pitch to management.</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Empathise &amp; Define: whose problem is this, and how would you state it in one sentence?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Ideate &amp; Prototype: what is the smallest pilot that proves the value — one device, one site?</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Test &amp; scale: what measurable result would justify rolling it out further?</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success factor is weakest in your organisation today, and how will you address it?</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staged action plan: pilot scope, success measure, owner, and the case for scaling.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Lead with business value and align the initiative with the business strategy.</a:t>
            </a:r>
          </a:p>
          <a:p>
            <a:pPr>
              <a:spcAft>
                <a:spcPts val="1000"/>
              </a:spcAft>
            </a:pPr>
            <a:r>
              <a:rPr sz="1700" b="0">
                <a:solidFill>
                  <a:srgbClr val="161B26"/>
                </a:solidFill>
                <a:latin typeface="Arial"/>
              </a:rPr>
              <a:t>•  Integrate IoT into existing processes; build capability and the value network around it.</a:t>
            </a:r>
          </a:p>
          <a:p>
            <a:pPr>
              <a:spcAft>
                <a:spcPts val="1000"/>
              </a:spcAft>
            </a:pPr>
            <a:r>
              <a:rPr sz="1700" b="0">
                <a:solidFill>
                  <a:srgbClr val="161B26"/>
                </a:solidFill>
                <a:latin typeface="Arial"/>
              </a:rPr>
              <a:t>•  Design security in from the start — it is a selection criterion, not an afterthought.</a:t>
            </a:r>
          </a:p>
          <a:p>
            <a:pPr>
              <a:spcAft>
                <a:spcPts val="1000"/>
              </a:spcAft>
            </a:pPr>
            <a:r>
              <a:rPr sz="1700" b="0">
                <a:solidFill>
                  <a:srgbClr val="161B26"/>
                </a:solidFill>
                <a:latin typeface="Arial"/>
              </a:rPr>
              <a:t>•  Use design thinking: empathise, define, ideate, prototype, test — pilot before you scale.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You Achieved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Business models</a:t>
            </a:r>
          </a:p>
          <a:p>
            <a:pPr algn="l">
              <a:spcAft>
                <a:spcPts val="300"/>
              </a:spcAft>
            </a:pPr>
            <a:r>
              <a:rPr sz="1200" b="0">
                <a:solidFill>
                  <a:srgbClr val="5B6372"/>
                </a:solidFill>
                <a:latin typeface="Arial"/>
              </a:rPr>
              <a:t>Compared your current business model against IoT-enabled models.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Opportunities</a:t>
            </a:r>
          </a:p>
          <a:p>
            <a:pPr algn="l">
              <a:spcAft>
                <a:spcPts val="300"/>
              </a:spcAft>
            </a:pPr>
            <a:r>
              <a:rPr sz="1200" b="0">
                <a:solidFill>
                  <a:srgbClr val="5B6372"/>
                </a:solidFill>
                <a:latin typeface="Arial"/>
              </a:rPr>
              <a:t>Explored IoT use cases across six industries and found one of your own.</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How IoT works</a:t>
            </a:r>
          </a:p>
          <a:p>
            <a:pPr algn="l">
              <a:spcAft>
                <a:spcPts val="300"/>
              </a:spcAft>
            </a:pPr>
            <a:r>
              <a:rPr sz="1200" b="0">
                <a:solidFill>
                  <a:srgbClr val="5B6372"/>
                </a:solidFill>
                <a:latin typeface="Arial"/>
              </a:rPr>
              <a:t>Registered a device, posted data, controlled it remotely and built a dashboard.</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Costs &amp; benefits</a:t>
            </a:r>
          </a:p>
          <a:p>
            <a:pPr algn="l">
              <a:spcAft>
                <a:spcPts val="300"/>
              </a:spcAft>
            </a:pPr>
            <a:r>
              <a:rPr sz="1200" b="0">
                <a:solidFill>
                  <a:srgbClr val="5B6372"/>
                </a:solidFill>
                <a:latin typeface="Arial"/>
              </a:rPr>
              <a:t>Weighed adoption barriers, security risk and the cost-benefit case.</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Implementation</a:t>
            </a:r>
          </a:p>
          <a:p>
            <a:pPr algn="l">
              <a:spcAft>
                <a:spcPts val="300"/>
              </a:spcAft>
            </a:pPr>
            <a:r>
              <a:rPr sz="1200" b="0">
                <a:solidFill>
                  <a:srgbClr val="5B6372"/>
                </a:solidFill>
                <a:latin typeface="Arial"/>
              </a:rPr>
              <a:t>Applied design thinking and the success factors to a staged action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AFTER TODAY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Your Next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your IoTFlow project</a:t>
            </a:r>
          </a:p>
          <a:p>
            <a:pPr algn="l">
              <a:spcAft>
                <a:spcPts val="300"/>
              </a:spcAft>
            </a:pPr>
            <a:r>
              <a:rPr sz="1200" b="0">
                <a:solidFill>
                  <a:srgbClr val="5B6372"/>
                </a:solidFill>
                <a:latin typeface="Arial"/>
              </a:rPr>
              <a:t>Your devices, dashboard and automations stay available after the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Run the pilot you designed</a:t>
            </a:r>
          </a:p>
          <a:p>
            <a:pPr algn="l">
              <a:spcAft>
                <a:spcPts val="300"/>
              </a:spcAft>
            </a:pPr>
            <a:r>
              <a:rPr sz="1200" b="0">
                <a:solidFill>
                  <a:srgbClr val="5B6372"/>
                </a:solidFill>
                <a:latin typeface="Arial"/>
              </a:rPr>
              <a:t>Start with one asset and one metric — prove the value before scaling.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Revisit the Learner Guide</a:t>
            </a:r>
          </a:p>
          <a:p>
            <a:pPr algn="l">
              <a:spcAft>
                <a:spcPts val="300"/>
              </a:spcAft>
            </a:pPr>
            <a:r>
              <a:rPr sz="1200" b="0">
                <a:solidFill>
                  <a:srgbClr val="5B6372"/>
                </a:solidFill>
                <a:latin typeface="Arial"/>
              </a:rPr>
              <a:t>Every lab's step-by-step instructions are there for you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Explore the tutorials</a:t>
            </a:r>
          </a:p>
          <a:p>
            <a:pPr algn="l">
              <a:spcAft>
                <a:spcPts val="300"/>
              </a:spcAft>
            </a:pPr>
            <a:r>
              <a:rPr sz="1200" b="0">
                <a:solidFill>
                  <a:srgbClr val="5B6372"/>
                </a:solidFill>
                <a:latin typeface="Arial"/>
              </a:rPr>
              <a:t>More platform walkthroughs at https://iot.tertiaryinfotech.com/tutorials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WSQ - Internet of Things (IoT) Fundamental for Beginners</a:t>
            </a:r>
          </a:p>
          <a:p>
            <a:pPr>
              <a:spcAft>
                <a:spcPts val="1000"/>
              </a:spcAft>
            </a:pPr>
            <a:r>
              <a:rPr sz="2000" b="0">
                <a:solidFill>
                  <a:srgbClr val="161B26"/>
                </a:solidFill>
                <a:latin typeface="Arial"/>
              </a:rPr>
              <a:t>•  WSQ - Mastering Raspberry Pi: Hands-On Practical Applications for Beginners</a:t>
            </a:r>
          </a:p>
          <a:p>
            <a:pPr>
              <a:spcAft>
                <a:spcPts val="1000"/>
              </a:spcAft>
            </a:pPr>
            <a:r>
              <a:rPr sz="2000" b="0">
                <a:solidFill>
                  <a:srgbClr val="161B26"/>
                </a:solidFill>
                <a:latin typeface="Arial"/>
              </a:rPr>
              <a:t>•  WSQ - Practical Electronics Design with Arduino Microcontroller</a:t>
            </a:r>
          </a:p>
          <a:p>
            <a:pPr>
              <a:spcAft>
                <a:spcPts val="1000"/>
              </a:spcAft>
            </a:pPr>
            <a:r>
              <a:rPr sz="2000" b="0">
                <a:solidFill>
                  <a:srgbClr val="161B26"/>
                </a:solidFill>
                <a:latin typeface="Arial"/>
              </a:rPr>
              <a:t>•  WSQ - Hands-On Guide to IoT Development with Microcontrollers</a:t>
            </a:r>
          </a:p>
          <a:p>
            <a:pPr>
              <a:spcAft>
                <a:spcPts val="1000"/>
              </a:spcAft>
            </a:pPr>
            <a:r>
              <a:rPr sz="2000" b="0">
                <a:solidFill>
                  <a:srgbClr val="161B26"/>
                </a:solidFill>
                <a:latin typeface="Arial"/>
              </a:rPr>
              <a:t>•  Browse the full catalogue at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IoT connects physical assets so the business can measure what used to be invisible.</a:t>
            </a:r>
          </a:p>
          <a:p>
            <a:pPr>
              <a:spcAft>
                <a:spcPts val="1000"/>
              </a:spcAft>
            </a:pPr>
            <a:r>
              <a:rPr sz="2000" b="0">
                <a:solidFill>
                  <a:srgbClr val="161B26"/>
                </a:solidFill>
                <a:latin typeface="Arial"/>
              </a:rPr>
              <a:t>•  The opportunity is a business model change, not just a technology deployment.</a:t>
            </a:r>
          </a:p>
          <a:p>
            <a:pPr>
              <a:spcAft>
                <a:spcPts val="1000"/>
              </a:spcAft>
            </a:pPr>
            <a:r>
              <a:rPr sz="2000" b="0">
                <a:solidFill>
                  <a:srgbClr val="161B26"/>
                </a:solidFill>
                <a:latin typeface="Arial"/>
              </a:rPr>
              <a:t>•  Adoption succeeds when value, process integration, capability and security are addressed together.</a:t>
            </a:r>
          </a:p>
          <a:p>
            <a:pPr>
              <a:spcAft>
                <a:spcPts val="1000"/>
              </a:spcAft>
            </a:pPr>
            <a:r>
              <a:rPr sz="2000" b="0">
                <a:solidFill>
                  <a:srgbClr val="161B26"/>
                </a:solidFill>
                <a:latin typeface="Arial"/>
              </a:rPr>
              <a:t>•  Any questions before the assessment?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(Q&amp;A)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a:t>
            </a:r>
          </a:p>
          <a:p>
            <a:pPr>
              <a:spcAft>
                <a:spcPts val="900"/>
              </a:spcAft>
            </a:pPr>
            <a:r>
              <a:rPr sz="1400" b="0">
                <a:solidFill>
                  <a:srgbClr val="161B26"/>
                </a:solidFill>
                <a:latin typeface="Arial"/>
              </a:rPr>
              <a:t>•  Assesses abilities A1–A5</a:t>
            </a:r>
          </a:p>
          <a:p>
            <a:pPr>
              <a:spcAft>
                <a:spcPts val="900"/>
              </a:spcAft>
            </a:pPr>
            <a:r>
              <a:rPr sz="1400" b="0">
                <a:solidFill>
                  <a:srgbClr val="161B26"/>
                </a:solidFill>
                <a:latin typeface="Arial"/>
              </a:rPr>
              <a:t>•  15 minutes per ability</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OQ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Oral questioning</a:t>
            </a:r>
          </a:p>
          <a:p>
            <a:pPr>
              <a:spcAft>
                <a:spcPts val="900"/>
              </a:spcAft>
            </a:pPr>
            <a:r>
              <a:rPr sz="1400" b="0">
                <a:solidFill>
                  <a:srgbClr val="161B26"/>
                </a:solidFill>
                <a:latin typeface="Arial"/>
              </a:rPr>
              <a:t>•  Assesses knowledge K1–K4</a:t>
            </a:r>
          </a:p>
          <a:p>
            <a:pPr>
              <a:spcAft>
                <a:spcPts val="900"/>
              </a:spcAft>
            </a:pPr>
            <a:r>
              <a:rPr sz="1400" b="0">
                <a:solidFill>
                  <a:srgbClr val="161B26"/>
                </a:solidFill>
                <a:latin typeface="Arial"/>
              </a:rPr>
              <a:t>•  1:1 with the assessor</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begin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a:t>
            </a:r>
          </a:p>
          <a:p>
            <a:pPr>
              <a:spcAft>
                <a:spcPts val="900"/>
              </a:spcAft>
            </a:pPr>
            <a:r>
              <a:rPr sz="1400" b="0">
                <a:solidFill>
                  <a:srgbClr val="161B26"/>
                </a:solidFill>
                <a:latin typeface="Arial"/>
              </a:rPr>
              <a:t>•  Complete the TRAQOM survey</a:t>
            </a:r>
          </a:p>
          <a:p>
            <a:pPr>
              <a:spcAft>
                <a:spcPts val="900"/>
              </a:spcAft>
            </a:pPr>
            <a:r>
              <a:rPr sz="1400" b="0">
                <a:solidFill>
                  <a:srgbClr val="161B26"/>
                </a:solidFill>
                <a:latin typeface="Arial"/>
              </a:rPr>
              <a:t>•  Slides + Learner Guide allowed</a:t>
            </a:r>
          </a:p>
          <a:p>
            <a:pPr>
              <a:spcAft>
                <a:spcPts val="900"/>
              </a:spcAft>
            </a:pPr>
            <a:r>
              <a:rPr sz="1400" b="0">
                <a:solidFill>
                  <a:srgbClr val="161B26"/>
                </a:solidFill>
                <a:latin typeface="Arial"/>
              </a:rPr>
              <a:t>•  Submit as directed by your assessor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the WA (Q&amp;A) — 75 min,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Oral Questioning — 15 min, 1:1 with the assessor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 attendance</a:t>
            </a:r>
          </a:p>
          <a:p>
            <a:pPr algn="l">
              <a:spcAft>
                <a:spcPts val="300"/>
              </a:spcAft>
            </a:pPr>
            <a:r>
              <a:rPr sz="1200" b="0">
                <a:solidFill>
                  <a:srgbClr val="5B6372"/>
                </a:solidFill>
                <a:latin typeface="Arial"/>
              </a:rPr>
              <a:t>Take the Assessment digital attendance before you begin — scan the SSG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 &amp; TRAQOM survey</a:t>
            </a:r>
          </a:p>
          <a:p>
            <a:pPr algn="l">
              <a:spcAft>
                <a:spcPts val="300"/>
              </a:spcAft>
            </a:pPr>
            <a:r>
              <a:rPr sz="1200" b="0">
                <a:solidFill>
                  <a:srgbClr val="5B6372"/>
                </a:solidFill>
                <a:latin typeface="Arial"/>
              </a:rPr>
              <a:t>Complete the mandatory survey at 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certificate</a:t>
            </a:r>
          </a:p>
          <a:p>
            <a:pPr algn="l">
              <a:spcAft>
                <a:spcPts val="300"/>
              </a:spcAft>
            </a:pPr>
            <a:r>
              <a:rPr sz="1200" b="0">
                <a:solidFill>
                  <a:srgbClr val="5B6372"/>
                </a:solidFill>
                <a:latin typeface="Arial"/>
              </a:rPr>
              <a:t>Your certificate is issued through the LMS once you are assessed Competent.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explore, evaluate and implement business innovation opportunities with IoT.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